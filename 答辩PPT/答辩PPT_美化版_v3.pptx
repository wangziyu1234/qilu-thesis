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1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智能仓储自主移动机器人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8C547"/>
                </a:solidFill>
                <a:latin typeface="Microsoft YaHei"/>
              </a:defRPr>
            </a:pPr>
            <a:r>
              <a:t>结构设计与控制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Arial"/>
              </a:defRPr>
            </a:pPr>
            <a:r>
              <a:t>Design and Control of Intelligent Warehouse Mobile Robot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206240"/>
            <a:ext cx="3017520" cy="27432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2026年5月</a:t>
            </a:r>
          </a:p>
        </p:txBody>
      </p:sp>
      <p:pic>
        <p:nvPicPr>
          <p:cNvPr id="9" name="Picture 8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4320"/>
            <a:ext cx="2103120" cy="82296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0" y="4114800"/>
          <a:ext cx="39319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468880"/>
              </a:tblGrid>
              <a:tr h="338328">
                <a:tc>
                  <a:txBody>
                    <a:bodyPr/>
                    <a:lstStyle/>
                    <a:p>
                      <a:pPr algn="dist"/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</a:rPr>
                        <a:t>答辩人: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</a:rPr>
                        <a:t>王梓谕</a:t>
                      </a:r>
                    </a:p>
                  </a:txBody>
                  <a:tcPr anchor="ctr"/>
                </a:tc>
              </a:tr>
              <a:tr h="338328">
                <a:tc>
                  <a:txBody>
                    <a:bodyPr/>
                    <a:lstStyle/>
                    <a:p>
                      <a:pPr algn="dist"/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</a:rPr>
                        <a:t>学  号: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</a:rPr>
                        <a:t>202201230042</a:t>
                      </a:r>
                    </a:p>
                  </a:txBody>
                  <a:tcPr anchor="ctr"/>
                </a:tc>
              </a:tr>
              <a:tr h="338328">
                <a:tc>
                  <a:txBody>
                    <a:bodyPr/>
                    <a:lstStyle/>
                    <a:p>
                      <a:pPr algn="dist"/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</a:rPr>
                        <a:t>指导教师: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</a:rPr>
                        <a:t>杨召鹏</a:t>
                      </a:r>
                    </a:p>
                  </a:txBody>
                  <a:tcPr anchor="ctr"/>
                </a:tc>
              </a:tr>
              <a:tr h="338328">
                <a:tc>
                  <a:txBody>
                    <a:bodyPr/>
                    <a:lstStyle/>
                    <a:p>
                      <a:pPr algn="dist"/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</a:rPr>
                        <a:t>专  业: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</a:rPr>
                        <a:t>机械工程</a:t>
                      </a:r>
                    </a:p>
                  </a:txBody>
                  <a:tcPr anchor="ctr"/>
                </a:tc>
              </a:tr>
              <a:tr h="338328">
                <a:tc>
                  <a:txBody>
                    <a:bodyPr/>
                    <a:lstStyle/>
                    <a:p>
                      <a:pPr algn="dist"/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</a:rPr>
                        <a:t>学  院: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</a:rPr>
                        <a:t>机械工程学部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8288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42316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总体设计方案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017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机械结构设计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61188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电气系统设计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20624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运动学建模与仿真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4800600"/>
            <a:ext cx="411480" cy="411480"/>
          </a:xfrm>
          <a:prstGeom prst="ellipse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8006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运动控制算法分析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5394960"/>
            <a:ext cx="411480" cy="411480"/>
          </a:xfrm>
          <a:prstGeom prst="ellipse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39496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Microsoft YaHei"/>
              </a:defRPr>
            </a:pPr>
            <a:r>
              <a:t>代码结构与算法流程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5989320"/>
            <a:ext cx="411480" cy="411480"/>
          </a:xfrm>
          <a:prstGeom prst="ellipse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9893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Microsoft YaHei"/>
              </a:defRPr>
            </a:pPr>
            <a:r>
              <a:t>结论与展望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1371600"/>
            <a:ext cx="36576" cy="475488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PART 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51760"/>
            <a:ext cx="228600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Research Background and Significance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828800"/>
            <a:ext cx="54864" cy="2286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0" y="3200400"/>
            <a:ext cx="54864" cy="2286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92640" y="4572000"/>
            <a:ext cx="54864" cy="2286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1645920"/>
            <a:ext cx="411480" cy="411480"/>
          </a:xfrm>
          <a:prstGeom prst="ellipse">
            <a:avLst/>
          </a:prstGeom>
          <a:solidFill>
            <a:srgbClr val="10539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微软雅黑"/>
              </a:rPr>
              <a:t>研究背景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2926080"/>
            <a:ext cx="411480" cy="411480"/>
          </a:xfrm>
          <a:prstGeom prst="ellipse">
            <a:avLst/>
          </a:prstGeom>
          <a:solidFill>
            <a:srgbClr val="10539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971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微软雅黑"/>
              </a:rPr>
              <a:t>研究目标与主要内容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1.1  研究背景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4846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54864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05397"/>
                </a:solidFill>
                <a:latin typeface="Microsoft YaHei"/>
              </a:defRPr>
            </a:pPr>
            <a:r>
              <a:t>📦 市场驱动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2024年网上零售额达15.5万亿元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快递业务量持续高速增长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移动机器人市场:48.27→95.49亿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年复合增长率超14%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49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仓储自动化需求日益迫切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474720" cy="4846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474720" cy="54864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05397"/>
                </a:solidFill>
                <a:latin typeface="Microsoft YaHei"/>
              </a:defRPr>
            </a:pPr>
            <a:r>
              <a:t>🎯 研究空白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86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中小仓储自动化方案不足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517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缺乏小型升降式机器人研究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017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现有方案成本高、体积大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3832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不适配小型仓库场景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749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50kg级举升机器人市场缺口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474720" cy="48463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3611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快递业务量统计图</a:t>
            </a:r>
            <a:br/>
            <a:r>
              <a:t>AGV工作示意图</a:t>
            </a:r>
          </a:p>
        </p:txBody>
      </p:sp>
      <p:pic>
        <p:nvPicPr>
          <p:cNvPr id="24" name="Picture 23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463040"/>
            <a:ext cx="3291840" cy="2103120"/>
          </a:xfrm>
          <a:prstGeom prst="rect">
            <a:avLst/>
          </a:prstGeom>
        </p:spPr>
      </p:pic>
      <p:pic>
        <p:nvPicPr>
          <p:cNvPr id="25" name="Picture 24" descr="_t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840480"/>
            <a:ext cx="32918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1.2  研究目标与主要任务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05397"/>
                </a:solidFill>
                <a:latin typeface="Arial"/>
              </a:defRPr>
            </a:pPr>
            <a:r>
              <a:t>50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额定载荷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满足中小仓储</a:t>
            </a:r>
            <a:br/>
            <a:r>
              <a:t>货物搬运需求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463040"/>
            <a:ext cx="34747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463040"/>
            <a:ext cx="3474720" cy="54864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64592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05397"/>
                </a:solidFill>
                <a:latin typeface="Arial"/>
              </a:defRPr>
            </a:pPr>
            <a:r>
              <a:t>≥452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774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升降行程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8346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适配标准货架</a:t>
            </a:r>
            <a:br/>
            <a:r>
              <a:t>取放高度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463040"/>
            <a:ext cx="34747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1463040"/>
            <a:ext cx="3474720" cy="54864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0" y="164592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05397"/>
                </a:solidFill>
                <a:latin typeface="Arial"/>
              </a:defRPr>
            </a:pPr>
            <a:r>
              <a:t>30 m/min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3774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最大速度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8346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保证仓库内</a:t>
            </a:r>
            <a:br/>
            <a:r>
              <a:t>高效运行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05397"/>
                </a:solidFill>
                <a:latin typeface="Microsoft YaHei"/>
              </a:defRPr>
            </a:pPr>
            <a:r>
              <a:t>主要研究任务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3891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确定差速驱动+剪叉升降整体方案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3659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2.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36592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完成机械结构设计与关键部件强度校核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84064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084064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设计基于STM32F103的电气控制系统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31536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43153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实现Hybrid A*全局路径规划算法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7900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5.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779008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设计双闭环PID运动控制算法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126479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6126479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完成运动学建模与MATLAB仿真验证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463040"/>
            <a:ext cx="3474720" cy="457200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03920" y="35661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机器人整体结构图</a:t>
            </a:r>
          </a:p>
        </p:txBody>
      </p:sp>
      <p:pic>
        <p:nvPicPr>
          <p:cNvPr id="36" name="Picture 35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554480"/>
            <a:ext cx="32918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PART 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51760"/>
            <a:ext cx="228600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总体设计方案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Overall Design Scheme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828800"/>
            <a:ext cx="54864" cy="2286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0" y="3200400"/>
            <a:ext cx="54864" cy="2286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92640" y="4572000"/>
            <a:ext cx="54864" cy="2286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1645920"/>
            <a:ext cx="411480" cy="411480"/>
          </a:xfrm>
          <a:prstGeom prst="ellipse">
            <a:avLst/>
          </a:prstGeom>
          <a:solidFill>
            <a:srgbClr val="10539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微软雅黑"/>
              </a:rPr>
              <a:t>驱动方式选择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2926080"/>
            <a:ext cx="411480" cy="411480"/>
          </a:xfrm>
          <a:prstGeom prst="ellipse">
            <a:avLst/>
          </a:prstGeom>
          <a:solidFill>
            <a:srgbClr val="10539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971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微软雅黑"/>
              </a:rPr>
              <a:t>升降机构设计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4206240"/>
            <a:ext cx="411480" cy="411480"/>
          </a:xfrm>
          <a:prstGeom prst="ellipse">
            <a:avLst/>
          </a:prstGeom>
          <a:solidFill>
            <a:srgbClr val="10539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251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微软雅黑"/>
              </a:rPr>
              <a:t>控制系统方案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2.1  驱动方式选型 —— 差速驱动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5397"/>
                </a:solidFill>
                <a:latin typeface="Microsoft YaHei"/>
              </a:defRPr>
            </a:pPr>
            <a:r>
              <a:t>❌ 单轮驱动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结构简单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转弯半径大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灵活性差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463040"/>
            <a:ext cx="3474720" cy="3474720"/>
          </a:xfrm>
          <a:prstGeom prst="rect">
            <a:avLst/>
          </a:prstGeom>
          <a:solidFill>
            <a:srgbClr val="F8FAFC"/>
          </a:solidFill>
          <a:ln w="190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16459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5397"/>
                </a:solidFill>
                <a:latin typeface="Microsoft YaHei"/>
              </a:defRPr>
            </a:pPr>
            <a:r>
              <a:t>✅ 差速驱动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86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结构紧凑</a:t>
            </a:r>
            <a:endParaRPr dirty="0"/>
          </a:p>
          <a:p>
            <a:pPr algn="ctr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可原地转向</a:t>
            </a:r>
            <a:endParaRPr dirty="0"/>
          </a:p>
          <a:p>
            <a:pPr algn="ctr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控制简单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8412480" y="1463040"/>
            <a:ext cx="34747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6459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5397"/>
                </a:solidFill>
                <a:latin typeface="Microsoft YaHei"/>
              </a:defRPr>
            </a:pPr>
            <a:r>
              <a:t>❌ 全向驱动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286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任意方向移动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结构复杂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成本高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12080"/>
            <a:ext cx="10698480" cy="54864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💡 选型理由：差速驱动机械复杂度低、无需转向机构、可原地旋转（零转弯半径），是承载50kg仓储移动机器人的最优方案。全向轮在重载下辊子磨损严重，属于"过度设计"。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2.2  升降机构选型 —— 剪叉式升降机构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05397"/>
                </a:solidFill>
                <a:latin typeface="Microsoft YaHei"/>
              </a:defRPr>
            </a:pPr>
            <a:r>
              <a:t>升降高度与臂杆角度的数学关系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台面高度：H = L·sin(β) + h₀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其中 β = α/2（α为臂杆夹角，β为水平半角）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设计参数：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臂杆长度 L = 600 mm，截面 36mm×4.8mm，Q235钢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最低位 β=9.55° → H_min ≈ 149 mm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最高位 β=66.75° → H_max ≈ 600 mm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• 升降总行程 ≈ 452 mm，满足0.45m设计指标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3611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剪叉式升降机构示意图</a:t>
            </a:r>
            <a:br/>
            <a:r>
              <a:t>运动学模型图解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2.3  控制方案选型 —— STM32 + PID + Hybrid A*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45720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主控制器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566160" cy="3474720"/>
          </a:xfrm>
          <a:prstGeom prst="rect">
            <a:avLst/>
          </a:prstGeom>
          <a:solidFill>
            <a:srgbClr val="F8FA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300" b="1">
                <a:solidFill>
                  <a:srgbClr val="105397"/>
                </a:solidFill>
                <a:latin typeface="Microsoft YaHei"/>
              </a:defRPr>
            </a:pPr>
            <a:r>
              <a:t>STM32F103 ✅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PLC ❌ 体积大成本高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DSP ❌ 性能过剩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工控机 ❌ 功耗大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566160" cy="45720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控制算法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3566160" cy="3474720"/>
          </a:xfrm>
          <a:prstGeom prst="rect">
            <a:avLst/>
          </a:prstGeom>
          <a:solidFill>
            <a:srgbClr val="F8FA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300" b="1">
                <a:solidFill>
                  <a:srgbClr val="105397"/>
                </a:solidFill>
                <a:latin typeface="Microsoft YaHei"/>
              </a:defRPr>
            </a:pPr>
            <a:r>
              <a:t>双闭环PID ✅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模糊控制 ❌ 规则库难设计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MPC ❌ 计算量大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LQR ❌ 需精确模型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566160" cy="45720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417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路径规划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566160" cy="3474720"/>
          </a:xfrm>
          <a:prstGeom prst="rect">
            <a:avLst/>
          </a:prstGeom>
          <a:solidFill>
            <a:srgbClr val="F8FA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0116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300" b="1">
                <a:solidFill>
                  <a:srgbClr val="105397"/>
                </a:solidFill>
                <a:latin typeface="Microsoft YaHei"/>
              </a:defRPr>
            </a:pPr>
            <a:r>
              <a:t>Hybrid A* ✅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Dijkstra ❌ 盲目搜索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标准A* ❌ 折线路径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RRT ❌ 随机性强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86400"/>
            <a:ext cx="11064240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💡 选型原则——"够用就好"：差速移动机器人是线性度较好的系统，PID完全胜任；Hybrid A*路径满足运动学约束。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3.1  机械结构设计 —— 剪叉机构运动学分析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05397"/>
                </a:solidFill>
                <a:latin typeface="Microsoft YaHei"/>
              </a:defRPr>
            </a:pPr>
            <a:r>
              <a:t>三个关键角度关系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α（臂杆夹角）：同侧上下臂杆之间的夹角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β（水平半角）：单根臂杆与水平面的夹角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• 几何关系：β = α / 2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2000" b="1">
                <a:solidFill>
                  <a:srgbClr val="105397"/>
                </a:solidFill>
                <a:latin typeface="Microsoft YaHei"/>
              </a:defRPr>
            </a:pPr>
            <a:r>
              <a:t>最低位 —— 最危险工况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β=9.55°时 sinβ≈0.166，臂杆力约739N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β=66.75°时 sinβ≈0.919，臂杆力仅134N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• 最低位臂杆轴向力 ≈ 最高位的5.5倍！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设计启示：底部销轴和推杆按最低位工况校核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371600"/>
            <a:ext cx="4846320" cy="48463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36118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剪叉机构运动简图</a:t>
            </a:r>
            <a:br/>
            <a:r>
              <a:t>角度-高度关系曲线</a:t>
            </a:r>
          </a:p>
        </p:txBody>
      </p:sp>
      <p:pic>
        <p:nvPicPr>
          <p:cNvPr id="10" name="Picture 9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3.2  关键部件强度校核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0604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06040" cy="54864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240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5397"/>
                </a:solidFill>
                <a:latin typeface="Arial"/>
              </a:defRPr>
            </a:pPr>
            <a:r>
              <a:t>5.56 MPa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综合应力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许用156.7MPa</a:t>
            </a:r>
            <a:br/>
            <a:r>
              <a:t>应力利用率仅3.5%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463040"/>
            <a:ext cx="260604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463040"/>
            <a:ext cx="2606040" cy="54864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645920"/>
            <a:ext cx="2240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5397"/>
                </a:solidFill>
                <a:latin typeface="Arial"/>
              </a:defRPr>
            </a:pPr>
            <a:r>
              <a:t>10.14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774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屈曲安全系数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834640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加侧向支撑后</a:t>
            </a:r>
            <a:br/>
            <a:r>
              <a:t>（未加仅为2.54）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463040"/>
            <a:ext cx="260604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1463040"/>
            <a:ext cx="2606040" cy="54864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39" y="1645920"/>
            <a:ext cx="2240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5397"/>
                </a:solidFill>
                <a:latin typeface="Arial"/>
              </a:defRPr>
            </a:pPr>
            <a:r>
              <a:t>72.3 kN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23774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销轴承载力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2834640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18mm 45#钢</a:t>
            </a:r>
            <a:br/>
            <a:r>
              <a:t>等效约4890kg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19" y="1463040"/>
            <a:ext cx="260604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89719" y="1463040"/>
            <a:ext cx="2606040" cy="54864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599" y="1645920"/>
            <a:ext cx="2240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5397"/>
                </a:solidFill>
                <a:latin typeface="Arial"/>
              </a:defRPr>
            </a:pPr>
            <a:r>
              <a:t>0.47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23774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平台最大挠度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2834640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远小于许用值</a:t>
            </a:r>
            <a:br/>
            <a:r>
              <a:t>刚度充足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23360"/>
            <a:ext cx="1106424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206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05397"/>
                </a:solidFill>
                <a:latin typeface="Microsoft YaHei"/>
              </a:defRPr>
            </a:pPr>
            <a:r>
              <a:t>✅ 校核结论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63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臂杆压弯组合应力5.56MPa远低于Q235许用156.7MPa，强度安全裕度充足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臂杆为大柔度杆(λ=431.7&gt;&gt;λp=104)，屈曲是主要失效模式，加侧向支撑后安全系数2.54→10.14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销轴(18mm 45#钢)双剪承载力72.3kN，等效承载约4890kg，远超50kg额定载荷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加载平台最大挠度0.47mm，弯曲应力14.1MPa，均在许用范围内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• 设计由稳定性（屈曲）主导而非强度——截面尺寸受标准规格和稳定性约束</a:t>
            </a:r>
          </a:p>
        </p:txBody>
      </p:sp>
      <p:pic>
        <p:nvPicPr>
          <p:cNvPr id="29" name="Picture 28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023360"/>
            <a:ext cx="50292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4.1  电气系统设计 —— 主控与驱动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05397"/>
                </a:solidFill>
                <a:latin typeface="Microsoft YaHei"/>
              </a:defRPr>
            </a:pPr>
            <a:r>
              <a:t>STM32F103C8T6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主控制器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ARM Cortex-M3 内核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主频 72 MHz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Flash 64KB / RAM 20KB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37个GPIO，SWD调试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定时器编码器接口(四倍频)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572000"/>
            <a:ext cx="2651760" cy="11887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49834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实物/芯片图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56616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1371600"/>
            <a:ext cx="3566160" cy="54864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8844"/>
                </a:solidFill>
                <a:latin typeface="Microsoft YaHei"/>
              </a:defRPr>
            </a:pPr>
            <a:r>
              <a:t>交流伺服电机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0116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驱动执行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4688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额定功率 400W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346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额定转矩 1.27 N·m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20040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额定转速 3000 rpm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5661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行星减速器 减速比40:1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9319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2500P/R增量编码器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4572000"/>
            <a:ext cx="2651760" cy="11887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0" y="49834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实物/芯片图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371600"/>
            <a:ext cx="356616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1371600"/>
            <a:ext cx="3566160" cy="54864"/>
          </a:xfrm>
          <a:prstGeom prst="rect">
            <a:avLst/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E07A2F"/>
                </a:solidFill>
                <a:latin typeface="Microsoft YaHei"/>
              </a:defRPr>
            </a:pPr>
            <a:r>
              <a:t>传感器系统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0116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环境感知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4688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TCRT5000红外 ×5路(循迹)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8346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检测距离 1-25mm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20040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HC-SR04超声波(避障)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5661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检测范围 2-400cm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9319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四倍频后10000脉冲/转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4572000"/>
            <a:ext cx="2651760" cy="11887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69680" y="49834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实物/芯片图</a:t>
            </a:r>
          </a:p>
        </p:txBody>
      </p:sp>
      <p:pic>
        <p:nvPicPr>
          <p:cNvPr id="39" name="Picture 38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29099"/>
            <a:ext cx="3337560" cy="1602029"/>
          </a:xfrm>
          <a:prstGeom prst="rect">
            <a:avLst/>
          </a:prstGeom>
        </p:spPr>
      </p:pic>
      <p:pic>
        <p:nvPicPr>
          <p:cNvPr id="40" name="Picture 39" descr="_t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020" y="4480560"/>
            <a:ext cx="3535680" cy="1463040"/>
          </a:xfrm>
          <a:prstGeom prst="rect">
            <a:avLst/>
          </a:prstGeom>
        </p:spPr>
      </p:pic>
      <p:pic>
        <p:nvPicPr>
          <p:cNvPr id="41" name="Picture 40" descr="_tm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4334056"/>
            <a:ext cx="1463040" cy="1463040"/>
          </a:xfrm>
          <a:prstGeom prst="rect">
            <a:avLst/>
          </a:prstGeom>
        </p:spPr>
      </p:pic>
      <p:pic>
        <p:nvPicPr>
          <p:cNvPr id="42" name="Picture 41" descr="_tm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4367682"/>
            <a:ext cx="1511510" cy="15115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4.2  电气系统设计 —— 电路原理图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05397"/>
                </a:solidFill>
                <a:latin typeface="Microsoft YaHei"/>
              </a:defRPr>
            </a:pPr>
            <a:r>
              <a:t>STM32芯片框图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05397"/>
                </a:solidFill>
                <a:latin typeface="Microsoft YaHei"/>
              </a:defRPr>
            </a:pPr>
            <a:r>
              <a:t>STM32最小系统原理图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394960" cy="420624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STM32芯片框图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394960" cy="420624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931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STM32最小系统原理图</a:t>
            </a:r>
          </a:p>
        </p:txBody>
      </p:sp>
      <p:pic>
        <p:nvPicPr>
          <p:cNvPr id="12" name="Picture 11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5212080" cy="3931920"/>
          </a:xfrm>
          <a:prstGeom prst="rect">
            <a:avLst/>
          </a:prstGeom>
        </p:spPr>
      </p:pic>
      <p:pic>
        <p:nvPicPr>
          <p:cNvPr id="13" name="Picture 12" descr="_t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03120"/>
            <a:ext cx="52120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5.1  差速驱动运动学建模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05397"/>
                </a:solidFill>
                <a:latin typeface="Microsoft YaHei"/>
              </a:defRPr>
            </a:pPr>
            <a:r>
              <a:t>差速驱动运动学模型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中心线速度：v = (v_R + v_L) / 2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角速度：    ω = (v_R - v_L) / L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转弯半径：  R = v/ω = (L/2)·(v_L+v_R)/(v_R-v_L)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状态方程：ẋ=v·cosθ, ẏ=v·sinθ, θ̇=ω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600" b="1">
                <a:solidFill>
                  <a:srgbClr val="105397"/>
                </a:solidFill>
                <a:latin typeface="Microsoft YaHei"/>
              </a:defRPr>
            </a:pPr>
            <a:r>
              <a:t>关键结论：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v_L=-v_R时 R=0 → 原地旋转（零转弯半径）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v_L=v_R时 ω=0 → 纯直线运动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轮距L越大，角速度响应越灵敏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3611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差速驱动运动学示意图</a:t>
            </a:r>
            <a:br/>
            <a:r>
              <a:t>运动轨迹仿真结果</a:t>
            </a:r>
          </a:p>
        </p:txBody>
      </p:sp>
      <p:pic>
        <p:nvPicPr>
          <p:cNvPr id="10" name="Picture 9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4023360"/>
            <a:ext cx="2743200" cy="2286000"/>
          </a:xfrm>
          <a:prstGeom prst="rect">
            <a:avLst/>
          </a:prstGeom>
        </p:spPr>
      </p:pic>
      <p:pic>
        <p:nvPicPr>
          <p:cNvPr id="11" name="Picture 10" descr="_t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282" y="1366306"/>
            <a:ext cx="5180910" cy="48355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5.2  Hybrid A* 路径规划算法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05397"/>
                </a:solidFill>
                <a:latin typeface="Microsoft YaHei"/>
              </a:defRPr>
            </a:pPr>
            <a:r>
              <a:t>Hybrid A* —— 满足运动学约束的路径规划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核心思想：将搜索空间从(x,y)扩展到(x,y,θ)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600" b="1">
                <a:solidFill>
                  <a:srgbClr val="105397"/>
                </a:solidFill>
                <a:latin typeface="Microsoft YaHei"/>
              </a:defRPr>
            </a:pPr>
            <a:r>
              <a:t>与标准A*的区别：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标准A*：栅格(x,y)八方向搜索 → 锯齿折线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Hybrid A*：连续(x,y,θ)+运动基元 → 平滑路径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600" b="1">
                <a:solidFill>
                  <a:srgbClr val="105397"/>
                </a:solidFill>
                <a:latin typeface="Microsoft YaHei"/>
              </a:defRPr>
            </a:pPr>
            <a:r>
              <a:t>算法参数：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离散曲率：{-1.11, -0.52, 0, 0.52, 1.11} m⁻¹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运动基元10个，搜索步长0.5m，地图10m×8m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规划结果：路径11.04m | 迭代3134次 | 平滑无障碍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371600"/>
            <a:ext cx="5120640" cy="48463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3611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Hybrid A*路径规划结果图</a:t>
            </a:r>
            <a:br/>
            <a:r>
              <a:t>仓库地图 &amp; 搜索树 &amp; 最终路径</a:t>
            </a:r>
          </a:p>
        </p:txBody>
      </p:sp>
      <p:pic>
        <p:nvPicPr>
          <p:cNvPr id="10" name="Picture 9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9377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5.3  红外PID循迹仿真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05397"/>
                </a:solidFill>
                <a:latin typeface="Microsoft YaHei"/>
              </a:defRPr>
            </a:pPr>
            <a:r>
              <a:t>5路红外传感器PID循迹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传感器布局：5路TCRT5000红外，权重{-4,-2,0,+2,+4}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PID控制器参数：Kp=3.0, Ki=0.08, Kd=1.0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Kp=3.0 比例——快速响应横向偏差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Ki=0.08 积分——消除稳态静差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Kd=1.0 微分——抑制超调震荡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循迹精度：RMS横向误差 1.5 cm | 最大误差 6.8 cm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3611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红外PID循迹仿真结果</a:t>
            </a:r>
            <a:br/>
            <a:r>
              <a:t>传感器布局 &amp; 误差曲线</a:t>
            </a:r>
          </a:p>
        </p:txBody>
      </p:sp>
      <p:pic>
        <p:nvPicPr>
          <p:cNvPr id="10" name="Picture 9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2560320" cy="1828800"/>
          </a:xfrm>
          <a:prstGeom prst="rect">
            <a:avLst/>
          </a:prstGeom>
        </p:spPr>
      </p:pic>
      <p:pic>
        <p:nvPicPr>
          <p:cNvPr id="11" name="Picture 10" descr="_t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474720"/>
            <a:ext cx="5120640" cy="1463040"/>
          </a:xfrm>
          <a:prstGeom prst="rect">
            <a:avLst/>
          </a:prstGeom>
        </p:spPr>
      </p:pic>
      <p:pic>
        <p:nvPicPr>
          <p:cNvPr id="12" name="Picture 11" descr="_t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120640"/>
            <a:ext cx="51206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6.1  运动控制算法 —— 双闭环PID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05397"/>
                </a:solidFill>
                <a:latin typeface="Microsoft YaHei"/>
              </a:defRPr>
            </a:pPr>
            <a:r>
              <a:t>级联双闭环PID控制结构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外环（位姿环，周期20ms）：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航向角 PID：Kp=3.0, Ki=0.2, Kd=0.4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距离比例控制 Kp=0.6：位姿误差→期望轮速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内环（轮速环，周期5ms）：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左右轮 PI：Kp=17.0, Ki=103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快速跟踪期望轮速→PWM驱动电机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600" b="1">
                <a:solidFill>
                  <a:srgbClr val="105397"/>
                </a:solidFill>
                <a:latin typeface="Microsoft YaHei"/>
              </a:defRPr>
            </a:pPr>
            <a:r>
              <a:t>关键设计技巧：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积分分离+抗积分饱和，防止大偏差时积分器失控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内环200Hz &gt; 外环50Hz，保证内环先收敛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双环解耦：外环输出作为内环设定值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371600"/>
            <a:ext cx="5120640" cy="48463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3611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双闭环PID控制框图</a:t>
            </a:r>
            <a:br/>
            <a:r>
              <a:t>级联控制结构示意图</a:t>
            </a:r>
          </a:p>
        </p:txBody>
      </p:sp>
      <p:pic>
        <p:nvPicPr>
          <p:cNvPr id="10" name="Picture 9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9377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6.2  控制效果仿真验证（一）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05397"/>
                </a:solidFill>
                <a:latin typeface="Microsoft YaHei"/>
              </a:defRPr>
            </a:pPr>
            <a:r>
              <a:t>场景1：阶跃响应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验证速度环PI控制快速性</a:t>
            </a:r>
            <a:br/>
            <a:r>
              <a:t>上升时间与超调量分析</a:t>
            </a:r>
            <a:br/>
            <a:r>
              <a:t>稳态误差 ≈ 0 m/s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5303520" cy="34747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阶跃响应曲线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05397"/>
                </a:solidFill>
                <a:latin typeface="Microsoft YaHei"/>
              </a:defRPr>
            </a:pPr>
            <a:r>
              <a:t>场景2：点镇定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从任意初始位姿收敛到目标点</a:t>
            </a:r>
            <a:br/>
            <a:r>
              <a:t>终点位置误差 (0.022, -0.007) m</a:t>
            </a:r>
            <a:br/>
            <a:r>
              <a:t>终点航向误差 -0.89°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926080"/>
            <a:ext cx="5303520" cy="34747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4480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点镇定轨迹</a:t>
            </a:r>
          </a:p>
        </p:txBody>
      </p:sp>
      <p:pic>
        <p:nvPicPr>
          <p:cNvPr id="14" name="Picture 13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5120640" cy="3200400"/>
          </a:xfrm>
          <a:prstGeom prst="rect">
            <a:avLst/>
          </a:prstGeom>
        </p:spPr>
      </p:pic>
      <p:pic>
        <p:nvPicPr>
          <p:cNvPr id="15" name="Picture 14" descr="_t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01752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6.2  控制效果仿真验证（二）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05397"/>
                </a:solidFill>
                <a:latin typeface="Microsoft YaHei"/>
              </a:defRPr>
            </a:pPr>
            <a:r>
              <a:t>场景3：直线跟踪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沿直线路径保持零横向误差</a:t>
            </a:r>
            <a:br/>
            <a:r>
              <a:t>角速度 RMSE 0.0023 rad/s</a:t>
            </a:r>
            <a:br/>
            <a:r>
              <a:t>跟踪精度高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5303520" cy="34747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直线跟踪曲线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05397"/>
                </a:solidFill>
                <a:latin typeface="Microsoft YaHei"/>
              </a:defRPr>
            </a:pPr>
            <a:r>
              <a:t>场景4：圆形轨迹跟踪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持续曲线跟踪验证转向控制</a:t>
            </a:r>
            <a:br/>
            <a:r>
              <a:t>线速度 RMSE 0.0086 m/s</a:t>
            </a:r>
            <a:br/>
            <a:r>
              <a:t>轨迹圆度 RMSE 0.020 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926080"/>
            <a:ext cx="5303520" cy="34747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4480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圆形轨迹跟踪曲线</a:t>
            </a:r>
          </a:p>
        </p:txBody>
      </p:sp>
      <p:pic>
        <p:nvPicPr>
          <p:cNvPr id="14" name="Picture 13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5120640" cy="3200400"/>
          </a:xfrm>
          <a:prstGeom prst="rect">
            <a:avLst/>
          </a:prstGeom>
        </p:spPr>
      </p:pic>
      <p:pic>
        <p:nvPicPr>
          <p:cNvPr id="15" name="Picture 14" descr="_t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01752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PART 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51760"/>
            <a:ext cx="228600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代码结构与算法流程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Algorithm Structure and Code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828800"/>
            <a:ext cx="54864" cy="2286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0" y="3200400"/>
            <a:ext cx="54864" cy="2286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92640" y="4572000"/>
            <a:ext cx="54864" cy="2286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1645920"/>
            <a:ext cx="411480" cy="411480"/>
          </a:xfrm>
          <a:prstGeom prst="ellipse">
            <a:avLst/>
          </a:prstGeom>
          <a:solidFill>
            <a:srgbClr val="10539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微软雅黑"/>
              </a:rPr>
              <a:t>Hybrid A*路径规划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2926080"/>
            <a:ext cx="411480" cy="411480"/>
          </a:xfrm>
          <a:prstGeom prst="ellipse">
            <a:avLst/>
          </a:prstGeom>
          <a:solidFill>
            <a:srgbClr val="10539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971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微软雅黑"/>
              </a:rPr>
              <a:t>PID循线跟踪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4206240"/>
            <a:ext cx="411480" cy="411480"/>
          </a:xfrm>
          <a:prstGeom prst="ellipse">
            <a:avLst/>
          </a:prstGeom>
          <a:solidFill>
            <a:srgbClr val="10539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251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微软雅黑"/>
              </a:rPr>
              <a:t>双闭环PID控制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Hybrid A* 路径规划算法结构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05397"/>
                </a:solidFill>
                <a:latin typeface="Microsoft YaHei"/>
              </a:defRPr>
            </a:pPr>
            <a:r>
              <a:t>📄 hybrid_astar.m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468880" cy="54864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1. 地图构建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栅格地图 10m×8m</a:t>
            </a:r>
            <a:br/>
            <a:r>
              <a:t>5个货架障碍物</a:t>
            </a:r>
            <a:br/>
            <a:r>
              <a:t>分辨率 0.2m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651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828800"/>
            <a:ext cx="2468880" cy="54864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A6B3A"/>
                </a:solidFill>
                <a:latin typeface="Microsoft YaHei"/>
              </a:defRPr>
            </a:pPr>
            <a:r>
              <a:t>2. 运动基元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5种离散曲率</a:t>
            </a:r>
            <a:br/>
            <a:r>
              <a:t>±1.11,±0.52,0 m⁻¹</a:t>
            </a:r>
            <a:br/>
            <a:r>
              <a:t>步长0.5m 10个基元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651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40" y="1828800"/>
            <a:ext cx="2468880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8B4513"/>
                </a:solidFill>
                <a:latin typeface="Microsoft YaHei"/>
              </a:defRPr>
            </a:pPr>
            <a:r>
              <a:t>3. A*搜索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OpenList+CloseList</a:t>
            </a:r>
            <a:br/>
            <a:r>
              <a:t>f=g+h 启发式</a:t>
            </a:r>
            <a:br/>
            <a:r>
              <a:t>(x,y,θ)连续空间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651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69680" y="1828800"/>
            <a:ext cx="2468880" cy="54864"/>
          </a:xfrm>
          <a:prstGeom prst="rect">
            <a:avLst/>
          </a:prstGeom>
          <a:solidFill>
            <a:srgbClr val="7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7B2D7B"/>
                </a:solidFill>
                <a:latin typeface="Microsoft YaHei"/>
              </a:defRPr>
            </a:pPr>
            <a:r>
              <a:t>4. 路径输出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回溯最优节点链</a:t>
            </a:r>
            <a:br/>
            <a:r>
              <a:t>3次均值平滑</a:t>
            </a:r>
            <a:br/>
            <a:r>
              <a:t>满足运动学约束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11247120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05397"/>
                </a:solidFill>
                <a:latin typeface="Microsoft YaHei"/>
              </a:defRPr>
            </a:pPr>
            <a:r>
              <a:t>✅ 输出: 平滑无碰撞路径 (11.04m, 3134次迭代)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关键特性：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77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68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差速运动学约束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连续曲率路径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9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启发式加速搜索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障碍物膨胀检测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PID 循迹控制算法结构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05397"/>
                </a:solidFill>
                <a:latin typeface="Microsoft YaHei"/>
              </a:defRPr>
            </a:pPr>
            <a:r>
              <a:t>📄 abc_tracking_pid.m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468880" cy="54864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1. 传感器阵列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5路TCRT5000红外</a:t>
            </a:r>
            <a:br/>
            <a:r>
              <a:t>间距40mm 前向80mm</a:t>
            </a:r>
            <a:br/>
            <a:r>
              <a:t>检测黑线位置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651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828800"/>
            <a:ext cx="2468880" cy="54864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A6B3A"/>
                </a:solidFill>
                <a:latin typeface="Microsoft YaHei"/>
              </a:defRPr>
            </a:pPr>
            <a:r>
              <a:t>2. 偏移量计算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权重{-4,-2,0,+2,+4}</a:t>
            </a:r>
            <a:br/>
            <a:r>
              <a:t>加权平均偏移</a:t>
            </a:r>
            <a:br/>
            <a:r>
              <a:t>丢线外推补偿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651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40" y="1828800"/>
            <a:ext cx="2468880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8B4513"/>
                </a:solidFill>
                <a:latin typeface="Microsoft YaHei"/>
              </a:defRPr>
            </a:pPr>
            <a:r>
              <a:t>3. PID控制器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Kp=3.0 比例响应</a:t>
            </a:r>
            <a:br/>
            <a:r>
              <a:t>Ki=0.08 消除静差</a:t>
            </a:r>
            <a:br/>
            <a:r>
              <a:t>Kd=1.0 抑制超调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651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69680" y="1828800"/>
            <a:ext cx="2468880" cy="54864"/>
          </a:xfrm>
          <a:prstGeom prst="rect">
            <a:avLst/>
          </a:prstGeom>
          <a:solidFill>
            <a:srgbClr val="7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7B2D7B"/>
                </a:solidFill>
                <a:latin typeface="Microsoft YaHei"/>
              </a:defRPr>
            </a:pPr>
            <a:r>
              <a:t>4. 轮速分解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差速运动学逆解</a:t>
            </a:r>
            <a:br/>
            <a:r>
              <a:t>左/右轮PWM输出</a:t>
            </a:r>
            <a:br/>
            <a:r>
              <a:t>闭环纠偏驱动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11247120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05397"/>
                </a:solidFill>
                <a:latin typeface="Microsoft YaHei"/>
              </a:defRPr>
            </a:pPr>
            <a:r>
              <a:t>✅ 输出: RMS横向误差1.5cm, 最大误差6.8cm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关键特性：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77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68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实时闭环纠偏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自适应丢线处理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9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积分抗饱和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200Hz控制频率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差速轨迹仿真流程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05397"/>
                </a:solidFill>
                <a:latin typeface="Microsoft YaHei"/>
              </a:defRPr>
            </a:pPr>
            <a:r>
              <a:t>📄 traj_sim.m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468880" cy="54864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1. 轨迹定义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4种典型轨迹</a:t>
            </a:r>
            <a:br/>
            <a:r>
              <a:t>直线/圆/S形/8字</a:t>
            </a:r>
            <a:br/>
            <a:r>
              <a:t>v(t)+ω(t)控制输入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651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828800"/>
            <a:ext cx="2468880" cy="54864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A6B3A"/>
                </a:solidFill>
                <a:latin typeface="Microsoft YaHei"/>
              </a:defRPr>
            </a:pPr>
            <a:r>
              <a:t>2. 运动学正解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差速驱动模型</a:t>
            </a:r>
            <a:br/>
            <a:r>
              <a:t>Runge-Kutta积分</a:t>
            </a:r>
            <a:br/>
            <a:r>
              <a:t>dt=0.01s T=20s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651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40" y="1828800"/>
            <a:ext cx="2468880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8B4513"/>
                </a:solidFill>
                <a:latin typeface="Microsoft YaHei"/>
              </a:defRPr>
            </a:pPr>
            <a:r>
              <a:t>3. XY绘制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轨迹对比图</a:t>
            </a:r>
            <a:br/>
            <a:r>
              <a:t>起点o/终点□标记</a:t>
            </a:r>
            <a:br/>
            <a:r>
              <a:t>4色区分轨迹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651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69680" y="1828800"/>
            <a:ext cx="2468880" cy="54864"/>
          </a:xfrm>
          <a:prstGeom prst="rect">
            <a:avLst/>
          </a:prstGeom>
          <a:solidFill>
            <a:srgbClr val="7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7B2D7B"/>
                </a:solidFill>
                <a:latin typeface="Microsoft YaHei"/>
              </a:defRPr>
            </a:pPr>
            <a:r>
              <a:t>4. 指标分析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轮速曲线绘制</a:t>
            </a:r>
            <a:br/>
            <a:r>
              <a:t>控制输入曲线</a:t>
            </a:r>
            <a:br/>
            <a:r>
              <a:t>运动学指标汇总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11247120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05397"/>
                </a:solidFill>
                <a:latin typeface="Microsoft YaHei"/>
              </a:defRPr>
            </a:pPr>
            <a:r>
              <a:t>✅ 输出: 4条轨迹对比图 + 轮速/控制输入曲线 + 指标汇总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关键特性：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77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68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多轨迹并行仿真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运动学正解验证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9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可视化对比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指标量化评估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双闭环PID控制架构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05397"/>
                </a:solidFill>
                <a:latin typeface="Microsoft YaHei"/>
              </a:defRPr>
            </a:pPr>
            <a:r>
              <a:t>📄 pid_control.m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468880" cy="54864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05397"/>
                </a:solidFill>
                <a:latin typeface="Microsoft YaHei"/>
              </a:defRPr>
            </a:pPr>
            <a:r>
              <a:t>1. 外环-位姿环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距离P: Kp=0.6</a:t>
            </a:r>
            <a:br/>
            <a:r>
              <a:t>航向PID: Kp=3.0</a:t>
            </a:r>
            <a:br/>
            <a:r>
              <a:t>Ki=0.2 Kd=0.4, 20ms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651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828800"/>
            <a:ext cx="2468880" cy="54864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A6B3A"/>
                </a:solidFill>
                <a:latin typeface="Microsoft YaHei"/>
              </a:defRPr>
            </a:pPr>
            <a:r>
              <a:t>2. 内环-轮速环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左右轮PI</a:t>
            </a:r>
            <a:br/>
            <a:r>
              <a:t>Kp_v=2.0 Ki_v=12.0</a:t>
            </a:r>
            <a:br/>
            <a:r>
              <a:t>电压±12V, 5ms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651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40" y="1828800"/>
            <a:ext cx="2468880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8B4513"/>
                </a:solidFill>
                <a:latin typeface="Microsoft YaHei"/>
              </a:defRPr>
            </a:pPr>
            <a:r>
              <a:t>3. 电机模型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一阶惯性环节</a:t>
            </a:r>
            <a:br/>
            <a:r>
              <a:t>τ=0.06s时间常数</a:t>
            </a:r>
            <a:br/>
            <a:r>
              <a:t>Km=0.33增益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651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1828800"/>
            <a:ext cx="246888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69680" y="1828800"/>
            <a:ext cx="2468880" cy="54864"/>
          </a:xfrm>
          <a:prstGeom prst="rect">
            <a:avLst/>
          </a:prstGeom>
          <a:solidFill>
            <a:srgbClr val="7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7B2D7B"/>
                </a:solidFill>
                <a:latin typeface="Microsoft YaHei"/>
              </a:defRPr>
            </a:pPr>
            <a:r>
              <a:t>4. 四场景验证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46888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阶跃/点镇定</a:t>
            </a:r>
            <a:br/>
            <a:r>
              <a:t>直线/圆形跟踪</a:t>
            </a:r>
            <a:br/>
            <a:r>
              <a:t>性能指标汇总输出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11247120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05397"/>
                </a:solidFill>
                <a:latin typeface="Microsoft YaHei"/>
              </a:defRPr>
            </a:pPr>
            <a:r>
              <a:t>✅ 输出: 阶跃≈0误差 | 点镇定&lt;2.3cm | 直线RMSE 0.0023rad/s | 圆形RMSE 0.020m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关键特性：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77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68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级联双闭环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积分分离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9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抗积分饱和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5349240"/>
            <a:ext cx="2103120" cy="320040"/>
          </a:xfrm>
          <a:prstGeom prst="roundRect">
            <a:avLst/>
          </a:prstGeom>
          <a:solidFill>
            <a:srgbClr val="E8F0F8"/>
          </a:solidFill>
          <a:ln w="6350">
            <a:solidFill>
              <a:srgbClr val="105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0" y="5376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05397"/>
                </a:solidFill>
                <a:latin typeface="Microsoft YaHei"/>
              </a:defRPr>
            </a:pPr>
            <a:r>
              <a:t>四场景全覆盖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PART 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51760"/>
            <a:ext cx="228600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Summary and 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828800"/>
            <a:ext cx="54864" cy="2286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0" y="3200400"/>
            <a:ext cx="54864" cy="2286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92640" y="4572000"/>
            <a:ext cx="54864" cy="2286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1645920"/>
            <a:ext cx="411480" cy="411480"/>
          </a:xfrm>
          <a:prstGeom prst="ellipse">
            <a:avLst/>
          </a:prstGeom>
          <a:solidFill>
            <a:srgbClr val="10539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微软雅黑"/>
              </a:rPr>
              <a:t>主要成果总结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2926080"/>
            <a:ext cx="411480" cy="411480"/>
          </a:xfrm>
          <a:prstGeom prst="ellipse">
            <a:avLst/>
          </a:prstGeom>
          <a:solidFill>
            <a:srgbClr val="10539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971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微软雅黑"/>
              </a:rPr>
              <a:t>不足与展望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7.1  主要成果总结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05397"/>
                </a:solidFill>
                <a:latin typeface="Microsoft YaHei"/>
              </a:defRPr>
            </a:pPr>
            <a:r>
              <a:t>整体方案设计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8308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完成差速驱动+剪叉升降方案，额定载荷50kg，升降行程452mm，最大速度30m/min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05397"/>
                </a:solidFill>
                <a:latin typeface="Microsoft YaHei"/>
              </a:defRPr>
            </a:pPr>
            <a:r>
              <a:t>机械结构设计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8892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完成关键部件强度校核，应力利用率仅3.5%，屈曲安全系数10.14，销轴承载力72.3kN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832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05397"/>
                </a:solidFill>
                <a:latin typeface="Microsoft YaHei"/>
              </a:defRPr>
            </a:pPr>
            <a:r>
              <a:t>电气控制系统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9476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基于STM32F103C8T6设计，集成伺服电机+红外/超声波传感器，编码器四倍频测速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8912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05397"/>
                </a:solidFill>
                <a:latin typeface="Microsoft YaHei"/>
              </a:defRPr>
            </a:pPr>
            <a:r>
              <a:t>路径规划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0060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实现Hybrid A*全局路径规划，生成11.04m无障碍平滑路径，满足差速运动学约束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394960"/>
            <a:ext cx="457200" cy="457200"/>
          </a:xfrm>
          <a:prstGeom prst="ellipse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05397"/>
                </a:solidFill>
                <a:latin typeface="Microsoft YaHei"/>
              </a:defRPr>
            </a:pPr>
            <a:r>
              <a:t>运动控制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设计双闭环PID控制器，位置误差厘米级，航向误差&lt;1°，积分分离+抗积分饱和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371600"/>
            <a:ext cx="3474720" cy="4846320"/>
          </a:xfrm>
          <a:prstGeom prst="rect">
            <a:avLst/>
          </a:prstGeom>
          <a:solidFill>
            <a:srgbClr val="E8F0F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3611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📷 整体效果图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7.2  不足与展望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54864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C4444"/>
                </a:solidFill>
                <a:latin typeface="Microsoft YaHei"/>
              </a:defRPr>
            </a:pPr>
            <a:r>
              <a:t>⚠️ 存在不足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• 未进行实物样机测试验证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• 未与其他算法定量对比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• 运动学建模仅限二维平面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• PID参数固定缺乏自适应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• 系统集成调试尚未完成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• 未考虑动力学特性（摩擦、惯性）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303520" cy="54864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8844"/>
                </a:solidFill>
                <a:latin typeface="Microsoft YaHei"/>
              </a:defRPr>
            </a:pPr>
            <a:r>
              <a:t>🚀 改进方向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• 制作实物样机并实验验证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97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• 建立动力学模型考虑摩擦惯性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• 引入模糊PID或MPC自适应控制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703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• 实现多机器人协调调度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• 扩展为三维空间运动规划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709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• 增加视觉SLAM自主导航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谢谢各位老师！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0">
                <a:solidFill>
                  <a:srgbClr val="E8C547"/>
                </a:solidFill>
                <a:latin typeface="Microsoft YaHei"/>
              </a:defRPr>
            </a:pPr>
            <a:r>
              <a:t>敬请批评指正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206240"/>
            <a:ext cx="3017520" cy="27432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0" y="4572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答辩人：王子煜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指导教师：刘鹏博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齐鲁工业大学  机械工程学院</a:t>
            </a:r>
          </a:p>
        </p:txBody>
      </p:sp>
      <p:pic>
        <p:nvPicPr>
          <p:cNvPr id="7" name="Picture 6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210312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1660</Words>
  <Application>Microsoft Office PowerPoint</Application>
  <PresentationFormat>宽屏</PresentationFormat>
  <Paragraphs>383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子煜 王</cp:lastModifiedBy>
  <cp:revision>2</cp:revision>
  <dcterms:created xsi:type="dcterms:W3CDTF">2013-01-27T09:14:16Z</dcterms:created>
  <dcterms:modified xsi:type="dcterms:W3CDTF">2026-05-26T13:59:43Z</dcterms:modified>
  <cp:category/>
</cp:coreProperties>
</file>