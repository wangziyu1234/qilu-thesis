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3" d="100"/>
          <a:sy n="93" d="100"/>
        </p:scale>
        <p:origin x="712"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468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各位评委老师好，我是王子煜，我的毕业设计题目是《智能仓储自主移动机器人结构设计与控制》，指导教师是刘鹏博老师。下面由我来汇报我的毕业设计内容。</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本次汇报主要分为七个部分：首先是研究背景与意义，然后依次介绍机械结构设计、电气系统设计、运动学建模与仿真、路径规划与循迹、运动基元与算法流程，最后是双环PID运动控制。</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首先是研究背景。近年来我国电商规模持续扩大，仓储物流环节面临越来越大的效率压力，传统人工搬运已经难以满足日益增长的订单量。在这种背景下，自主移动机器人成为智能仓储的核心装备，国内外市场都在快速增长。</a:t>
            </a:r>
          </a:p>
          <a:p>
            <a:endParaRPr/>
          </a:p>
          <a:p>
            <a:r>
              <a:t>本设计的目标是开发一款适用于中小型仓储场景的搬运机器人，它能够自主导航、完成货物的升降搬运，同时结构简洁、成本可控，便于实际部署。</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接下来介绍机械结构设计。整台机器人主要由车身、驱动轮、升降机构和控制系统四部分组成。底盘采用差速驱动方式，升降机构选用剪叉式结构，这种结构紧凑、传动平稳，在收拢状态下占用高度很小。</a:t>
            </a:r>
          </a:p>
          <a:p>
            <a:endParaRPr/>
          </a:p>
          <a:p>
            <a:r>
              <a:t>在强度校核方面，我对臂杆、销轴和承载平台分别进行了理论计算和有限元分析验证。结果显示各部件的应力都远低于材料的许用值，结构安全可靠，理论计算与有限元结果高度吻合。</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电气系统设计方面，我选用了STM32单片机作为主控芯片，它性能适中、功耗低、外设丰富，完全能够满足本设计的控制需求。</a:t>
            </a:r>
          </a:p>
          <a:p>
            <a:endParaRPr/>
          </a:p>
          <a:p>
            <a:r>
              <a:t>驱动电机选用了400W的交流伺服电机，配合行星减速器，输出扭矩有充足的余量。传感器方面配备了红外传感器用于循迹、超声波传感器用于避障，以及编码器用于轮速反馈，三者协同工作，为导航控制提供可靠的数据支撑。</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运动学建模方面，我建立了双轮差速运动学模型，推导了线速度、角速度与轮速之间的关系。在此基础上，通过MATLAB仿真了直线、圆弧、S形和8字形四种典型轨迹，验证了底盘在不同工况下的运动响应特性，为后续的路径规划和控制奠定了基础。</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路径规划与循迹方面，我采用了两层导航架构。全局路径规划层使用Hybrid A*算法，在包含货架障碍物的仓储地图上自动规划出一条满足运动学约束的平滑路径。局部循迹层使用红外传感器配合PID控制器，驱动小车沿规划路径稳定行驶。</a:t>
            </a:r>
          </a:p>
          <a:p>
            <a:endParaRPr/>
          </a:p>
          <a:p>
            <a:r>
              <a:t>从仿真结果可以看到，循迹轨迹与参考路径高度重合，横向误差控制在很小的范围内，说明这套方案是可行的。</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运动基元是Hybrid A*算法的核心。我基于差速运动学模型，选取了五种离散曲率，分别对应大左转、小左转、直行、小右转和大右转，再配合前进和后退两种方向，一共生成十种运动基元。</a:t>
            </a:r>
          </a:p>
          <a:p>
            <a:endParaRPr/>
          </a:p>
          <a:p>
            <a:r>
              <a:t>算法流程分为八个步骤，从栅格地图构建开始，经过节点扩展、碰撞检测、代价评估，最终输出平滑的规划路径。代价函数中加入了转弯惩罚和倒车惩罚，引导算法优先选择平滑、前向的路径。</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运动控制方面，我设计了双环PID级联控制器。外环是位姿环，负责根据位置偏差计算速度指令；内环是轮速环，负责让左右轮精确跟踪目标转速。内环的响应速度比外环快很多，保证了控制的稳定性。</a:t>
            </a:r>
          </a:p>
          <a:p>
            <a:endParaRPr/>
          </a:p>
          <a:p>
            <a:r>
              <a:t>我做了四项仿真验证：阶跃响应测试速度跟踪能力，定点镇定测试位置收敛能力，直线跟踪和圆形轨迹跟踪测试连续路径跟踪能力。从结果来看，控制器在四种工况下都表现良好，能够满足仓储小车的基本运动控制需求。</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以上就是我的毕业设计主要内容。总结一下，我完成了从总体方案设计、机械结构设计、电气系统设计，到运动学建模、路径规划仿真和运动控制验证的完整工作。</a:t>
            </a:r>
          </a:p>
          <a:p>
            <a:endParaRPr/>
          </a:p>
          <a:p>
            <a:r>
              <a:t>当然，目前还存在一些不足，比如尚未进行实物样机测试，后续计划分阶段完成样机装配、负载测试和完整任务流程验证。</a:t>
            </a:r>
          </a:p>
          <a:p>
            <a:endParaRPr/>
          </a:p>
          <a:p>
            <a:r>
              <a:t>感谢各位评委老师的评判指正！</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6876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620000"/>
            <a:ext cx="10800000" cy="646331"/>
          </a:xfrm>
          <a:prstGeom prst="rect">
            <a:avLst/>
          </a:prstGeom>
          <a:noFill/>
        </p:spPr>
        <p:txBody>
          <a:bodyPr wrap="square">
            <a:spAutoFit/>
          </a:bodyPr>
          <a:lstStyle/>
          <a:p>
            <a:pPr algn="ctr">
              <a:defRPr sz="3600" b="1">
                <a:solidFill>
                  <a:srgbClr val="FFFFFF"/>
                </a:solidFill>
                <a:latin typeface="Microsoft YaHei"/>
              </a:defRPr>
            </a:pPr>
            <a:r>
              <a:rPr dirty="0" err="1"/>
              <a:t>智能仓储</a:t>
            </a:r>
            <a:r>
              <a:rPr lang="zh-CN" altLang="en-US" sz="3600" b="1" dirty="0">
                <a:solidFill>
                  <a:srgbClr val="FFFFFF"/>
                </a:solidFill>
                <a:latin typeface="微软雅黑" panose="020B0503020204020204" pitchFamily="34" charset="-122"/>
                <a:ea typeface="微软雅黑" panose="020B0503020204020204" pitchFamily="34" charset="-122"/>
              </a:rPr>
              <a:t>自主</a:t>
            </a:r>
            <a:r>
              <a:rPr dirty="0" err="1"/>
              <a:t>移动机器人</a:t>
            </a:r>
            <a:endParaRPr dirty="0"/>
          </a:p>
        </p:txBody>
      </p:sp>
      <p:sp>
        <p:nvSpPr>
          <p:cNvPr id="5" name="TextBox 4"/>
          <p:cNvSpPr txBox="1"/>
          <p:nvPr/>
        </p:nvSpPr>
        <p:spPr>
          <a:xfrm>
            <a:off x="540000" y="2232000"/>
            <a:ext cx="10800000" cy="430887"/>
          </a:xfrm>
          <a:prstGeom prst="rect">
            <a:avLst/>
          </a:prstGeom>
          <a:noFill/>
        </p:spPr>
        <p:txBody>
          <a:bodyPr wrap="square">
            <a:spAutoFit/>
          </a:bodyPr>
          <a:lstStyle/>
          <a:p>
            <a:pPr algn="ctr">
              <a:defRPr sz="2200" b="0">
                <a:solidFill>
                  <a:srgbClr val="90CAF9"/>
                </a:solidFill>
                <a:latin typeface="Microsoft YaHei"/>
              </a:defRPr>
            </a:pPr>
            <a:r>
              <a:rPr lang="zh-CN" altLang="en-US" b="0" i="0" dirty="0">
                <a:solidFill>
                  <a:schemeClr val="tx2">
                    <a:lumMod val="60000"/>
                    <a:lumOff val="40000"/>
                  </a:schemeClr>
                </a:solidFill>
                <a:effectLst/>
                <a:latin typeface="微软雅黑" panose="020B0503020204020204" pitchFamily="34" charset="-122"/>
                <a:ea typeface="微软雅黑" panose="020B0503020204020204" pitchFamily="34" charset="-122"/>
              </a:rPr>
              <a:t>结构设计与控制</a:t>
            </a:r>
            <a:endParaRPr dirty="0">
              <a:solidFill>
                <a:schemeClr val="tx2">
                  <a:lumMod val="60000"/>
                  <a:lumOff val="40000"/>
                </a:schemeClr>
              </a:solidFill>
            </a:endParaRPr>
          </a:p>
        </p:txBody>
      </p:sp>
      <p:sp>
        <p:nvSpPr>
          <p:cNvPr id="6" name="TextBox 5"/>
          <p:cNvSpPr txBox="1"/>
          <p:nvPr/>
        </p:nvSpPr>
        <p:spPr>
          <a:xfrm>
            <a:off x="540000" y="2808000"/>
            <a:ext cx="10800000" cy="288000"/>
          </a:xfrm>
          <a:prstGeom prst="rect">
            <a:avLst/>
          </a:prstGeom>
          <a:noFill/>
        </p:spPr>
        <p:txBody>
          <a:bodyPr wrap="square">
            <a:spAutoFit/>
          </a:bodyPr>
          <a:lstStyle/>
          <a:p>
            <a:pPr algn="ctr">
              <a:defRPr sz="1300" b="0">
                <a:solidFill>
                  <a:srgbClr val="78909C"/>
                </a:solidFill>
                <a:latin typeface="Microsoft YaHei"/>
              </a:defRPr>
            </a:pPr>
            <a:r>
              <a:t>Design and Control of Intelligent Warehouse Mobile Robot</a:t>
            </a:r>
          </a:p>
        </p:txBody>
      </p:sp>
      <p:sp>
        <p:nvSpPr>
          <p:cNvPr id="8" name="TextBox 7"/>
          <p:cNvSpPr txBox="1"/>
          <p:nvPr/>
        </p:nvSpPr>
        <p:spPr>
          <a:xfrm>
            <a:off x="3420000" y="3780000"/>
            <a:ext cx="5400000" cy="292388"/>
          </a:xfrm>
          <a:prstGeom prst="rect">
            <a:avLst/>
          </a:prstGeom>
          <a:noFill/>
        </p:spPr>
        <p:txBody>
          <a:bodyPr wrap="square">
            <a:spAutoFit/>
          </a:bodyPr>
          <a:lstStyle/>
          <a:p>
            <a:pPr algn="ctr">
              <a:defRPr sz="1300" b="0">
                <a:solidFill>
                  <a:srgbClr val="BBDEFB"/>
                </a:solidFill>
                <a:latin typeface="Microsoft YaHei"/>
              </a:defRPr>
            </a:pPr>
            <a:r>
              <a:rPr dirty="0" err="1"/>
              <a:t>答辩人：</a:t>
            </a:r>
            <a:r>
              <a:rPr dirty="0" err="1">
                <a:latin typeface="+mn-ea"/>
              </a:rPr>
              <a:t>王</a:t>
            </a:r>
            <a:r>
              <a:rPr lang="zh-CN" altLang="en-US" dirty="0">
                <a:latin typeface="+mn-ea"/>
              </a:rPr>
              <a:t>子</a:t>
            </a:r>
            <a:r>
              <a:rPr dirty="0">
                <a:latin typeface="+mn-ea"/>
              </a:rPr>
              <a:t>煜</a:t>
            </a:r>
          </a:p>
        </p:txBody>
      </p:sp>
      <p:sp>
        <p:nvSpPr>
          <p:cNvPr id="9" name="TextBox 8"/>
          <p:cNvSpPr txBox="1"/>
          <p:nvPr/>
        </p:nvSpPr>
        <p:spPr>
          <a:xfrm>
            <a:off x="3420000" y="4068000"/>
            <a:ext cx="5400000" cy="292388"/>
          </a:xfrm>
          <a:prstGeom prst="rect">
            <a:avLst/>
          </a:prstGeom>
          <a:noFill/>
        </p:spPr>
        <p:txBody>
          <a:bodyPr wrap="square">
            <a:spAutoFit/>
          </a:bodyPr>
          <a:lstStyle/>
          <a:p>
            <a:pPr algn="ctr">
              <a:defRPr sz="1300" b="0">
                <a:solidFill>
                  <a:srgbClr val="BBDEFB"/>
                </a:solidFill>
                <a:latin typeface="Microsoft YaHei"/>
              </a:defRPr>
            </a:pPr>
            <a:r>
              <a:rPr dirty="0" err="1"/>
              <a:t>指导教师</a:t>
            </a:r>
            <a:r>
              <a:rPr dirty="0"/>
              <a:t>：</a:t>
            </a:r>
            <a:r>
              <a:rPr lang="zh-CN" altLang="en-US" sz="1300" dirty="0">
                <a:solidFill>
                  <a:srgbClr val="BBDEFB"/>
                </a:solidFill>
                <a:latin typeface="Microsoft YaHei"/>
              </a:rPr>
              <a:t>刘鹏博</a:t>
            </a:r>
            <a:endParaRPr sz="1300" dirty="0">
              <a:solidFill>
                <a:srgbClr val="BBDEFB"/>
              </a:solidFill>
              <a:latin typeface="Microsoft YaHei"/>
            </a:endParaRPr>
          </a:p>
        </p:txBody>
      </p:sp>
      <p:sp>
        <p:nvSpPr>
          <p:cNvPr id="10" name="TextBox 9"/>
          <p:cNvSpPr txBox="1"/>
          <p:nvPr/>
        </p:nvSpPr>
        <p:spPr>
          <a:xfrm>
            <a:off x="3420000" y="4356000"/>
            <a:ext cx="5400000" cy="216000"/>
          </a:xfrm>
          <a:prstGeom prst="rect">
            <a:avLst/>
          </a:prstGeom>
          <a:noFill/>
        </p:spPr>
        <p:txBody>
          <a:bodyPr wrap="square">
            <a:spAutoFit/>
          </a:bodyPr>
          <a:lstStyle/>
          <a:p>
            <a:pPr algn="ctr">
              <a:defRPr sz="1300" b="0">
                <a:solidFill>
                  <a:srgbClr val="BBDEFB"/>
                </a:solidFill>
                <a:latin typeface="Microsoft YaHei"/>
              </a:defRPr>
            </a:pPr>
            <a:r>
              <a:t>齐鲁工业大学  机械工程学院</a:t>
            </a:r>
          </a:p>
        </p:txBody>
      </p:sp>
      <p:sp>
        <p:nvSpPr>
          <p:cNvPr id="11" name="TextBox 10"/>
          <p:cNvSpPr txBox="1"/>
          <p:nvPr/>
        </p:nvSpPr>
        <p:spPr>
          <a:xfrm>
            <a:off x="3420000" y="4860000"/>
            <a:ext cx="5400000" cy="216000"/>
          </a:xfrm>
          <a:prstGeom prst="rect">
            <a:avLst/>
          </a:prstGeom>
          <a:noFill/>
        </p:spPr>
        <p:txBody>
          <a:bodyPr wrap="square">
            <a:spAutoFit/>
          </a:bodyPr>
          <a:lstStyle/>
          <a:p>
            <a:pPr algn="ctr">
              <a:defRPr sz="1400" b="1">
                <a:solidFill>
                  <a:srgbClr val="FFFFFF"/>
                </a:solidFill>
                <a:latin typeface="Microsoft YaHei"/>
              </a:defRPr>
            </a:pPr>
            <a:r>
              <a:t>2026年6月</a:t>
            </a:r>
          </a:p>
        </p:txBody>
      </p:sp>
      <p:pic>
        <p:nvPicPr>
          <p:cNvPr id="12" name="Picture 11" descr="MainLOGO-pretty.png"/>
          <p:cNvPicPr>
            <a:picLocks noChangeAspect="1"/>
          </p:cNvPicPr>
          <p:nvPr/>
        </p:nvPicPr>
        <p:blipFill>
          <a:blip r:embed="rId3"/>
          <a:stretch>
            <a:fillRect/>
          </a:stretch>
        </p:blipFill>
        <p:spPr>
          <a:xfrm>
            <a:off x="3452812" y="306000"/>
            <a:ext cx="4974375" cy="126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8000" y="0"/>
            <a:ext cx="12204000" cy="687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20000" y="289489"/>
            <a:ext cx="3600000" cy="360000"/>
          </a:xfrm>
          <a:prstGeom prst="rect">
            <a:avLst/>
          </a:prstGeom>
          <a:noFill/>
        </p:spPr>
        <p:txBody>
          <a:bodyPr wrap="square">
            <a:spAutoFit/>
          </a:bodyPr>
          <a:lstStyle/>
          <a:p>
            <a:pPr algn="l">
              <a:defRPr sz="2800" b="1">
                <a:solidFill>
                  <a:srgbClr val="1B2A4A"/>
                </a:solidFill>
                <a:latin typeface="Microsoft YaHei"/>
              </a:defRPr>
            </a:pPr>
            <a:r>
              <a:rPr dirty="0"/>
              <a:t>目  录</a:t>
            </a:r>
          </a:p>
        </p:txBody>
      </p:sp>
      <p:sp>
        <p:nvSpPr>
          <p:cNvPr id="5" name="TextBox 4"/>
          <p:cNvSpPr txBox="1"/>
          <p:nvPr/>
        </p:nvSpPr>
        <p:spPr>
          <a:xfrm>
            <a:off x="720000" y="720000"/>
            <a:ext cx="3600000" cy="180000"/>
          </a:xfrm>
          <a:prstGeom prst="rect">
            <a:avLst/>
          </a:prstGeom>
          <a:noFill/>
        </p:spPr>
        <p:txBody>
          <a:bodyPr wrap="square">
            <a:spAutoFit/>
          </a:bodyPr>
          <a:lstStyle/>
          <a:p>
            <a:pPr algn="l">
              <a:defRPr sz="1200" b="0">
                <a:solidFill>
                  <a:srgbClr val="6B7B8D"/>
                </a:solidFill>
                <a:latin typeface="Microsoft YaHei"/>
              </a:defRPr>
            </a:pPr>
            <a:r>
              <a:t>CONTENTS</a:t>
            </a:r>
          </a:p>
        </p:txBody>
      </p:sp>
      <p:sp>
        <p:nvSpPr>
          <p:cNvPr id="6" name="Rounded Rectangle 5"/>
          <p:cNvSpPr/>
          <p:nvPr/>
        </p:nvSpPr>
        <p:spPr>
          <a:xfrm>
            <a:off x="720000" y="936000"/>
            <a:ext cx="144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0000" y="1260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0000" y="1260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0000" y="1332000"/>
            <a:ext cx="720000" cy="360000"/>
          </a:xfrm>
          <a:prstGeom prst="rect">
            <a:avLst/>
          </a:prstGeom>
          <a:noFill/>
        </p:spPr>
        <p:txBody>
          <a:bodyPr wrap="square">
            <a:spAutoFit/>
          </a:bodyPr>
          <a:lstStyle/>
          <a:p>
            <a:pPr algn="l">
              <a:defRPr sz="2600" b="1">
                <a:solidFill>
                  <a:srgbClr val="3D6CB9"/>
                </a:solidFill>
                <a:latin typeface="Microsoft YaHei"/>
              </a:defRPr>
            </a:pPr>
            <a:r>
              <a:t>01</a:t>
            </a:r>
          </a:p>
        </p:txBody>
      </p:sp>
      <p:sp>
        <p:nvSpPr>
          <p:cNvPr id="10" name="TextBox 9"/>
          <p:cNvSpPr txBox="1"/>
          <p:nvPr/>
        </p:nvSpPr>
        <p:spPr>
          <a:xfrm>
            <a:off x="2160000" y="1332000"/>
            <a:ext cx="5400000" cy="251999"/>
          </a:xfrm>
          <a:prstGeom prst="rect">
            <a:avLst/>
          </a:prstGeom>
          <a:noFill/>
        </p:spPr>
        <p:txBody>
          <a:bodyPr wrap="square">
            <a:spAutoFit/>
          </a:bodyPr>
          <a:lstStyle/>
          <a:p>
            <a:pPr algn="l">
              <a:defRPr sz="1400" b="1">
                <a:solidFill>
                  <a:srgbClr val="1B2A4A"/>
                </a:solidFill>
                <a:latin typeface="Microsoft YaHei"/>
              </a:defRPr>
            </a:pPr>
            <a:r>
              <a:t>研究背景与意义</a:t>
            </a:r>
          </a:p>
        </p:txBody>
      </p:sp>
      <p:sp>
        <p:nvSpPr>
          <p:cNvPr id="11" name="TextBox 10"/>
          <p:cNvSpPr txBox="1"/>
          <p:nvPr/>
        </p:nvSpPr>
        <p:spPr>
          <a:xfrm>
            <a:off x="2160000" y="1584000"/>
            <a:ext cx="7200000" cy="216000"/>
          </a:xfrm>
          <a:prstGeom prst="rect">
            <a:avLst/>
          </a:prstGeom>
          <a:noFill/>
        </p:spPr>
        <p:txBody>
          <a:bodyPr wrap="square">
            <a:spAutoFit/>
          </a:bodyPr>
          <a:lstStyle/>
          <a:p>
            <a:pPr algn="l">
              <a:defRPr sz="1000" b="0">
                <a:solidFill>
                  <a:srgbClr val="6B7B8D"/>
                </a:solidFill>
                <a:latin typeface="Microsoft YaHei"/>
              </a:defRPr>
            </a:pPr>
            <a:r>
              <a:t>研究现状、目标与方法</a:t>
            </a:r>
          </a:p>
        </p:txBody>
      </p:sp>
      <p:sp>
        <p:nvSpPr>
          <p:cNvPr id="12" name="Rounded Rectangle 11"/>
          <p:cNvSpPr/>
          <p:nvPr/>
        </p:nvSpPr>
        <p:spPr>
          <a:xfrm>
            <a:off x="720000" y="2015999"/>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20000" y="2015999"/>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80000" y="2088000"/>
            <a:ext cx="720000" cy="360000"/>
          </a:xfrm>
          <a:prstGeom prst="rect">
            <a:avLst/>
          </a:prstGeom>
          <a:noFill/>
        </p:spPr>
        <p:txBody>
          <a:bodyPr wrap="square">
            <a:spAutoFit/>
          </a:bodyPr>
          <a:lstStyle/>
          <a:p>
            <a:pPr algn="l">
              <a:defRPr sz="2600" b="1">
                <a:solidFill>
                  <a:srgbClr val="3D6CB9"/>
                </a:solidFill>
                <a:latin typeface="Microsoft YaHei"/>
              </a:defRPr>
            </a:pPr>
            <a:r>
              <a:t>02</a:t>
            </a:r>
          </a:p>
        </p:txBody>
      </p:sp>
      <p:sp>
        <p:nvSpPr>
          <p:cNvPr id="15" name="TextBox 14"/>
          <p:cNvSpPr txBox="1"/>
          <p:nvPr/>
        </p:nvSpPr>
        <p:spPr>
          <a:xfrm>
            <a:off x="2160000" y="2088000"/>
            <a:ext cx="5400000" cy="251999"/>
          </a:xfrm>
          <a:prstGeom prst="rect">
            <a:avLst/>
          </a:prstGeom>
          <a:noFill/>
        </p:spPr>
        <p:txBody>
          <a:bodyPr wrap="square">
            <a:spAutoFit/>
          </a:bodyPr>
          <a:lstStyle/>
          <a:p>
            <a:pPr algn="l">
              <a:defRPr sz="1400" b="1">
                <a:solidFill>
                  <a:srgbClr val="1B2A4A"/>
                </a:solidFill>
                <a:latin typeface="Microsoft YaHei"/>
              </a:defRPr>
            </a:pPr>
            <a:r>
              <a:t>机械结构设计</a:t>
            </a:r>
          </a:p>
        </p:txBody>
      </p:sp>
      <p:sp>
        <p:nvSpPr>
          <p:cNvPr id="16" name="TextBox 15"/>
          <p:cNvSpPr txBox="1"/>
          <p:nvPr/>
        </p:nvSpPr>
        <p:spPr>
          <a:xfrm>
            <a:off x="2160000" y="2340000"/>
            <a:ext cx="7200000" cy="216000"/>
          </a:xfrm>
          <a:prstGeom prst="rect">
            <a:avLst/>
          </a:prstGeom>
          <a:noFill/>
        </p:spPr>
        <p:txBody>
          <a:bodyPr wrap="square">
            <a:spAutoFit/>
          </a:bodyPr>
          <a:lstStyle/>
          <a:p>
            <a:pPr algn="l">
              <a:defRPr sz="1000" b="0">
                <a:solidFill>
                  <a:srgbClr val="6B7B8D"/>
                </a:solidFill>
                <a:latin typeface="Microsoft YaHei"/>
              </a:defRPr>
            </a:pPr>
            <a:r>
              <a:t>总装布局、升降机构、强度校核</a:t>
            </a:r>
          </a:p>
        </p:txBody>
      </p:sp>
      <p:sp>
        <p:nvSpPr>
          <p:cNvPr id="17" name="Rounded Rectangle 16"/>
          <p:cNvSpPr/>
          <p:nvPr/>
        </p:nvSpPr>
        <p:spPr>
          <a:xfrm>
            <a:off x="720000" y="2772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20000" y="2772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0000" y="2844000"/>
            <a:ext cx="720000" cy="360000"/>
          </a:xfrm>
          <a:prstGeom prst="rect">
            <a:avLst/>
          </a:prstGeom>
          <a:noFill/>
        </p:spPr>
        <p:txBody>
          <a:bodyPr wrap="square">
            <a:spAutoFit/>
          </a:bodyPr>
          <a:lstStyle/>
          <a:p>
            <a:pPr algn="l">
              <a:defRPr sz="2600" b="1">
                <a:solidFill>
                  <a:srgbClr val="3D6CB9"/>
                </a:solidFill>
                <a:latin typeface="Microsoft YaHei"/>
              </a:defRPr>
            </a:pPr>
            <a:r>
              <a:t>03</a:t>
            </a:r>
          </a:p>
        </p:txBody>
      </p:sp>
      <p:sp>
        <p:nvSpPr>
          <p:cNvPr id="20" name="TextBox 19"/>
          <p:cNvSpPr txBox="1"/>
          <p:nvPr/>
        </p:nvSpPr>
        <p:spPr>
          <a:xfrm>
            <a:off x="2160000" y="2844000"/>
            <a:ext cx="5400000" cy="251999"/>
          </a:xfrm>
          <a:prstGeom prst="rect">
            <a:avLst/>
          </a:prstGeom>
          <a:noFill/>
        </p:spPr>
        <p:txBody>
          <a:bodyPr wrap="square">
            <a:spAutoFit/>
          </a:bodyPr>
          <a:lstStyle/>
          <a:p>
            <a:pPr algn="l">
              <a:defRPr sz="1400" b="1">
                <a:solidFill>
                  <a:srgbClr val="1B2A4A"/>
                </a:solidFill>
                <a:latin typeface="Microsoft YaHei"/>
              </a:defRPr>
            </a:pPr>
            <a:r>
              <a:t>电气系统设计</a:t>
            </a:r>
          </a:p>
        </p:txBody>
      </p:sp>
      <p:sp>
        <p:nvSpPr>
          <p:cNvPr id="21" name="TextBox 20"/>
          <p:cNvSpPr txBox="1"/>
          <p:nvPr/>
        </p:nvSpPr>
        <p:spPr>
          <a:xfrm>
            <a:off x="2160000" y="3096000"/>
            <a:ext cx="7200000" cy="216000"/>
          </a:xfrm>
          <a:prstGeom prst="rect">
            <a:avLst/>
          </a:prstGeom>
          <a:noFill/>
        </p:spPr>
        <p:txBody>
          <a:bodyPr wrap="square">
            <a:spAutoFit/>
          </a:bodyPr>
          <a:lstStyle/>
          <a:p>
            <a:pPr algn="l">
              <a:defRPr sz="1000" b="0">
                <a:solidFill>
                  <a:srgbClr val="6B7B8D"/>
                </a:solidFill>
                <a:latin typeface="Microsoft YaHei"/>
              </a:defRPr>
            </a:pPr>
            <a:r>
              <a:t>主控、电机、传感器、电路</a:t>
            </a:r>
          </a:p>
        </p:txBody>
      </p:sp>
      <p:sp>
        <p:nvSpPr>
          <p:cNvPr id="22" name="Rounded Rectangle 21"/>
          <p:cNvSpPr/>
          <p:nvPr/>
        </p:nvSpPr>
        <p:spPr>
          <a:xfrm>
            <a:off x="720000" y="3528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20000" y="3528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80000" y="3600000"/>
            <a:ext cx="720000" cy="360000"/>
          </a:xfrm>
          <a:prstGeom prst="rect">
            <a:avLst/>
          </a:prstGeom>
          <a:noFill/>
        </p:spPr>
        <p:txBody>
          <a:bodyPr wrap="square">
            <a:spAutoFit/>
          </a:bodyPr>
          <a:lstStyle/>
          <a:p>
            <a:pPr algn="l">
              <a:defRPr sz="2600" b="1">
                <a:solidFill>
                  <a:srgbClr val="3D6CB9"/>
                </a:solidFill>
                <a:latin typeface="Microsoft YaHei"/>
              </a:defRPr>
            </a:pPr>
            <a:r>
              <a:t>04</a:t>
            </a:r>
          </a:p>
        </p:txBody>
      </p:sp>
      <p:sp>
        <p:nvSpPr>
          <p:cNvPr id="25" name="TextBox 24"/>
          <p:cNvSpPr txBox="1"/>
          <p:nvPr/>
        </p:nvSpPr>
        <p:spPr>
          <a:xfrm>
            <a:off x="2160000" y="3600000"/>
            <a:ext cx="5400000" cy="251999"/>
          </a:xfrm>
          <a:prstGeom prst="rect">
            <a:avLst/>
          </a:prstGeom>
          <a:noFill/>
        </p:spPr>
        <p:txBody>
          <a:bodyPr wrap="square">
            <a:spAutoFit/>
          </a:bodyPr>
          <a:lstStyle/>
          <a:p>
            <a:pPr algn="l">
              <a:defRPr sz="1400" b="1">
                <a:solidFill>
                  <a:srgbClr val="1B2A4A"/>
                </a:solidFill>
                <a:latin typeface="Microsoft YaHei"/>
              </a:defRPr>
            </a:pPr>
            <a:r>
              <a:t>运动学建模与仿真</a:t>
            </a:r>
          </a:p>
        </p:txBody>
      </p:sp>
      <p:sp>
        <p:nvSpPr>
          <p:cNvPr id="26" name="TextBox 25"/>
          <p:cNvSpPr txBox="1"/>
          <p:nvPr/>
        </p:nvSpPr>
        <p:spPr>
          <a:xfrm>
            <a:off x="2160000" y="3852000"/>
            <a:ext cx="7200000" cy="216000"/>
          </a:xfrm>
          <a:prstGeom prst="rect">
            <a:avLst/>
          </a:prstGeom>
          <a:noFill/>
        </p:spPr>
        <p:txBody>
          <a:bodyPr wrap="square">
            <a:spAutoFit/>
          </a:bodyPr>
          <a:lstStyle/>
          <a:p>
            <a:pPr algn="l">
              <a:defRPr sz="1000" b="0">
                <a:solidFill>
                  <a:srgbClr val="6B7B8D"/>
                </a:solidFill>
                <a:latin typeface="Microsoft YaHei"/>
              </a:defRPr>
            </a:pPr>
            <a:r>
              <a:t>差速模型、四类轨迹验证</a:t>
            </a:r>
          </a:p>
        </p:txBody>
      </p:sp>
      <p:sp>
        <p:nvSpPr>
          <p:cNvPr id="27" name="Rounded Rectangle 26"/>
          <p:cNvSpPr/>
          <p:nvPr/>
        </p:nvSpPr>
        <p:spPr>
          <a:xfrm>
            <a:off x="720000" y="4284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0000" y="4284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80000" y="4356000"/>
            <a:ext cx="720000" cy="360000"/>
          </a:xfrm>
          <a:prstGeom prst="rect">
            <a:avLst/>
          </a:prstGeom>
          <a:noFill/>
        </p:spPr>
        <p:txBody>
          <a:bodyPr wrap="square">
            <a:spAutoFit/>
          </a:bodyPr>
          <a:lstStyle/>
          <a:p>
            <a:pPr algn="l">
              <a:defRPr sz="2600" b="1">
                <a:solidFill>
                  <a:srgbClr val="3D6CB9"/>
                </a:solidFill>
                <a:latin typeface="Microsoft YaHei"/>
              </a:defRPr>
            </a:pPr>
            <a:r>
              <a:t>05</a:t>
            </a:r>
          </a:p>
        </p:txBody>
      </p:sp>
      <p:sp>
        <p:nvSpPr>
          <p:cNvPr id="30" name="TextBox 29"/>
          <p:cNvSpPr txBox="1"/>
          <p:nvPr/>
        </p:nvSpPr>
        <p:spPr>
          <a:xfrm>
            <a:off x="2160000" y="4356000"/>
            <a:ext cx="5400000" cy="251999"/>
          </a:xfrm>
          <a:prstGeom prst="rect">
            <a:avLst/>
          </a:prstGeom>
          <a:noFill/>
        </p:spPr>
        <p:txBody>
          <a:bodyPr wrap="square">
            <a:spAutoFit/>
          </a:bodyPr>
          <a:lstStyle/>
          <a:p>
            <a:pPr algn="l">
              <a:defRPr sz="1400" b="1">
                <a:solidFill>
                  <a:srgbClr val="1B2A4A"/>
                </a:solidFill>
                <a:latin typeface="Microsoft YaHei"/>
              </a:defRPr>
            </a:pPr>
            <a:r>
              <a:t>路径规划与循迹</a:t>
            </a:r>
          </a:p>
        </p:txBody>
      </p:sp>
      <p:sp>
        <p:nvSpPr>
          <p:cNvPr id="31" name="TextBox 30"/>
          <p:cNvSpPr txBox="1"/>
          <p:nvPr/>
        </p:nvSpPr>
        <p:spPr>
          <a:xfrm>
            <a:off x="2160000" y="4608000"/>
            <a:ext cx="7200000" cy="216000"/>
          </a:xfrm>
          <a:prstGeom prst="rect">
            <a:avLst/>
          </a:prstGeom>
          <a:noFill/>
        </p:spPr>
        <p:txBody>
          <a:bodyPr wrap="square">
            <a:spAutoFit/>
          </a:bodyPr>
          <a:lstStyle/>
          <a:p>
            <a:pPr algn="l">
              <a:defRPr sz="1000" b="0">
                <a:solidFill>
                  <a:srgbClr val="6B7B8D"/>
                </a:solidFill>
                <a:latin typeface="Microsoft YaHei"/>
              </a:defRPr>
            </a:pPr>
            <a:r>
              <a:t>Hybrid A* + PID红外循迹</a:t>
            </a:r>
          </a:p>
        </p:txBody>
      </p:sp>
      <p:sp>
        <p:nvSpPr>
          <p:cNvPr id="32" name="Rounded Rectangle 31"/>
          <p:cNvSpPr/>
          <p:nvPr/>
        </p:nvSpPr>
        <p:spPr>
          <a:xfrm>
            <a:off x="720000" y="5040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20000" y="5040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80000" y="5112000"/>
            <a:ext cx="720000" cy="360000"/>
          </a:xfrm>
          <a:prstGeom prst="rect">
            <a:avLst/>
          </a:prstGeom>
          <a:noFill/>
        </p:spPr>
        <p:txBody>
          <a:bodyPr wrap="square">
            <a:spAutoFit/>
          </a:bodyPr>
          <a:lstStyle/>
          <a:p>
            <a:pPr algn="l">
              <a:defRPr sz="2600" b="1">
                <a:solidFill>
                  <a:srgbClr val="3D6CB9"/>
                </a:solidFill>
                <a:latin typeface="Microsoft YaHei"/>
              </a:defRPr>
            </a:pPr>
            <a:r>
              <a:t>06</a:t>
            </a:r>
          </a:p>
        </p:txBody>
      </p:sp>
      <p:sp>
        <p:nvSpPr>
          <p:cNvPr id="35" name="TextBox 34"/>
          <p:cNvSpPr txBox="1"/>
          <p:nvPr/>
        </p:nvSpPr>
        <p:spPr>
          <a:xfrm>
            <a:off x="2160000" y="5112000"/>
            <a:ext cx="5400000" cy="251999"/>
          </a:xfrm>
          <a:prstGeom prst="rect">
            <a:avLst/>
          </a:prstGeom>
          <a:noFill/>
        </p:spPr>
        <p:txBody>
          <a:bodyPr wrap="square">
            <a:spAutoFit/>
          </a:bodyPr>
          <a:lstStyle/>
          <a:p>
            <a:pPr algn="l">
              <a:defRPr sz="1400" b="1">
                <a:solidFill>
                  <a:srgbClr val="1B2A4A"/>
                </a:solidFill>
                <a:latin typeface="Microsoft YaHei"/>
              </a:defRPr>
            </a:pPr>
            <a:r>
              <a:t>运动基元与算法</a:t>
            </a:r>
          </a:p>
        </p:txBody>
      </p:sp>
      <p:sp>
        <p:nvSpPr>
          <p:cNvPr id="36" name="TextBox 35"/>
          <p:cNvSpPr txBox="1"/>
          <p:nvPr/>
        </p:nvSpPr>
        <p:spPr>
          <a:xfrm>
            <a:off x="2160000" y="5364000"/>
            <a:ext cx="7200000" cy="216000"/>
          </a:xfrm>
          <a:prstGeom prst="rect">
            <a:avLst/>
          </a:prstGeom>
          <a:noFill/>
        </p:spPr>
        <p:txBody>
          <a:bodyPr wrap="square">
            <a:spAutoFit/>
          </a:bodyPr>
          <a:lstStyle/>
          <a:p>
            <a:pPr algn="l">
              <a:defRPr sz="1000" b="0">
                <a:solidFill>
                  <a:srgbClr val="6B7B8D"/>
                </a:solidFill>
                <a:latin typeface="Microsoft YaHei"/>
              </a:defRPr>
            </a:pPr>
            <a:r>
              <a:t>5种曲率基元、算法流程</a:t>
            </a:r>
          </a:p>
        </p:txBody>
      </p:sp>
      <p:sp>
        <p:nvSpPr>
          <p:cNvPr id="37" name="Rounded Rectangle 36"/>
          <p:cNvSpPr/>
          <p:nvPr/>
        </p:nvSpPr>
        <p:spPr>
          <a:xfrm>
            <a:off x="720000" y="5796000"/>
            <a:ext cx="10800000" cy="648000"/>
          </a:xfrm>
          <a:prstGeom prst="roundRect">
            <a:avLst/>
          </a:prstGeom>
          <a:solidFill>
            <a:srgbClr val="F5F7FA"/>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20000" y="5796000"/>
            <a:ext cx="43200" cy="648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80000" y="5868000"/>
            <a:ext cx="720000" cy="360000"/>
          </a:xfrm>
          <a:prstGeom prst="rect">
            <a:avLst/>
          </a:prstGeom>
          <a:noFill/>
        </p:spPr>
        <p:txBody>
          <a:bodyPr wrap="square">
            <a:spAutoFit/>
          </a:bodyPr>
          <a:lstStyle/>
          <a:p>
            <a:pPr algn="l">
              <a:defRPr sz="2600" b="1">
                <a:solidFill>
                  <a:srgbClr val="3D6CB9"/>
                </a:solidFill>
                <a:latin typeface="Microsoft YaHei"/>
              </a:defRPr>
            </a:pPr>
            <a:r>
              <a:t>07</a:t>
            </a:r>
          </a:p>
        </p:txBody>
      </p:sp>
      <p:sp>
        <p:nvSpPr>
          <p:cNvPr id="40" name="TextBox 39"/>
          <p:cNvSpPr txBox="1"/>
          <p:nvPr/>
        </p:nvSpPr>
        <p:spPr>
          <a:xfrm>
            <a:off x="2160000" y="5868000"/>
            <a:ext cx="5400000" cy="251999"/>
          </a:xfrm>
          <a:prstGeom prst="rect">
            <a:avLst/>
          </a:prstGeom>
          <a:noFill/>
        </p:spPr>
        <p:txBody>
          <a:bodyPr wrap="square">
            <a:spAutoFit/>
          </a:bodyPr>
          <a:lstStyle/>
          <a:p>
            <a:pPr algn="l">
              <a:defRPr sz="1400" b="1">
                <a:solidFill>
                  <a:srgbClr val="1B2A4A"/>
                </a:solidFill>
                <a:latin typeface="Microsoft YaHei"/>
              </a:defRPr>
            </a:pPr>
            <a:r>
              <a:t>双环PID控制</a:t>
            </a:r>
          </a:p>
        </p:txBody>
      </p:sp>
      <p:sp>
        <p:nvSpPr>
          <p:cNvPr id="41" name="TextBox 40"/>
          <p:cNvSpPr txBox="1"/>
          <p:nvPr/>
        </p:nvSpPr>
        <p:spPr>
          <a:xfrm>
            <a:off x="2160000" y="6120000"/>
            <a:ext cx="7200000" cy="216000"/>
          </a:xfrm>
          <a:prstGeom prst="rect">
            <a:avLst/>
          </a:prstGeom>
          <a:noFill/>
        </p:spPr>
        <p:txBody>
          <a:bodyPr wrap="square">
            <a:spAutoFit/>
          </a:bodyPr>
          <a:lstStyle/>
          <a:p>
            <a:pPr algn="l">
              <a:defRPr sz="1000" b="0">
                <a:solidFill>
                  <a:srgbClr val="6B7B8D"/>
                </a:solidFill>
                <a:latin typeface="Microsoft YaHei"/>
              </a:defRPr>
            </a:pPr>
            <a:r>
              <a:t>级联结构、四项仿真验证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01</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t>研究背景与意义</a:t>
            </a:r>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1/9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sp>
        <p:nvSpPr>
          <p:cNvPr id="9" name="Rounded Rectangle 8"/>
          <p:cNvSpPr/>
          <p:nvPr/>
        </p:nvSpPr>
        <p:spPr>
          <a:xfrm>
            <a:off x="360000" y="880809"/>
            <a:ext cx="5580000" cy="234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1188000"/>
            <a:ext cx="5220000" cy="180000"/>
          </a:xfrm>
          <a:prstGeom prst="rect">
            <a:avLst/>
          </a:prstGeom>
          <a:noFill/>
        </p:spPr>
        <p:txBody>
          <a:bodyPr wrap="square">
            <a:spAutoFit/>
          </a:bodyPr>
          <a:lstStyle/>
          <a:p>
            <a:pPr algn="l">
              <a:defRPr sz="1300" b="1">
                <a:solidFill>
                  <a:srgbClr val="1B2A4A"/>
                </a:solidFill>
                <a:latin typeface="Microsoft YaHei"/>
              </a:defRPr>
            </a:pPr>
            <a:r>
              <a:t>研究背景</a:t>
            </a:r>
          </a:p>
        </p:txBody>
      </p:sp>
      <p:sp>
        <p:nvSpPr>
          <p:cNvPr id="11" name="TextBox 10"/>
          <p:cNvSpPr txBox="1"/>
          <p:nvPr/>
        </p:nvSpPr>
        <p:spPr>
          <a:xfrm>
            <a:off x="540000" y="1404000"/>
            <a:ext cx="5220000" cy="1800000"/>
          </a:xfrm>
          <a:prstGeom prst="rect">
            <a:avLst/>
          </a:prstGeom>
          <a:noFill/>
        </p:spPr>
        <p:txBody>
          <a:bodyPr wrap="square">
            <a:spAutoFit/>
          </a:bodyPr>
          <a:lstStyle/>
          <a:p>
            <a:pPr algn="l">
              <a:defRPr sz="1000" b="0">
                <a:solidFill>
                  <a:srgbClr val="6B7B8D"/>
                </a:solidFill>
                <a:latin typeface="Microsoft YaHei"/>
              </a:defRPr>
            </a:pPr>
            <a:r>
              <a:t>2024年网络零售额15.5万亿元，连续12年全球最大网络零售市场。电商规模持续扩大，仓储物流成为效率瓶颈。</a:t>
            </a:r>
            <a:br/>
            <a:br/>
            <a:r>
              <a:t>AMR凭借激光SLAM、视觉感知和自主决策能力，成为智能仓储核心装备。AGV行业规模从48.27亿升至95.49亿元，AMR市场突破60亿元，年增长率超30%。</a:t>
            </a:r>
          </a:p>
        </p:txBody>
      </p:sp>
      <p:pic>
        <p:nvPicPr>
          <p:cNvPr id="13" name="Picture 12" descr="kuaidi1.png"/>
          <p:cNvPicPr>
            <a:picLocks noChangeAspect="1"/>
          </p:cNvPicPr>
          <p:nvPr/>
        </p:nvPicPr>
        <p:blipFill>
          <a:blip r:embed="rId3"/>
          <a:stretch>
            <a:fillRect/>
          </a:stretch>
        </p:blipFill>
        <p:spPr>
          <a:xfrm>
            <a:off x="6636890" y="383825"/>
            <a:ext cx="4312464" cy="2576580"/>
          </a:xfrm>
          <a:prstGeom prst="rect">
            <a:avLst/>
          </a:prstGeom>
        </p:spPr>
      </p:pic>
      <p:sp>
        <p:nvSpPr>
          <p:cNvPr id="14" name="TextBox 13"/>
          <p:cNvSpPr txBox="1"/>
          <p:nvPr/>
        </p:nvSpPr>
        <p:spPr>
          <a:xfrm>
            <a:off x="6183122" y="2939400"/>
            <a:ext cx="5220000" cy="144000"/>
          </a:xfrm>
          <a:prstGeom prst="rect">
            <a:avLst/>
          </a:prstGeom>
          <a:noFill/>
        </p:spPr>
        <p:txBody>
          <a:bodyPr wrap="square">
            <a:spAutoFit/>
          </a:bodyPr>
          <a:lstStyle/>
          <a:p>
            <a:pPr algn="ctr">
              <a:defRPr sz="800" b="0">
                <a:solidFill>
                  <a:srgbClr val="6B7B8D"/>
                </a:solidFill>
                <a:latin typeface="Microsoft YaHei"/>
              </a:defRPr>
            </a:pPr>
            <a:r>
              <a:rPr dirty="0"/>
              <a:t>2020-2024年快递数据</a:t>
            </a:r>
          </a:p>
        </p:txBody>
      </p:sp>
      <p:sp>
        <p:nvSpPr>
          <p:cNvPr id="15" name="Rounded Rectangle 14"/>
          <p:cNvSpPr/>
          <p:nvPr/>
        </p:nvSpPr>
        <p:spPr>
          <a:xfrm>
            <a:off x="360000" y="3600000"/>
            <a:ext cx="3600000" cy="216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AGV.png"/>
          <p:cNvPicPr>
            <a:picLocks noChangeAspect="1"/>
          </p:cNvPicPr>
          <p:nvPr/>
        </p:nvPicPr>
        <p:blipFill>
          <a:blip r:embed="rId4"/>
          <a:stretch>
            <a:fillRect/>
          </a:stretch>
        </p:blipFill>
        <p:spPr>
          <a:xfrm>
            <a:off x="945636" y="3708000"/>
            <a:ext cx="2296216" cy="1440000"/>
          </a:xfrm>
          <a:prstGeom prst="rect">
            <a:avLst/>
          </a:prstGeom>
        </p:spPr>
      </p:pic>
      <p:sp>
        <p:nvSpPr>
          <p:cNvPr id="17" name="TextBox 16"/>
          <p:cNvSpPr txBox="1"/>
          <p:nvPr/>
        </p:nvSpPr>
        <p:spPr>
          <a:xfrm>
            <a:off x="540000" y="5328000"/>
            <a:ext cx="3240000" cy="144000"/>
          </a:xfrm>
          <a:prstGeom prst="rect">
            <a:avLst/>
          </a:prstGeom>
          <a:noFill/>
        </p:spPr>
        <p:txBody>
          <a:bodyPr wrap="square">
            <a:spAutoFit/>
          </a:bodyPr>
          <a:lstStyle/>
          <a:p>
            <a:pPr algn="ctr">
              <a:defRPr sz="800" b="0">
                <a:solidFill>
                  <a:srgbClr val="6B7B8D"/>
                </a:solidFill>
                <a:latin typeface="Microsoft YaHei"/>
              </a:defRPr>
            </a:pPr>
            <a:r>
              <a:t>AGV工作示意图</a:t>
            </a:r>
          </a:p>
        </p:txBody>
      </p:sp>
      <p:sp>
        <p:nvSpPr>
          <p:cNvPr id="18" name="Rounded Rectangle 17"/>
          <p:cNvSpPr/>
          <p:nvPr/>
        </p:nvSpPr>
        <p:spPr>
          <a:xfrm>
            <a:off x="4140000" y="3600000"/>
            <a:ext cx="3780000" cy="2160000"/>
          </a:xfrm>
          <a:prstGeom prst="roundRect">
            <a:avLst/>
          </a:prstGeom>
          <a:solidFill>
            <a:srgbClr val="E8F5E9"/>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20000" y="3708000"/>
            <a:ext cx="3420000" cy="180000"/>
          </a:xfrm>
          <a:prstGeom prst="rect">
            <a:avLst/>
          </a:prstGeom>
          <a:noFill/>
        </p:spPr>
        <p:txBody>
          <a:bodyPr wrap="square">
            <a:spAutoFit/>
          </a:bodyPr>
          <a:lstStyle/>
          <a:p>
            <a:pPr algn="l">
              <a:defRPr sz="1200" b="1">
                <a:solidFill>
                  <a:srgbClr val="2E7D32"/>
                </a:solidFill>
                <a:latin typeface="Microsoft YaHei"/>
              </a:defRPr>
            </a:pPr>
            <a:r>
              <a:t>研究目标</a:t>
            </a:r>
          </a:p>
        </p:txBody>
      </p:sp>
      <p:sp>
        <p:nvSpPr>
          <p:cNvPr id="20" name="TextBox 19"/>
          <p:cNvSpPr txBox="1"/>
          <p:nvPr/>
        </p:nvSpPr>
        <p:spPr>
          <a:xfrm>
            <a:off x="4320000" y="3960000"/>
            <a:ext cx="3420000" cy="180000"/>
          </a:xfrm>
          <a:prstGeom prst="rect">
            <a:avLst/>
          </a:prstGeom>
          <a:noFill/>
        </p:spPr>
        <p:txBody>
          <a:bodyPr wrap="square">
            <a:spAutoFit/>
          </a:bodyPr>
          <a:lstStyle/>
          <a:p>
            <a:pPr algn="l">
              <a:defRPr sz="900" b="0">
                <a:solidFill>
                  <a:srgbClr val="2E7D32"/>
                </a:solidFill>
                <a:latin typeface="Microsoft YaHei"/>
              </a:defRPr>
            </a:pPr>
            <a:r>
              <a:t>① 自主沿规划路径行驶</a:t>
            </a:r>
          </a:p>
        </p:txBody>
      </p:sp>
      <p:sp>
        <p:nvSpPr>
          <p:cNvPr id="21" name="TextBox 20"/>
          <p:cNvSpPr txBox="1"/>
          <p:nvPr/>
        </p:nvSpPr>
        <p:spPr>
          <a:xfrm>
            <a:off x="4320000" y="4158000"/>
            <a:ext cx="3420000" cy="180000"/>
          </a:xfrm>
          <a:prstGeom prst="rect">
            <a:avLst/>
          </a:prstGeom>
          <a:noFill/>
        </p:spPr>
        <p:txBody>
          <a:bodyPr wrap="square">
            <a:spAutoFit/>
          </a:bodyPr>
          <a:lstStyle/>
          <a:p>
            <a:pPr algn="l">
              <a:defRPr sz="900" b="0">
                <a:solidFill>
                  <a:srgbClr val="2E7D32"/>
                </a:solidFill>
                <a:latin typeface="Microsoft YaHei"/>
              </a:defRPr>
            </a:pPr>
            <a:r>
              <a:t>② 载物台升降 ≥0.4m</a:t>
            </a:r>
          </a:p>
        </p:txBody>
      </p:sp>
      <p:sp>
        <p:nvSpPr>
          <p:cNvPr id="22" name="TextBox 21"/>
          <p:cNvSpPr txBox="1"/>
          <p:nvPr/>
        </p:nvSpPr>
        <p:spPr>
          <a:xfrm>
            <a:off x="4320000" y="4356000"/>
            <a:ext cx="3420000" cy="180000"/>
          </a:xfrm>
          <a:prstGeom prst="rect">
            <a:avLst/>
          </a:prstGeom>
          <a:noFill/>
        </p:spPr>
        <p:txBody>
          <a:bodyPr wrap="square">
            <a:spAutoFit/>
          </a:bodyPr>
          <a:lstStyle/>
          <a:p>
            <a:pPr algn="l">
              <a:defRPr sz="900" b="0">
                <a:solidFill>
                  <a:srgbClr val="2E7D32"/>
                </a:solidFill>
                <a:latin typeface="Microsoft YaHei"/>
              </a:defRPr>
            </a:pPr>
            <a:r>
              <a:t>③ 障碍物检测与避障</a:t>
            </a:r>
          </a:p>
        </p:txBody>
      </p:sp>
      <p:sp>
        <p:nvSpPr>
          <p:cNvPr id="23" name="TextBox 22"/>
          <p:cNvSpPr txBox="1"/>
          <p:nvPr/>
        </p:nvSpPr>
        <p:spPr>
          <a:xfrm>
            <a:off x="4320000" y="4554000"/>
            <a:ext cx="3420000" cy="180000"/>
          </a:xfrm>
          <a:prstGeom prst="rect">
            <a:avLst/>
          </a:prstGeom>
          <a:noFill/>
        </p:spPr>
        <p:txBody>
          <a:bodyPr wrap="square">
            <a:spAutoFit/>
          </a:bodyPr>
          <a:lstStyle/>
          <a:p>
            <a:pPr algn="l">
              <a:defRPr sz="900" b="0">
                <a:solidFill>
                  <a:srgbClr val="2E7D32"/>
                </a:solidFill>
                <a:latin typeface="Microsoft YaHei"/>
              </a:defRPr>
            </a:pPr>
            <a:r>
              <a:t>④ 紧凑外形，灵活通行</a:t>
            </a:r>
          </a:p>
        </p:txBody>
      </p:sp>
      <p:sp>
        <p:nvSpPr>
          <p:cNvPr id="24" name="TextBox 23"/>
          <p:cNvSpPr txBox="1"/>
          <p:nvPr/>
        </p:nvSpPr>
        <p:spPr>
          <a:xfrm>
            <a:off x="4320000" y="4752000"/>
            <a:ext cx="3420000" cy="180000"/>
          </a:xfrm>
          <a:prstGeom prst="rect">
            <a:avLst/>
          </a:prstGeom>
          <a:noFill/>
        </p:spPr>
        <p:txBody>
          <a:bodyPr wrap="square">
            <a:spAutoFit/>
          </a:bodyPr>
          <a:lstStyle/>
          <a:p>
            <a:pPr algn="l">
              <a:defRPr sz="900" b="0">
                <a:solidFill>
                  <a:srgbClr val="2E7D32"/>
                </a:solidFill>
                <a:latin typeface="Microsoft YaHei"/>
              </a:defRPr>
            </a:pPr>
            <a:r>
              <a:t>⑤ 结构简洁、成本可控</a:t>
            </a:r>
          </a:p>
        </p:txBody>
      </p:sp>
      <p:sp>
        <p:nvSpPr>
          <p:cNvPr id="25" name="Rounded Rectangle 24"/>
          <p:cNvSpPr/>
          <p:nvPr/>
        </p:nvSpPr>
        <p:spPr>
          <a:xfrm>
            <a:off x="8100000" y="3600000"/>
            <a:ext cx="3600000" cy="216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80000" y="3708000"/>
            <a:ext cx="3240000" cy="180000"/>
          </a:xfrm>
          <a:prstGeom prst="rect">
            <a:avLst/>
          </a:prstGeom>
          <a:noFill/>
        </p:spPr>
        <p:txBody>
          <a:bodyPr wrap="square">
            <a:spAutoFit/>
          </a:bodyPr>
          <a:lstStyle/>
          <a:p>
            <a:pPr algn="l">
              <a:defRPr sz="1200" b="1">
                <a:solidFill>
                  <a:srgbClr val="1B2A4A"/>
                </a:solidFill>
                <a:latin typeface="Microsoft YaHei"/>
              </a:defRPr>
            </a:pPr>
            <a:r>
              <a:t>关键指标</a:t>
            </a:r>
          </a:p>
        </p:txBody>
      </p:sp>
      <p:sp>
        <p:nvSpPr>
          <p:cNvPr id="27" name="TextBox 26"/>
          <p:cNvSpPr txBox="1"/>
          <p:nvPr/>
        </p:nvSpPr>
        <p:spPr>
          <a:xfrm>
            <a:off x="8280000" y="3960000"/>
            <a:ext cx="1440000" cy="144000"/>
          </a:xfrm>
          <a:prstGeom prst="rect">
            <a:avLst/>
          </a:prstGeom>
          <a:noFill/>
        </p:spPr>
        <p:txBody>
          <a:bodyPr wrap="square">
            <a:spAutoFit/>
          </a:bodyPr>
          <a:lstStyle/>
          <a:p>
            <a:pPr algn="l">
              <a:defRPr sz="900" b="0">
                <a:solidFill>
                  <a:srgbClr val="6B7B8D"/>
                </a:solidFill>
                <a:latin typeface="Microsoft YaHei"/>
              </a:defRPr>
            </a:pPr>
            <a:r>
              <a:t>额定载重</a:t>
            </a:r>
          </a:p>
        </p:txBody>
      </p:sp>
      <p:sp>
        <p:nvSpPr>
          <p:cNvPr id="28" name="TextBox 27"/>
          <p:cNvSpPr txBox="1"/>
          <p:nvPr/>
        </p:nvSpPr>
        <p:spPr>
          <a:xfrm>
            <a:off x="8280000" y="4104000"/>
            <a:ext cx="3240000" cy="251999"/>
          </a:xfrm>
          <a:prstGeom prst="rect">
            <a:avLst/>
          </a:prstGeom>
          <a:noFill/>
        </p:spPr>
        <p:txBody>
          <a:bodyPr wrap="square">
            <a:spAutoFit/>
          </a:bodyPr>
          <a:lstStyle/>
          <a:p>
            <a:pPr algn="l">
              <a:defRPr sz="1800" b="1">
                <a:solidFill>
                  <a:srgbClr val="3D6CB9"/>
                </a:solidFill>
                <a:latin typeface="Microsoft YaHei"/>
              </a:defRPr>
            </a:pPr>
            <a:r>
              <a:t>50 kg</a:t>
            </a:r>
          </a:p>
        </p:txBody>
      </p:sp>
      <p:sp>
        <p:nvSpPr>
          <p:cNvPr id="29" name="TextBox 28"/>
          <p:cNvSpPr txBox="1"/>
          <p:nvPr/>
        </p:nvSpPr>
        <p:spPr>
          <a:xfrm>
            <a:off x="8280000" y="4500000"/>
            <a:ext cx="1440000" cy="144000"/>
          </a:xfrm>
          <a:prstGeom prst="rect">
            <a:avLst/>
          </a:prstGeom>
          <a:noFill/>
        </p:spPr>
        <p:txBody>
          <a:bodyPr wrap="square">
            <a:spAutoFit/>
          </a:bodyPr>
          <a:lstStyle/>
          <a:p>
            <a:pPr algn="l">
              <a:defRPr sz="900" b="0">
                <a:solidFill>
                  <a:srgbClr val="6B7B8D"/>
                </a:solidFill>
                <a:latin typeface="Microsoft YaHei"/>
              </a:defRPr>
            </a:pPr>
            <a:r>
              <a:t>升降行程</a:t>
            </a:r>
          </a:p>
        </p:txBody>
      </p:sp>
      <p:sp>
        <p:nvSpPr>
          <p:cNvPr id="30" name="TextBox 29"/>
          <p:cNvSpPr txBox="1"/>
          <p:nvPr/>
        </p:nvSpPr>
        <p:spPr>
          <a:xfrm>
            <a:off x="8280000" y="4644000"/>
            <a:ext cx="3240000" cy="251999"/>
          </a:xfrm>
          <a:prstGeom prst="rect">
            <a:avLst/>
          </a:prstGeom>
          <a:noFill/>
        </p:spPr>
        <p:txBody>
          <a:bodyPr wrap="square">
            <a:spAutoFit/>
          </a:bodyPr>
          <a:lstStyle/>
          <a:p>
            <a:pPr algn="l">
              <a:defRPr sz="1800" b="1">
                <a:solidFill>
                  <a:srgbClr val="3D6CB9"/>
                </a:solidFill>
                <a:latin typeface="Microsoft YaHei"/>
              </a:defRPr>
            </a:pPr>
            <a:r>
              <a:t>0.4 m</a:t>
            </a:r>
          </a:p>
        </p:txBody>
      </p:sp>
      <p:sp>
        <p:nvSpPr>
          <p:cNvPr id="31" name="TextBox 30"/>
          <p:cNvSpPr txBox="1"/>
          <p:nvPr/>
        </p:nvSpPr>
        <p:spPr>
          <a:xfrm>
            <a:off x="8280000" y="5040000"/>
            <a:ext cx="1440000" cy="144000"/>
          </a:xfrm>
          <a:prstGeom prst="rect">
            <a:avLst/>
          </a:prstGeom>
          <a:noFill/>
        </p:spPr>
        <p:txBody>
          <a:bodyPr wrap="square">
            <a:spAutoFit/>
          </a:bodyPr>
          <a:lstStyle/>
          <a:p>
            <a:pPr algn="l">
              <a:defRPr sz="900" b="0">
                <a:solidFill>
                  <a:srgbClr val="6B7B8D"/>
                </a:solidFill>
                <a:latin typeface="Microsoft YaHei"/>
              </a:defRPr>
            </a:pPr>
            <a:r>
              <a:t>最大速度</a:t>
            </a:r>
          </a:p>
        </p:txBody>
      </p:sp>
      <p:sp>
        <p:nvSpPr>
          <p:cNvPr id="32" name="TextBox 31"/>
          <p:cNvSpPr txBox="1"/>
          <p:nvPr/>
        </p:nvSpPr>
        <p:spPr>
          <a:xfrm>
            <a:off x="8280000" y="5184000"/>
            <a:ext cx="3240000" cy="251999"/>
          </a:xfrm>
          <a:prstGeom prst="rect">
            <a:avLst/>
          </a:prstGeom>
          <a:noFill/>
        </p:spPr>
        <p:txBody>
          <a:bodyPr wrap="square">
            <a:spAutoFit/>
          </a:bodyPr>
          <a:lstStyle/>
          <a:p>
            <a:pPr algn="l">
              <a:defRPr sz="1800" b="1">
                <a:solidFill>
                  <a:srgbClr val="3D6CB9"/>
                </a:solidFill>
                <a:latin typeface="Microsoft YaHei"/>
              </a:defRPr>
            </a:pPr>
            <a:r>
              <a:t>30 m/min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02</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t>机械结构设计</a:t>
            </a:r>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2/9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pic>
        <p:nvPicPr>
          <p:cNvPr id="10" name="Picture 9" descr="机械总装.png"/>
          <p:cNvPicPr>
            <a:picLocks noChangeAspect="1"/>
          </p:cNvPicPr>
          <p:nvPr/>
        </p:nvPicPr>
        <p:blipFill>
          <a:blip r:embed="rId3"/>
          <a:stretch>
            <a:fillRect/>
          </a:stretch>
        </p:blipFill>
        <p:spPr>
          <a:xfrm>
            <a:off x="540000" y="1188000"/>
            <a:ext cx="3240000" cy="2015498"/>
          </a:xfrm>
          <a:prstGeom prst="rect">
            <a:avLst/>
          </a:prstGeom>
        </p:spPr>
      </p:pic>
      <p:sp>
        <p:nvSpPr>
          <p:cNvPr id="11" name="TextBox 10"/>
          <p:cNvSpPr txBox="1"/>
          <p:nvPr/>
        </p:nvSpPr>
        <p:spPr>
          <a:xfrm>
            <a:off x="484999" y="3240396"/>
            <a:ext cx="3240000" cy="144000"/>
          </a:xfrm>
          <a:prstGeom prst="rect">
            <a:avLst/>
          </a:prstGeom>
          <a:noFill/>
        </p:spPr>
        <p:txBody>
          <a:bodyPr wrap="square">
            <a:spAutoFit/>
          </a:bodyPr>
          <a:lstStyle/>
          <a:p>
            <a:pPr algn="ctr">
              <a:defRPr sz="800" b="0">
                <a:solidFill>
                  <a:srgbClr val="6B7B8D"/>
                </a:solidFill>
                <a:latin typeface="Microsoft YaHei"/>
              </a:defRPr>
            </a:pPr>
            <a:r>
              <a:rPr dirty="0" err="1"/>
              <a:t>总体结构示意图</a:t>
            </a:r>
            <a:endParaRPr dirty="0"/>
          </a:p>
        </p:txBody>
      </p:sp>
      <p:sp>
        <p:nvSpPr>
          <p:cNvPr id="12" name="Rounded Rectangle 11"/>
          <p:cNvSpPr/>
          <p:nvPr/>
        </p:nvSpPr>
        <p:spPr>
          <a:xfrm>
            <a:off x="4140000" y="1080000"/>
            <a:ext cx="3600000" cy="18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hengjiangtai.png"/>
          <p:cNvPicPr>
            <a:picLocks noChangeAspect="1"/>
          </p:cNvPicPr>
          <p:nvPr/>
        </p:nvPicPr>
        <p:blipFill>
          <a:blip r:embed="rId4"/>
          <a:stretch>
            <a:fillRect/>
          </a:stretch>
        </p:blipFill>
        <p:spPr>
          <a:xfrm>
            <a:off x="4860000" y="1170000"/>
            <a:ext cx="1952784" cy="1260000"/>
          </a:xfrm>
          <a:prstGeom prst="rect">
            <a:avLst/>
          </a:prstGeom>
        </p:spPr>
      </p:pic>
      <p:sp>
        <p:nvSpPr>
          <p:cNvPr id="14" name="TextBox 13"/>
          <p:cNvSpPr txBox="1"/>
          <p:nvPr/>
        </p:nvSpPr>
        <p:spPr>
          <a:xfrm>
            <a:off x="4320000" y="2520000"/>
            <a:ext cx="3240000" cy="144000"/>
          </a:xfrm>
          <a:prstGeom prst="rect">
            <a:avLst/>
          </a:prstGeom>
          <a:noFill/>
        </p:spPr>
        <p:txBody>
          <a:bodyPr wrap="square">
            <a:spAutoFit/>
          </a:bodyPr>
          <a:lstStyle/>
          <a:p>
            <a:pPr algn="ctr">
              <a:defRPr sz="800" b="0">
                <a:solidFill>
                  <a:srgbClr val="6B7B8D"/>
                </a:solidFill>
                <a:latin typeface="Microsoft YaHei"/>
              </a:defRPr>
            </a:pPr>
            <a:r>
              <a:t>剪叉式升降机构</a:t>
            </a:r>
          </a:p>
        </p:txBody>
      </p:sp>
      <p:sp>
        <p:nvSpPr>
          <p:cNvPr id="15" name="Rounded Rectangle 14"/>
          <p:cNvSpPr/>
          <p:nvPr/>
        </p:nvSpPr>
        <p:spPr>
          <a:xfrm>
            <a:off x="7920000" y="1080000"/>
            <a:ext cx="3780000" cy="1800000"/>
          </a:xfrm>
          <a:prstGeom prst="roundRect">
            <a:avLst/>
          </a:prstGeom>
          <a:solidFill>
            <a:srgbClr val="E3F2FD"/>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00000" y="1188000"/>
            <a:ext cx="3420000" cy="180000"/>
          </a:xfrm>
          <a:prstGeom prst="rect">
            <a:avLst/>
          </a:prstGeom>
          <a:noFill/>
        </p:spPr>
        <p:txBody>
          <a:bodyPr wrap="square">
            <a:spAutoFit/>
          </a:bodyPr>
          <a:lstStyle/>
          <a:p>
            <a:pPr algn="l">
              <a:defRPr sz="1100" b="1">
                <a:solidFill>
                  <a:srgbClr val="1565C0"/>
                </a:solidFill>
                <a:latin typeface="Microsoft YaHei"/>
              </a:defRPr>
            </a:pPr>
            <a:r>
              <a:t>升降机构参数</a:t>
            </a:r>
          </a:p>
        </p:txBody>
      </p:sp>
      <p:sp>
        <p:nvSpPr>
          <p:cNvPr id="17" name="TextBox 16"/>
          <p:cNvSpPr txBox="1"/>
          <p:nvPr/>
        </p:nvSpPr>
        <p:spPr>
          <a:xfrm>
            <a:off x="8100000" y="1404000"/>
            <a:ext cx="3420000" cy="125999"/>
          </a:xfrm>
          <a:prstGeom prst="rect">
            <a:avLst/>
          </a:prstGeom>
          <a:noFill/>
        </p:spPr>
        <p:txBody>
          <a:bodyPr wrap="square">
            <a:spAutoFit/>
          </a:bodyPr>
          <a:lstStyle/>
          <a:p>
            <a:pPr algn="l">
              <a:defRPr sz="800" b="0">
                <a:solidFill>
                  <a:srgbClr val="1565C0"/>
                </a:solidFill>
                <a:latin typeface="Microsoft YaHei"/>
              </a:defRPr>
            </a:pPr>
            <a:r>
              <a:t>臂杆 L=600mm</a:t>
            </a:r>
          </a:p>
        </p:txBody>
      </p:sp>
      <p:sp>
        <p:nvSpPr>
          <p:cNvPr id="18" name="TextBox 17"/>
          <p:cNvSpPr txBox="1"/>
          <p:nvPr/>
        </p:nvSpPr>
        <p:spPr>
          <a:xfrm>
            <a:off x="8100000" y="1548000"/>
            <a:ext cx="3420000" cy="125999"/>
          </a:xfrm>
          <a:prstGeom prst="rect">
            <a:avLst/>
          </a:prstGeom>
          <a:noFill/>
        </p:spPr>
        <p:txBody>
          <a:bodyPr wrap="square">
            <a:spAutoFit/>
          </a:bodyPr>
          <a:lstStyle/>
          <a:p>
            <a:pPr algn="l">
              <a:defRPr sz="800" b="0">
                <a:solidFill>
                  <a:srgbClr val="1565C0"/>
                </a:solidFill>
                <a:latin typeface="Microsoft YaHei"/>
              </a:defRPr>
            </a:pPr>
            <a:r>
              <a:t>截面 36×4.8mm Q235</a:t>
            </a:r>
          </a:p>
        </p:txBody>
      </p:sp>
      <p:sp>
        <p:nvSpPr>
          <p:cNvPr id="19" name="TextBox 18"/>
          <p:cNvSpPr txBox="1"/>
          <p:nvPr/>
        </p:nvSpPr>
        <p:spPr>
          <a:xfrm>
            <a:off x="8100000" y="1692000"/>
            <a:ext cx="3420000" cy="125999"/>
          </a:xfrm>
          <a:prstGeom prst="rect">
            <a:avLst/>
          </a:prstGeom>
          <a:noFill/>
        </p:spPr>
        <p:txBody>
          <a:bodyPr wrap="square">
            <a:spAutoFit/>
          </a:bodyPr>
          <a:lstStyle/>
          <a:p>
            <a:pPr algn="l">
              <a:defRPr sz="800" b="0">
                <a:solidFill>
                  <a:srgbClr val="1565C0"/>
                </a:solidFill>
                <a:latin typeface="Microsoft YaHei"/>
              </a:defRPr>
            </a:pPr>
            <a:r>
              <a:t>夹角 19.1°~133.5°</a:t>
            </a:r>
          </a:p>
        </p:txBody>
      </p:sp>
      <p:sp>
        <p:nvSpPr>
          <p:cNvPr id="20" name="TextBox 19"/>
          <p:cNvSpPr txBox="1"/>
          <p:nvPr/>
        </p:nvSpPr>
        <p:spPr>
          <a:xfrm>
            <a:off x="8100000" y="1835999"/>
            <a:ext cx="3420000" cy="125999"/>
          </a:xfrm>
          <a:prstGeom prst="rect">
            <a:avLst/>
          </a:prstGeom>
          <a:noFill/>
        </p:spPr>
        <p:txBody>
          <a:bodyPr wrap="square">
            <a:spAutoFit/>
          </a:bodyPr>
          <a:lstStyle/>
          <a:p>
            <a:pPr algn="l">
              <a:defRPr sz="800" b="0">
                <a:solidFill>
                  <a:srgbClr val="1565C0"/>
                </a:solidFill>
                <a:latin typeface="Microsoft YaHei"/>
              </a:defRPr>
            </a:pPr>
            <a:r>
              <a:t>高度 149~600mm</a:t>
            </a:r>
          </a:p>
        </p:txBody>
      </p:sp>
      <p:sp>
        <p:nvSpPr>
          <p:cNvPr id="21" name="TextBox 20"/>
          <p:cNvSpPr txBox="1"/>
          <p:nvPr/>
        </p:nvSpPr>
        <p:spPr>
          <a:xfrm>
            <a:off x="8100000" y="1980000"/>
            <a:ext cx="3420000" cy="125999"/>
          </a:xfrm>
          <a:prstGeom prst="rect">
            <a:avLst/>
          </a:prstGeom>
          <a:noFill/>
        </p:spPr>
        <p:txBody>
          <a:bodyPr wrap="square">
            <a:spAutoFit/>
          </a:bodyPr>
          <a:lstStyle/>
          <a:p>
            <a:pPr algn="l">
              <a:defRPr sz="800" b="0">
                <a:solidFill>
                  <a:srgbClr val="1565C0"/>
                </a:solidFill>
                <a:latin typeface="Microsoft YaHei"/>
              </a:defRPr>
            </a:pPr>
            <a:r>
              <a:t>升程 ~452mm</a:t>
            </a:r>
          </a:p>
        </p:txBody>
      </p:sp>
      <p:sp>
        <p:nvSpPr>
          <p:cNvPr id="22" name="TextBox 21"/>
          <p:cNvSpPr txBox="1"/>
          <p:nvPr/>
        </p:nvSpPr>
        <p:spPr>
          <a:xfrm>
            <a:off x="8100000" y="2124000"/>
            <a:ext cx="3420000" cy="125999"/>
          </a:xfrm>
          <a:prstGeom prst="rect">
            <a:avLst/>
          </a:prstGeom>
          <a:noFill/>
        </p:spPr>
        <p:txBody>
          <a:bodyPr wrap="square">
            <a:spAutoFit/>
          </a:bodyPr>
          <a:lstStyle/>
          <a:p>
            <a:pPr algn="l">
              <a:defRPr sz="800" b="0">
                <a:solidFill>
                  <a:srgbClr val="1565C0"/>
                </a:solidFill>
                <a:latin typeface="Microsoft YaHei"/>
              </a:defRPr>
            </a:pPr>
            <a:r>
              <a:t>载重 50kg</a:t>
            </a:r>
          </a:p>
        </p:txBody>
      </p:sp>
      <p:sp>
        <p:nvSpPr>
          <p:cNvPr id="24" name="TextBox 23"/>
          <p:cNvSpPr txBox="1"/>
          <p:nvPr/>
        </p:nvSpPr>
        <p:spPr>
          <a:xfrm>
            <a:off x="7717083" y="4575114"/>
            <a:ext cx="2568938" cy="261610"/>
          </a:xfrm>
          <a:prstGeom prst="rect">
            <a:avLst/>
          </a:prstGeom>
          <a:noFill/>
        </p:spPr>
        <p:txBody>
          <a:bodyPr wrap="square">
            <a:spAutoFit/>
          </a:bodyPr>
          <a:lstStyle/>
          <a:p>
            <a:pPr algn="l">
              <a:defRPr sz="1100" b="1">
                <a:solidFill>
                  <a:srgbClr val="2E7D32"/>
                </a:solidFill>
                <a:latin typeface="Microsoft YaHei"/>
              </a:defRPr>
            </a:pPr>
            <a:r>
              <a:rPr dirty="0" err="1"/>
              <a:t>强度校核</a:t>
            </a:r>
            <a:r>
              <a:rPr dirty="0"/>
              <a:t> (</a:t>
            </a:r>
            <a:r>
              <a:rPr dirty="0" err="1"/>
              <a:t>FEA验证</a:t>
            </a:r>
            <a:r>
              <a:rPr dirty="0"/>
              <a:t>)</a:t>
            </a:r>
          </a:p>
        </p:txBody>
      </p:sp>
      <p:sp>
        <p:nvSpPr>
          <p:cNvPr id="25" name="TextBox 24"/>
          <p:cNvSpPr txBox="1"/>
          <p:nvPr/>
        </p:nvSpPr>
        <p:spPr>
          <a:xfrm>
            <a:off x="7717083" y="4791114"/>
            <a:ext cx="2568938" cy="230832"/>
          </a:xfrm>
          <a:prstGeom prst="rect">
            <a:avLst/>
          </a:prstGeom>
          <a:noFill/>
        </p:spPr>
        <p:txBody>
          <a:bodyPr wrap="square">
            <a:spAutoFit/>
          </a:bodyPr>
          <a:lstStyle/>
          <a:p>
            <a:pPr algn="l">
              <a:defRPr sz="900" b="0">
                <a:solidFill>
                  <a:srgbClr val="2E7D32"/>
                </a:solidFill>
                <a:latin typeface="Microsoft YaHei"/>
              </a:defRPr>
            </a:pPr>
            <a:r>
              <a:rPr dirty="0" err="1"/>
              <a:t>臂杆组合应力</a:t>
            </a:r>
            <a:r>
              <a:rPr dirty="0"/>
              <a:t> 5.56 MPa (FEA: 5.60, </a:t>
            </a:r>
            <a:r>
              <a:rPr dirty="0" err="1"/>
              <a:t>偏差</a:t>
            </a:r>
            <a:r>
              <a:rPr dirty="0"/>
              <a:t>&lt;1%)</a:t>
            </a:r>
          </a:p>
        </p:txBody>
      </p:sp>
      <p:sp>
        <p:nvSpPr>
          <p:cNvPr id="26" name="TextBox 25"/>
          <p:cNvSpPr txBox="1"/>
          <p:nvPr/>
        </p:nvSpPr>
        <p:spPr>
          <a:xfrm>
            <a:off x="7717083" y="4971114"/>
            <a:ext cx="2500186" cy="234000"/>
          </a:xfrm>
          <a:prstGeom prst="rect">
            <a:avLst/>
          </a:prstGeom>
          <a:noFill/>
        </p:spPr>
        <p:txBody>
          <a:bodyPr wrap="square">
            <a:spAutoFit/>
          </a:bodyPr>
          <a:lstStyle/>
          <a:p>
            <a:pPr algn="l">
              <a:defRPr sz="900" b="0">
                <a:solidFill>
                  <a:srgbClr val="2E7D32"/>
                </a:solidFill>
                <a:latin typeface="Microsoft YaHei"/>
              </a:defRPr>
            </a:pPr>
            <a:r>
              <a:rPr dirty="0"/>
              <a:t>Q235许用应力 156.7 MPa  </a:t>
            </a:r>
            <a:r>
              <a:rPr dirty="0" err="1"/>
              <a:t>利用率</a:t>
            </a:r>
            <a:r>
              <a:rPr dirty="0"/>
              <a:t> 3.5%</a:t>
            </a:r>
          </a:p>
        </p:txBody>
      </p:sp>
      <p:sp>
        <p:nvSpPr>
          <p:cNvPr id="27" name="TextBox 26"/>
          <p:cNvSpPr txBox="1"/>
          <p:nvPr/>
        </p:nvSpPr>
        <p:spPr>
          <a:xfrm>
            <a:off x="7717083" y="5151114"/>
            <a:ext cx="2713317" cy="230832"/>
          </a:xfrm>
          <a:prstGeom prst="rect">
            <a:avLst/>
          </a:prstGeom>
          <a:noFill/>
        </p:spPr>
        <p:txBody>
          <a:bodyPr wrap="square">
            <a:spAutoFit/>
          </a:bodyPr>
          <a:lstStyle/>
          <a:p>
            <a:pPr algn="l">
              <a:defRPr sz="900" b="0">
                <a:solidFill>
                  <a:srgbClr val="2E7D32"/>
                </a:solidFill>
                <a:latin typeface="Microsoft YaHei"/>
              </a:defRPr>
            </a:pPr>
            <a:r>
              <a:rPr dirty="0" err="1"/>
              <a:t>平台</a:t>
            </a:r>
            <a:r>
              <a:rPr dirty="0"/>
              <a:t> von Mises 14.1 MPa  </a:t>
            </a:r>
            <a:r>
              <a:rPr dirty="0" err="1"/>
              <a:t>利用率</a:t>
            </a:r>
            <a:r>
              <a:rPr dirty="0"/>
              <a:t> 9.0%</a:t>
            </a:r>
          </a:p>
        </p:txBody>
      </p:sp>
      <p:sp>
        <p:nvSpPr>
          <p:cNvPr id="28" name="TextBox 27"/>
          <p:cNvSpPr txBox="1"/>
          <p:nvPr/>
        </p:nvSpPr>
        <p:spPr>
          <a:xfrm>
            <a:off x="7717083" y="5331114"/>
            <a:ext cx="2500186" cy="230832"/>
          </a:xfrm>
          <a:prstGeom prst="rect">
            <a:avLst/>
          </a:prstGeom>
          <a:noFill/>
        </p:spPr>
        <p:txBody>
          <a:bodyPr wrap="square">
            <a:spAutoFit/>
          </a:bodyPr>
          <a:lstStyle/>
          <a:p>
            <a:pPr algn="l">
              <a:defRPr sz="900" b="0">
                <a:solidFill>
                  <a:srgbClr val="2E7D32"/>
                </a:solidFill>
                <a:latin typeface="Microsoft YaHei"/>
              </a:defRPr>
            </a:pPr>
            <a:r>
              <a:rPr dirty="0" err="1"/>
              <a:t>平台挠度</a:t>
            </a:r>
            <a:r>
              <a:rPr dirty="0"/>
              <a:t> 0.47mm</a:t>
            </a:r>
          </a:p>
        </p:txBody>
      </p:sp>
      <p:sp>
        <p:nvSpPr>
          <p:cNvPr id="29" name="TextBox 28"/>
          <p:cNvSpPr txBox="1"/>
          <p:nvPr/>
        </p:nvSpPr>
        <p:spPr>
          <a:xfrm>
            <a:off x="7717083" y="5511114"/>
            <a:ext cx="2438310" cy="230832"/>
          </a:xfrm>
          <a:prstGeom prst="rect">
            <a:avLst/>
          </a:prstGeom>
          <a:noFill/>
        </p:spPr>
        <p:txBody>
          <a:bodyPr wrap="square">
            <a:spAutoFit/>
          </a:bodyPr>
          <a:lstStyle/>
          <a:p>
            <a:pPr algn="l">
              <a:defRPr sz="900" b="0">
                <a:solidFill>
                  <a:srgbClr val="2E7D32"/>
                </a:solidFill>
                <a:latin typeface="Microsoft YaHei"/>
              </a:defRPr>
            </a:pPr>
            <a:r>
              <a:t>屈曲安全系数 10.14 (含侧向支撑)</a:t>
            </a:r>
          </a:p>
        </p:txBody>
      </p:sp>
      <p:pic>
        <p:nvPicPr>
          <p:cNvPr id="31" name="Picture 30" descr="fea_results_50kg.png"/>
          <p:cNvPicPr>
            <a:picLocks noChangeAspect="1"/>
          </p:cNvPicPr>
          <p:nvPr/>
        </p:nvPicPr>
        <p:blipFill>
          <a:blip r:embed="rId5"/>
          <a:stretch>
            <a:fillRect/>
          </a:stretch>
        </p:blipFill>
        <p:spPr>
          <a:xfrm>
            <a:off x="310909" y="3492395"/>
            <a:ext cx="7151052" cy="3025445"/>
          </a:xfrm>
          <a:prstGeom prst="rect">
            <a:avLst/>
          </a:prstGeom>
        </p:spPr>
      </p:pic>
      <p:sp>
        <p:nvSpPr>
          <p:cNvPr id="34" name="TextBox 33"/>
          <p:cNvSpPr txBox="1"/>
          <p:nvPr/>
        </p:nvSpPr>
        <p:spPr>
          <a:xfrm>
            <a:off x="7812596" y="3176389"/>
            <a:ext cx="2438310" cy="261610"/>
          </a:xfrm>
          <a:prstGeom prst="rect">
            <a:avLst/>
          </a:prstGeom>
          <a:noFill/>
        </p:spPr>
        <p:txBody>
          <a:bodyPr wrap="square">
            <a:spAutoFit/>
          </a:bodyPr>
          <a:lstStyle/>
          <a:p>
            <a:pPr algn="l">
              <a:defRPr sz="1100" b="1">
                <a:solidFill>
                  <a:srgbClr val="F57F17"/>
                </a:solidFill>
                <a:latin typeface="Microsoft YaHei"/>
              </a:defRPr>
            </a:pPr>
            <a:r>
              <a:t>结论</a:t>
            </a:r>
          </a:p>
        </p:txBody>
      </p:sp>
      <p:sp>
        <p:nvSpPr>
          <p:cNvPr id="35" name="TextBox 34"/>
          <p:cNvSpPr txBox="1"/>
          <p:nvPr/>
        </p:nvSpPr>
        <p:spPr>
          <a:xfrm>
            <a:off x="7675092" y="3672000"/>
            <a:ext cx="3124908" cy="707886"/>
          </a:xfrm>
          <a:prstGeom prst="rect">
            <a:avLst/>
          </a:prstGeom>
          <a:noFill/>
        </p:spPr>
        <p:txBody>
          <a:bodyPr wrap="square">
            <a:spAutoFit/>
          </a:bodyPr>
          <a:lstStyle/>
          <a:p>
            <a:pPr algn="l">
              <a:defRPr sz="1000" b="0">
                <a:solidFill>
                  <a:srgbClr val="F57F17"/>
                </a:solidFill>
                <a:latin typeface="Microsoft YaHei"/>
              </a:defRPr>
            </a:pPr>
            <a:r>
              <a:t>各部件应力远低于许用值，结构安全可靠。</a:t>
            </a:r>
            <a:br/>
            <a:r>
              <a:t>理论手算与有限元偏差&lt;1%，相互印证。</a:t>
            </a:r>
            <a:br/>
            <a:r>
              <a:t>承载平台应力利用率仅9.0%，具有充足安全裕度。</a:t>
            </a:r>
            <a:br/>
            <a:r>
              <a:t>增设侧向支撑后屈曲安全系数提升至10.14。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03</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t>电气系统设计</a:t>
            </a:r>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3/9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sp>
        <p:nvSpPr>
          <p:cNvPr id="17" name="Rounded Rectangle 16"/>
          <p:cNvSpPr/>
          <p:nvPr/>
        </p:nvSpPr>
        <p:spPr>
          <a:xfrm>
            <a:off x="360000" y="1057168"/>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CRT5000.jpg"/>
          <p:cNvPicPr>
            <a:picLocks noChangeAspect="1"/>
          </p:cNvPicPr>
          <p:nvPr/>
        </p:nvPicPr>
        <p:blipFill>
          <a:blip r:embed="rId3"/>
          <a:stretch>
            <a:fillRect/>
          </a:stretch>
        </p:blipFill>
        <p:spPr>
          <a:xfrm>
            <a:off x="819000" y="1136368"/>
            <a:ext cx="1782000" cy="1620000"/>
          </a:xfrm>
          <a:prstGeom prst="rect">
            <a:avLst/>
          </a:prstGeom>
        </p:spPr>
      </p:pic>
      <p:sp>
        <p:nvSpPr>
          <p:cNvPr id="19" name="TextBox 18"/>
          <p:cNvSpPr txBox="1"/>
          <p:nvPr/>
        </p:nvSpPr>
        <p:spPr>
          <a:xfrm>
            <a:off x="468000" y="3037168"/>
            <a:ext cx="2484000" cy="144000"/>
          </a:xfrm>
          <a:prstGeom prst="rect">
            <a:avLst/>
          </a:prstGeom>
          <a:noFill/>
        </p:spPr>
        <p:txBody>
          <a:bodyPr wrap="square">
            <a:spAutoFit/>
          </a:bodyPr>
          <a:lstStyle/>
          <a:p>
            <a:pPr algn="ctr">
              <a:defRPr sz="900" b="1">
                <a:solidFill>
                  <a:srgbClr val="1B2A4A"/>
                </a:solidFill>
                <a:latin typeface="Microsoft YaHei"/>
              </a:defRPr>
            </a:pPr>
            <a:r>
              <a:t>TCRT5000 红外</a:t>
            </a:r>
          </a:p>
        </p:txBody>
      </p:sp>
      <p:sp>
        <p:nvSpPr>
          <p:cNvPr id="20" name="TextBox 19"/>
          <p:cNvSpPr txBox="1"/>
          <p:nvPr/>
        </p:nvSpPr>
        <p:spPr>
          <a:xfrm>
            <a:off x="468000" y="3217168"/>
            <a:ext cx="2484000" cy="432000"/>
          </a:xfrm>
          <a:prstGeom prst="rect">
            <a:avLst/>
          </a:prstGeom>
          <a:noFill/>
        </p:spPr>
        <p:txBody>
          <a:bodyPr wrap="square">
            <a:spAutoFit/>
          </a:bodyPr>
          <a:lstStyle/>
          <a:p>
            <a:pPr algn="ctr">
              <a:defRPr sz="800" b="0">
                <a:solidFill>
                  <a:srgbClr val="6B7B8D"/>
                </a:solidFill>
                <a:latin typeface="Microsoft YaHei"/>
              </a:defRPr>
            </a:pPr>
            <a:r>
              <a:t>反射式光电传感器</a:t>
            </a:r>
            <a:br/>
            <a:r>
              <a:t>检测距离 1~25mm</a:t>
            </a:r>
            <a:br/>
            <a:r>
              <a:t>数字量输出</a:t>
            </a:r>
          </a:p>
        </p:txBody>
      </p:sp>
      <p:sp>
        <p:nvSpPr>
          <p:cNvPr id="21" name="Rounded Rectangle 20"/>
          <p:cNvSpPr/>
          <p:nvPr/>
        </p:nvSpPr>
        <p:spPr>
          <a:xfrm>
            <a:off x="363600" y="3793167"/>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HC-SR04.jpg"/>
          <p:cNvPicPr>
            <a:picLocks noChangeAspect="1"/>
          </p:cNvPicPr>
          <p:nvPr/>
        </p:nvPicPr>
        <p:blipFill>
          <a:blip r:embed="rId4"/>
          <a:stretch>
            <a:fillRect/>
          </a:stretch>
        </p:blipFill>
        <p:spPr>
          <a:xfrm>
            <a:off x="360000" y="3901356"/>
            <a:ext cx="2527200" cy="1620000"/>
          </a:xfrm>
          <a:prstGeom prst="rect">
            <a:avLst/>
          </a:prstGeom>
        </p:spPr>
      </p:pic>
      <p:sp>
        <p:nvSpPr>
          <p:cNvPr id="23" name="TextBox 22"/>
          <p:cNvSpPr txBox="1"/>
          <p:nvPr/>
        </p:nvSpPr>
        <p:spPr>
          <a:xfrm>
            <a:off x="471600" y="5779324"/>
            <a:ext cx="2484000" cy="144000"/>
          </a:xfrm>
          <a:prstGeom prst="rect">
            <a:avLst/>
          </a:prstGeom>
          <a:noFill/>
        </p:spPr>
        <p:txBody>
          <a:bodyPr wrap="square">
            <a:spAutoFit/>
          </a:bodyPr>
          <a:lstStyle/>
          <a:p>
            <a:pPr algn="ctr">
              <a:defRPr sz="900" b="1">
                <a:solidFill>
                  <a:srgbClr val="1B2A4A"/>
                </a:solidFill>
                <a:latin typeface="Microsoft YaHei"/>
              </a:defRPr>
            </a:pPr>
            <a:r>
              <a:rPr dirty="0"/>
              <a:t>HC-SR04 </a:t>
            </a:r>
            <a:r>
              <a:rPr dirty="0" err="1"/>
              <a:t>超声波</a:t>
            </a:r>
            <a:endParaRPr dirty="0"/>
          </a:p>
        </p:txBody>
      </p:sp>
      <p:sp>
        <p:nvSpPr>
          <p:cNvPr id="24" name="TextBox 23"/>
          <p:cNvSpPr txBox="1"/>
          <p:nvPr/>
        </p:nvSpPr>
        <p:spPr>
          <a:xfrm>
            <a:off x="403200" y="6031324"/>
            <a:ext cx="2484000" cy="432000"/>
          </a:xfrm>
          <a:prstGeom prst="rect">
            <a:avLst/>
          </a:prstGeom>
          <a:noFill/>
        </p:spPr>
        <p:txBody>
          <a:bodyPr wrap="square">
            <a:spAutoFit/>
          </a:bodyPr>
          <a:lstStyle/>
          <a:p>
            <a:pPr algn="ctr">
              <a:defRPr sz="800" b="0">
                <a:solidFill>
                  <a:srgbClr val="6B7B8D"/>
                </a:solidFill>
                <a:latin typeface="Microsoft YaHei"/>
              </a:defRPr>
            </a:pPr>
            <a:r>
              <a:t>声波飞行时间测距</a:t>
            </a:r>
            <a:br/>
            <a:r>
              <a:t>2cm~400cm</a:t>
            </a:r>
            <a:br/>
            <a:r>
              <a:t>精度3mm</a:t>
            </a:r>
          </a:p>
        </p:txBody>
      </p:sp>
      <p:pic>
        <p:nvPicPr>
          <p:cNvPr id="34" name="图片 33">
            <a:extLst>
              <a:ext uri="{FF2B5EF4-FFF2-40B4-BE49-F238E27FC236}">
                <a16:creationId xmlns:a16="http://schemas.microsoft.com/office/drawing/2014/main" id="{49FF4DA0-294B-47F3-BB8A-C160263B772E}"/>
              </a:ext>
            </a:extLst>
          </p:cNvPr>
          <p:cNvPicPr>
            <a:picLocks noChangeAspect="1"/>
          </p:cNvPicPr>
          <p:nvPr/>
        </p:nvPicPr>
        <p:blipFill>
          <a:blip r:embed="rId5"/>
          <a:stretch>
            <a:fillRect/>
          </a:stretch>
        </p:blipFill>
        <p:spPr>
          <a:xfrm>
            <a:off x="3168000" y="354624"/>
            <a:ext cx="8620800" cy="61293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04</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rPr dirty="0" err="1"/>
              <a:t>运动学建模与轨迹仿真</a:t>
            </a:r>
            <a:endParaRPr dirty="0"/>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4/9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pic>
        <p:nvPicPr>
          <p:cNvPr id="16" name="Picture 15" descr="直线.png"/>
          <p:cNvPicPr>
            <a:picLocks noChangeAspect="1"/>
          </p:cNvPicPr>
          <p:nvPr/>
        </p:nvPicPr>
        <p:blipFill>
          <a:blip r:embed="rId3"/>
          <a:stretch>
            <a:fillRect/>
          </a:stretch>
        </p:blipFill>
        <p:spPr>
          <a:xfrm>
            <a:off x="352775" y="856463"/>
            <a:ext cx="3015163" cy="1836336"/>
          </a:xfrm>
          <a:prstGeom prst="rect">
            <a:avLst/>
          </a:prstGeom>
        </p:spPr>
      </p:pic>
      <p:sp>
        <p:nvSpPr>
          <p:cNvPr id="17" name="TextBox 16"/>
          <p:cNvSpPr txBox="1"/>
          <p:nvPr/>
        </p:nvSpPr>
        <p:spPr>
          <a:xfrm>
            <a:off x="244130" y="2642399"/>
            <a:ext cx="2664000" cy="144000"/>
          </a:xfrm>
          <a:prstGeom prst="rect">
            <a:avLst/>
          </a:prstGeom>
          <a:noFill/>
        </p:spPr>
        <p:txBody>
          <a:bodyPr wrap="square">
            <a:spAutoFit/>
          </a:bodyPr>
          <a:lstStyle/>
          <a:p>
            <a:pPr algn="ctr">
              <a:defRPr sz="800" b="1">
                <a:solidFill>
                  <a:srgbClr val="1B2A4A"/>
                </a:solidFill>
                <a:latin typeface="Microsoft YaHei"/>
              </a:defRPr>
            </a:pPr>
            <a:r>
              <a:t>直线</a:t>
            </a:r>
          </a:p>
        </p:txBody>
      </p:sp>
      <p:pic>
        <p:nvPicPr>
          <p:cNvPr id="19" name="Picture 18" descr="圆形.png"/>
          <p:cNvPicPr>
            <a:picLocks noChangeAspect="1"/>
          </p:cNvPicPr>
          <p:nvPr/>
        </p:nvPicPr>
        <p:blipFill>
          <a:blip r:embed="rId4"/>
          <a:stretch>
            <a:fillRect/>
          </a:stretch>
        </p:blipFill>
        <p:spPr>
          <a:xfrm>
            <a:off x="3535353" y="468000"/>
            <a:ext cx="2833716" cy="2126798"/>
          </a:xfrm>
          <a:prstGeom prst="rect">
            <a:avLst/>
          </a:prstGeom>
        </p:spPr>
      </p:pic>
      <p:sp>
        <p:nvSpPr>
          <p:cNvPr id="20" name="TextBox 19"/>
          <p:cNvSpPr txBox="1"/>
          <p:nvPr/>
        </p:nvSpPr>
        <p:spPr>
          <a:xfrm>
            <a:off x="3759544" y="2642399"/>
            <a:ext cx="2664000" cy="144000"/>
          </a:xfrm>
          <a:prstGeom prst="rect">
            <a:avLst/>
          </a:prstGeom>
          <a:noFill/>
        </p:spPr>
        <p:txBody>
          <a:bodyPr wrap="square">
            <a:spAutoFit/>
          </a:bodyPr>
          <a:lstStyle/>
          <a:p>
            <a:pPr algn="ctr">
              <a:defRPr sz="800" b="1">
                <a:solidFill>
                  <a:srgbClr val="1B2A4A"/>
                </a:solidFill>
                <a:latin typeface="Microsoft YaHei"/>
              </a:defRPr>
            </a:pPr>
            <a:r>
              <a:rPr dirty="0" err="1"/>
              <a:t>圆弧</a:t>
            </a:r>
            <a:endParaRPr dirty="0"/>
          </a:p>
        </p:txBody>
      </p:sp>
      <p:pic>
        <p:nvPicPr>
          <p:cNvPr id="22" name="Picture 21" descr="s型.png"/>
          <p:cNvPicPr>
            <a:picLocks noChangeAspect="1"/>
          </p:cNvPicPr>
          <p:nvPr/>
        </p:nvPicPr>
        <p:blipFill>
          <a:blip r:embed="rId5"/>
          <a:stretch>
            <a:fillRect/>
          </a:stretch>
        </p:blipFill>
        <p:spPr>
          <a:xfrm>
            <a:off x="360000" y="2857279"/>
            <a:ext cx="3015163" cy="2262980"/>
          </a:xfrm>
          <a:prstGeom prst="rect">
            <a:avLst/>
          </a:prstGeom>
        </p:spPr>
      </p:pic>
      <p:sp>
        <p:nvSpPr>
          <p:cNvPr id="23" name="TextBox 22"/>
          <p:cNvSpPr txBox="1"/>
          <p:nvPr/>
        </p:nvSpPr>
        <p:spPr>
          <a:xfrm>
            <a:off x="468000" y="5136826"/>
            <a:ext cx="2664000" cy="144000"/>
          </a:xfrm>
          <a:prstGeom prst="rect">
            <a:avLst/>
          </a:prstGeom>
          <a:noFill/>
        </p:spPr>
        <p:txBody>
          <a:bodyPr wrap="square">
            <a:spAutoFit/>
          </a:bodyPr>
          <a:lstStyle/>
          <a:p>
            <a:pPr algn="ctr">
              <a:defRPr sz="800" b="1">
                <a:solidFill>
                  <a:srgbClr val="1B2A4A"/>
                </a:solidFill>
                <a:latin typeface="Microsoft YaHei"/>
              </a:defRPr>
            </a:pPr>
            <a:r>
              <a:rPr dirty="0" err="1"/>
              <a:t>S形</a:t>
            </a:r>
            <a:endParaRPr dirty="0"/>
          </a:p>
        </p:txBody>
      </p:sp>
      <p:pic>
        <p:nvPicPr>
          <p:cNvPr id="25" name="Picture 24" descr="8字.png"/>
          <p:cNvPicPr>
            <a:picLocks noChangeAspect="1"/>
          </p:cNvPicPr>
          <p:nvPr/>
        </p:nvPicPr>
        <p:blipFill>
          <a:blip r:embed="rId6"/>
          <a:stretch>
            <a:fillRect/>
          </a:stretch>
        </p:blipFill>
        <p:spPr>
          <a:xfrm>
            <a:off x="3360856" y="2835239"/>
            <a:ext cx="3015162" cy="2262979"/>
          </a:xfrm>
          <a:prstGeom prst="rect">
            <a:avLst/>
          </a:prstGeom>
        </p:spPr>
      </p:pic>
      <p:sp>
        <p:nvSpPr>
          <p:cNvPr id="26" name="TextBox 25"/>
          <p:cNvSpPr txBox="1"/>
          <p:nvPr/>
        </p:nvSpPr>
        <p:spPr>
          <a:xfrm>
            <a:off x="3759544" y="5080855"/>
            <a:ext cx="2664000" cy="144000"/>
          </a:xfrm>
          <a:prstGeom prst="rect">
            <a:avLst/>
          </a:prstGeom>
          <a:noFill/>
        </p:spPr>
        <p:txBody>
          <a:bodyPr wrap="square">
            <a:spAutoFit/>
          </a:bodyPr>
          <a:lstStyle/>
          <a:p>
            <a:pPr algn="ctr">
              <a:defRPr sz="800" b="1">
                <a:solidFill>
                  <a:srgbClr val="1B2A4A"/>
                </a:solidFill>
                <a:latin typeface="Microsoft YaHei"/>
              </a:defRPr>
            </a:pPr>
            <a:r>
              <a:rPr dirty="0"/>
              <a:t>8字</a:t>
            </a:r>
          </a:p>
        </p:txBody>
      </p:sp>
      <p:sp>
        <p:nvSpPr>
          <p:cNvPr id="27" name="Rounded Rectangle 26"/>
          <p:cNvSpPr/>
          <p:nvPr/>
        </p:nvSpPr>
        <p:spPr>
          <a:xfrm>
            <a:off x="136130" y="5450399"/>
            <a:ext cx="6120000" cy="72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16130" y="5486399"/>
            <a:ext cx="5760000" cy="144000"/>
          </a:xfrm>
          <a:prstGeom prst="rect">
            <a:avLst/>
          </a:prstGeom>
          <a:noFill/>
        </p:spPr>
        <p:txBody>
          <a:bodyPr wrap="square">
            <a:spAutoFit/>
          </a:bodyPr>
          <a:lstStyle/>
          <a:p>
            <a:pPr algn="l">
              <a:defRPr sz="1000" b="1">
                <a:solidFill>
                  <a:srgbClr val="1B2A4A"/>
                </a:solidFill>
                <a:latin typeface="Microsoft YaHei"/>
              </a:defRPr>
            </a:pPr>
            <a:r>
              <a:t>轨迹仿真结果汇总</a:t>
            </a:r>
          </a:p>
        </p:txBody>
      </p:sp>
      <p:sp>
        <p:nvSpPr>
          <p:cNvPr id="29" name="TextBox 28"/>
          <p:cNvSpPr txBox="1"/>
          <p:nvPr/>
        </p:nvSpPr>
        <p:spPr>
          <a:xfrm>
            <a:off x="316130" y="5666398"/>
            <a:ext cx="5760000" cy="432000"/>
          </a:xfrm>
          <a:prstGeom prst="rect">
            <a:avLst/>
          </a:prstGeom>
          <a:noFill/>
        </p:spPr>
        <p:txBody>
          <a:bodyPr wrap="square">
            <a:spAutoFit/>
          </a:bodyPr>
          <a:lstStyle/>
          <a:p>
            <a:pPr algn="l">
              <a:defRPr sz="800" b="0">
                <a:solidFill>
                  <a:srgbClr val="6B7B8D"/>
                </a:solidFill>
                <a:latin typeface="Microsoft YaHei"/>
              </a:defRPr>
            </a:pPr>
            <a:r>
              <a:t>直线: 路径9.0m, 位移9.0m, ω=0    |    圆弧: 路径7.0m, ω=0.45rad/s</a:t>
            </a:r>
            <a:br/>
            <a:r>
              <a:t>S形: 路径8.0m, ω=0.60rad/s, κ=1.5  |    8字: 路径7.6m, ω=0.70rad/s, κ=1.84</a:t>
            </a:r>
          </a:p>
        </p:txBody>
      </p:sp>
      <p:pic>
        <p:nvPicPr>
          <p:cNvPr id="35" name="图形 34">
            <a:extLst>
              <a:ext uri="{FF2B5EF4-FFF2-40B4-BE49-F238E27FC236}">
                <a16:creationId xmlns:a16="http://schemas.microsoft.com/office/drawing/2014/main" id="{4BE91018-46D5-4BFA-A143-89FBC83D0A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90958" y="92497"/>
            <a:ext cx="4495256" cy="64835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05</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t>路径规划与循迹仿真</a:t>
            </a:r>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5/9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sp>
        <p:nvSpPr>
          <p:cNvPr id="9" name="Rounded Rectangle 8"/>
          <p:cNvSpPr/>
          <p:nvPr/>
        </p:nvSpPr>
        <p:spPr>
          <a:xfrm>
            <a:off x="360000" y="1080000"/>
            <a:ext cx="72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ybrid_astar_result.png"/>
          <p:cNvPicPr>
            <a:picLocks noChangeAspect="1"/>
          </p:cNvPicPr>
          <p:nvPr/>
        </p:nvPicPr>
        <p:blipFill>
          <a:blip r:embed="rId3"/>
          <a:stretch>
            <a:fillRect/>
          </a:stretch>
        </p:blipFill>
        <p:spPr>
          <a:xfrm>
            <a:off x="540000" y="1188000"/>
            <a:ext cx="3164962" cy="1980000"/>
          </a:xfrm>
          <a:prstGeom prst="rect">
            <a:avLst/>
          </a:prstGeom>
        </p:spPr>
      </p:pic>
      <p:sp>
        <p:nvSpPr>
          <p:cNvPr id="11" name="TextBox 10"/>
          <p:cNvSpPr txBox="1"/>
          <p:nvPr/>
        </p:nvSpPr>
        <p:spPr>
          <a:xfrm>
            <a:off x="4860000" y="1260000"/>
            <a:ext cx="2520000" cy="180000"/>
          </a:xfrm>
          <a:prstGeom prst="rect">
            <a:avLst/>
          </a:prstGeom>
          <a:noFill/>
        </p:spPr>
        <p:txBody>
          <a:bodyPr wrap="square">
            <a:spAutoFit/>
          </a:bodyPr>
          <a:lstStyle/>
          <a:p>
            <a:pPr algn="l">
              <a:defRPr sz="1100" b="1">
                <a:solidFill>
                  <a:srgbClr val="1B2A4A"/>
                </a:solidFill>
                <a:latin typeface="Microsoft YaHei"/>
              </a:defRPr>
            </a:pPr>
            <a:r>
              <a:t>Hybrid A* 路径规划</a:t>
            </a:r>
          </a:p>
        </p:txBody>
      </p:sp>
      <p:sp>
        <p:nvSpPr>
          <p:cNvPr id="12" name="TextBox 11"/>
          <p:cNvSpPr txBox="1"/>
          <p:nvPr/>
        </p:nvSpPr>
        <p:spPr>
          <a:xfrm>
            <a:off x="4860000" y="1475999"/>
            <a:ext cx="2520000" cy="1980000"/>
          </a:xfrm>
          <a:prstGeom prst="rect">
            <a:avLst/>
          </a:prstGeom>
          <a:noFill/>
        </p:spPr>
        <p:txBody>
          <a:bodyPr wrap="square">
            <a:spAutoFit/>
          </a:bodyPr>
          <a:lstStyle/>
          <a:p>
            <a:pPr algn="l">
              <a:defRPr sz="900" b="0">
                <a:solidFill>
                  <a:srgbClr val="6B7B8D"/>
                </a:solidFill>
                <a:latin typeface="Microsoft YaHei"/>
              </a:defRPr>
            </a:pPr>
            <a:r>
              <a:t>算法：节点(x,y,θ)三维位姿</a:t>
            </a:r>
            <a:br/>
            <a:r>
              <a:t>5种曲率运动基元扩展</a:t>
            </a:r>
            <a:br/>
            <a:r>
              <a:t>代价 f=g+h (含转弯/倒车惩罚)</a:t>
            </a:r>
            <a:br/>
            <a:br/>
            <a:r>
              <a:t>参数：</a:t>
            </a:r>
            <a:br/>
            <a:r>
              <a:t>地图 10m×8m, 分辨率0.2m</a:t>
            </a:r>
            <a:br/>
            <a:r>
              <a:t>5个货架障碍物</a:t>
            </a:r>
            <a:br/>
            <a:r>
              <a:t>起点(1,1) → 终点(9,7)</a:t>
            </a:r>
            <a:br/>
            <a:r>
              <a:t>迭代3008次</a:t>
            </a:r>
            <a:br/>
            <a:r>
              <a:t>路径11.04m, 25点</a:t>
            </a:r>
          </a:p>
        </p:txBody>
      </p:sp>
      <p:sp>
        <p:nvSpPr>
          <p:cNvPr id="13" name="Rounded Rectangle 12"/>
          <p:cNvSpPr/>
          <p:nvPr/>
        </p:nvSpPr>
        <p:spPr>
          <a:xfrm>
            <a:off x="7740000" y="1080000"/>
            <a:ext cx="3960000" cy="2700000"/>
          </a:xfrm>
          <a:prstGeom prst="roundRect">
            <a:avLst/>
          </a:prstGeom>
          <a:solidFill>
            <a:srgbClr val="E8F5E9"/>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20000" y="1188000"/>
            <a:ext cx="3600000" cy="180000"/>
          </a:xfrm>
          <a:prstGeom prst="rect">
            <a:avLst/>
          </a:prstGeom>
          <a:noFill/>
        </p:spPr>
        <p:txBody>
          <a:bodyPr wrap="square">
            <a:spAutoFit/>
          </a:bodyPr>
          <a:lstStyle/>
          <a:p>
            <a:pPr algn="l">
              <a:defRPr sz="1100" b="1">
                <a:solidFill>
                  <a:srgbClr val="2E7D32"/>
                </a:solidFill>
                <a:latin typeface="Microsoft YaHei"/>
              </a:defRPr>
            </a:pPr>
            <a:r>
              <a:t>规划结果</a:t>
            </a:r>
          </a:p>
        </p:txBody>
      </p:sp>
      <p:sp>
        <p:nvSpPr>
          <p:cNvPr id="15" name="TextBox 14"/>
          <p:cNvSpPr txBox="1"/>
          <p:nvPr/>
        </p:nvSpPr>
        <p:spPr>
          <a:xfrm>
            <a:off x="7920000" y="1440000"/>
            <a:ext cx="1800000" cy="180000"/>
          </a:xfrm>
          <a:prstGeom prst="rect">
            <a:avLst/>
          </a:prstGeom>
          <a:noFill/>
        </p:spPr>
        <p:txBody>
          <a:bodyPr wrap="square">
            <a:spAutoFit/>
          </a:bodyPr>
          <a:lstStyle/>
          <a:p>
            <a:pPr algn="l">
              <a:defRPr sz="900" b="0">
                <a:solidFill>
                  <a:srgbClr val="6B7B8D"/>
                </a:solidFill>
                <a:latin typeface="Microsoft YaHei"/>
              </a:defRPr>
            </a:pPr>
            <a:r>
              <a:t>路径长度</a:t>
            </a:r>
          </a:p>
        </p:txBody>
      </p:sp>
      <p:sp>
        <p:nvSpPr>
          <p:cNvPr id="16" name="TextBox 15"/>
          <p:cNvSpPr txBox="1"/>
          <p:nvPr/>
        </p:nvSpPr>
        <p:spPr>
          <a:xfrm>
            <a:off x="9720000" y="1440000"/>
            <a:ext cx="1800000" cy="180000"/>
          </a:xfrm>
          <a:prstGeom prst="rect">
            <a:avLst/>
          </a:prstGeom>
          <a:noFill/>
        </p:spPr>
        <p:txBody>
          <a:bodyPr wrap="square">
            <a:spAutoFit/>
          </a:bodyPr>
          <a:lstStyle/>
          <a:p>
            <a:pPr algn="l">
              <a:defRPr sz="900" b="1">
                <a:solidFill>
                  <a:srgbClr val="2E7D32"/>
                </a:solidFill>
                <a:latin typeface="Microsoft YaHei"/>
              </a:defRPr>
            </a:pPr>
            <a:r>
              <a:t>11.04 m</a:t>
            </a:r>
          </a:p>
        </p:txBody>
      </p:sp>
      <p:sp>
        <p:nvSpPr>
          <p:cNvPr id="17" name="TextBox 16"/>
          <p:cNvSpPr txBox="1"/>
          <p:nvPr/>
        </p:nvSpPr>
        <p:spPr>
          <a:xfrm>
            <a:off x="7920000" y="1655999"/>
            <a:ext cx="1800000" cy="180000"/>
          </a:xfrm>
          <a:prstGeom prst="rect">
            <a:avLst/>
          </a:prstGeom>
          <a:noFill/>
        </p:spPr>
        <p:txBody>
          <a:bodyPr wrap="square">
            <a:spAutoFit/>
          </a:bodyPr>
          <a:lstStyle/>
          <a:p>
            <a:pPr algn="l">
              <a:defRPr sz="900" b="0">
                <a:solidFill>
                  <a:srgbClr val="6B7B8D"/>
                </a:solidFill>
                <a:latin typeface="Microsoft YaHei"/>
              </a:defRPr>
            </a:pPr>
            <a:r>
              <a:t>路径点数</a:t>
            </a:r>
          </a:p>
        </p:txBody>
      </p:sp>
      <p:sp>
        <p:nvSpPr>
          <p:cNvPr id="18" name="TextBox 17"/>
          <p:cNvSpPr txBox="1"/>
          <p:nvPr/>
        </p:nvSpPr>
        <p:spPr>
          <a:xfrm>
            <a:off x="9720000" y="1655999"/>
            <a:ext cx="1800000" cy="180000"/>
          </a:xfrm>
          <a:prstGeom prst="rect">
            <a:avLst/>
          </a:prstGeom>
          <a:noFill/>
        </p:spPr>
        <p:txBody>
          <a:bodyPr wrap="square">
            <a:spAutoFit/>
          </a:bodyPr>
          <a:lstStyle/>
          <a:p>
            <a:pPr algn="l">
              <a:defRPr sz="900" b="1">
                <a:solidFill>
                  <a:srgbClr val="2E7D32"/>
                </a:solidFill>
                <a:latin typeface="Microsoft YaHei"/>
              </a:defRPr>
            </a:pPr>
            <a:r>
              <a:t>25</a:t>
            </a:r>
          </a:p>
        </p:txBody>
      </p:sp>
      <p:sp>
        <p:nvSpPr>
          <p:cNvPr id="19" name="TextBox 18"/>
          <p:cNvSpPr txBox="1"/>
          <p:nvPr/>
        </p:nvSpPr>
        <p:spPr>
          <a:xfrm>
            <a:off x="7920000" y="1872000"/>
            <a:ext cx="1800000" cy="180000"/>
          </a:xfrm>
          <a:prstGeom prst="rect">
            <a:avLst/>
          </a:prstGeom>
          <a:noFill/>
        </p:spPr>
        <p:txBody>
          <a:bodyPr wrap="square">
            <a:spAutoFit/>
          </a:bodyPr>
          <a:lstStyle/>
          <a:p>
            <a:pPr algn="l">
              <a:defRPr sz="900" b="0">
                <a:solidFill>
                  <a:srgbClr val="6B7B8D"/>
                </a:solidFill>
                <a:latin typeface="Microsoft YaHei"/>
              </a:defRPr>
            </a:pPr>
            <a:r>
              <a:t>搜索迭代</a:t>
            </a:r>
          </a:p>
        </p:txBody>
      </p:sp>
      <p:sp>
        <p:nvSpPr>
          <p:cNvPr id="20" name="TextBox 19"/>
          <p:cNvSpPr txBox="1"/>
          <p:nvPr/>
        </p:nvSpPr>
        <p:spPr>
          <a:xfrm>
            <a:off x="9720000" y="1872000"/>
            <a:ext cx="1800000" cy="180000"/>
          </a:xfrm>
          <a:prstGeom prst="rect">
            <a:avLst/>
          </a:prstGeom>
          <a:noFill/>
        </p:spPr>
        <p:txBody>
          <a:bodyPr wrap="square">
            <a:spAutoFit/>
          </a:bodyPr>
          <a:lstStyle/>
          <a:p>
            <a:pPr algn="l">
              <a:defRPr sz="900" b="1">
                <a:solidFill>
                  <a:srgbClr val="2E7D32"/>
                </a:solidFill>
                <a:latin typeface="Microsoft YaHei"/>
              </a:defRPr>
            </a:pPr>
            <a:r>
              <a:t>3008</a:t>
            </a:r>
          </a:p>
        </p:txBody>
      </p:sp>
      <p:sp>
        <p:nvSpPr>
          <p:cNvPr id="21" name="TextBox 20"/>
          <p:cNvSpPr txBox="1"/>
          <p:nvPr/>
        </p:nvSpPr>
        <p:spPr>
          <a:xfrm>
            <a:off x="7920000" y="2088000"/>
            <a:ext cx="1800000" cy="180000"/>
          </a:xfrm>
          <a:prstGeom prst="rect">
            <a:avLst/>
          </a:prstGeom>
          <a:noFill/>
        </p:spPr>
        <p:txBody>
          <a:bodyPr wrap="square">
            <a:spAutoFit/>
          </a:bodyPr>
          <a:lstStyle/>
          <a:p>
            <a:pPr algn="l">
              <a:defRPr sz="900" b="0">
                <a:solidFill>
                  <a:srgbClr val="6B7B8D"/>
                </a:solidFill>
                <a:latin typeface="Microsoft YaHei"/>
              </a:defRPr>
            </a:pPr>
            <a:r>
              <a:t>曲率κ</a:t>
            </a:r>
          </a:p>
        </p:txBody>
      </p:sp>
      <p:sp>
        <p:nvSpPr>
          <p:cNvPr id="22" name="TextBox 21"/>
          <p:cNvSpPr txBox="1"/>
          <p:nvPr/>
        </p:nvSpPr>
        <p:spPr>
          <a:xfrm>
            <a:off x="9720000" y="2088000"/>
            <a:ext cx="1800000" cy="180000"/>
          </a:xfrm>
          <a:prstGeom prst="rect">
            <a:avLst/>
          </a:prstGeom>
          <a:noFill/>
        </p:spPr>
        <p:txBody>
          <a:bodyPr wrap="square">
            <a:spAutoFit/>
          </a:bodyPr>
          <a:lstStyle/>
          <a:p>
            <a:pPr algn="l">
              <a:defRPr sz="900" b="1">
                <a:solidFill>
                  <a:srgbClr val="2E7D32"/>
                </a:solidFill>
                <a:latin typeface="Microsoft YaHei"/>
              </a:defRPr>
            </a:pPr>
            <a:r>
              <a:t>±1.11, ±0.52, 0</a:t>
            </a:r>
          </a:p>
        </p:txBody>
      </p:sp>
      <p:sp>
        <p:nvSpPr>
          <p:cNvPr id="23" name="TextBox 22"/>
          <p:cNvSpPr txBox="1"/>
          <p:nvPr/>
        </p:nvSpPr>
        <p:spPr>
          <a:xfrm>
            <a:off x="7920000" y="2304000"/>
            <a:ext cx="1800000" cy="180000"/>
          </a:xfrm>
          <a:prstGeom prst="rect">
            <a:avLst/>
          </a:prstGeom>
          <a:noFill/>
        </p:spPr>
        <p:txBody>
          <a:bodyPr wrap="square">
            <a:spAutoFit/>
          </a:bodyPr>
          <a:lstStyle/>
          <a:p>
            <a:pPr algn="l">
              <a:defRPr sz="900" b="0">
                <a:solidFill>
                  <a:srgbClr val="6B7B8D"/>
                </a:solidFill>
                <a:latin typeface="Microsoft YaHei"/>
              </a:defRPr>
            </a:pPr>
            <a:r>
              <a:t>步长</a:t>
            </a:r>
          </a:p>
        </p:txBody>
      </p:sp>
      <p:sp>
        <p:nvSpPr>
          <p:cNvPr id="24" name="TextBox 23"/>
          <p:cNvSpPr txBox="1"/>
          <p:nvPr/>
        </p:nvSpPr>
        <p:spPr>
          <a:xfrm>
            <a:off x="9720000" y="2304000"/>
            <a:ext cx="1800000" cy="180000"/>
          </a:xfrm>
          <a:prstGeom prst="rect">
            <a:avLst/>
          </a:prstGeom>
          <a:noFill/>
        </p:spPr>
        <p:txBody>
          <a:bodyPr wrap="square">
            <a:spAutoFit/>
          </a:bodyPr>
          <a:lstStyle/>
          <a:p>
            <a:pPr algn="l">
              <a:defRPr sz="900" b="1">
                <a:solidFill>
                  <a:srgbClr val="2E7D32"/>
                </a:solidFill>
                <a:latin typeface="Microsoft YaHei"/>
              </a:defRPr>
            </a:pPr>
            <a:r>
              <a:t>0.5 m</a:t>
            </a:r>
          </a:p>
        </p:txBody>
      </p:sp>
      <p:sp>
        <p:nvSpPr>
          <p:cNvPr id="25" name="TextBox 24"/>
          <p:cNvSpPr txBox="1"/>
          <p:nvPr/>
        </p:nvSpPr>
        <p:spPr>
          <a:xfrm>
            <a:off x="7920000" y="2520000"/>
            <a:ext cx="1800000" cy="180000"/>
          </a:xfrm>
          <a:prstGeom prst="rect">
            <a:avLst/>
          </a:prstGeom>
          <a:noFill/>
        </p:spPr>
        <p:txBody>
          <a:bodyPr wrap="square">
            <a:spAutoFit/>
          </a:bodyPr>
          <a:lstStyle/>
          <a:p>
            <a:pPr algn="l">
              <a:defRPr sz="900" b="0">
                <a:solidFill>
                  <a:srgbClr val="6B7B8D"/>
                </a:solidFill>
                <a:latin typeface="Microsoft YaHei"/>
              </a:defRPr>
            </a:pPr>
            <a:r>
              <a:t>轮距L</a:t>
            </a:r>
          </a:p>
        </p:txBody>
      </p:sp>
      <p:sp>
        <p:nvSpPr>
          <p:cNvPr id="26" name="TextBox 25"/>
          <p:cNvSpPr txBox="1"/>
          <p:nvPr/>
        </p:nvSpPr>
        <p:spPr>
          <a:xfrm>
            <a:off x="9720000" y="2520000"/>
            <a:ext cx="1800000" cy="180000"/>
          </a:xfrm>
          <a:prstGeom prst="rect">
            <a:avLst/>
          </a:prstGeom>
          <a:noFill/>
        </p:spPr>
        <p:txBody>
          <a:bodyPr wrap="square">
            <a:spAutoFit/>
          </a:bodyPr>
          <a:lstStyle/>
          <a:p>
            <a:pPr algn="l">
              <a:defRPr sz="900" b="1">
                <a:solidFill>
                  <a:srgbClr val="2E7D32"/>
                </a:solidFill>
                <a:latin typeface="Microsoft YaHei"/>
              </a:defRPr>
            </a:pPr>
            <a:r>
              <a:t>0.52 m</a:t>
            </a:r>
          </a:p>
        </p:txBody>
      </p:sp>
      <p:sp>
        <p:nvSpPr>
          <p:cNvPr id="28" name="TextBox 27"/>
          <p:cNvSpPr txBox="1"/>
          <p:nvPr/>
        </p:nvSpPr>
        <p:spPr>
          <a:xfrm>
            <a:off x="540000" y="4212000"/>
            <a:ext cx="5220000" cy="180000"/>
          </a:xfrm>
          <a:prstGeom prst="rect">
            <a:avLst/>
          </a:prstGeom>
          <a:noFill/>
        </p:spPr>
        <p:txBody>
          <a:bodyPr wrap="square">
            <a:spAutoFit/>
          </a:bodyPr>
          <a:lstStyle/>
          <a:p>
            <a:pPr algn="l">
              <a:defRPr sz="1000" b="1">
                <a:solidFill>
                  <a:srgbClr val="1B2A4A"/>
                </a:solidFill>
                <a:latin typeface="Microsoft YaHei"/>
              </a:defRPr>
            </a:pPr>
            <a:r>
              <a:t>参考路径 vs 循迹轨迹</a:t>
            </a:r>
          </a:p>
        </p:txBody>
      </p:sp>
      <p:pic>
        <p:nvPicPr>
          <p:cNvPr id="29" name="Picture 28" descr="line_following_traj.png"/>
          <p:cNvPicPr>
            <a:picLocks noChangeAspect="1"/>
          </p:cNvPicPr>
          <p:nvPr/>
        </p:nvPicPr>
        <p:blipFill>
          <a:blip r:embed="rId4"/>
          <a:stretch>
            <a:fillRect/>
          </a:stretch>
        </p:blipFill>
        <p:spPr>
          <a:xfrm>
            <a:off x="1897967" y="3808016"/>
            <a:ext cx="3052167" cy="2399327"/>
          </a:xfrm>
          <a:prstGeom prst="rect">
            <a:avLst/>
          </a:prstGeom>
        </p:spPr>
      </p:pic>
      <p:sp>
        <p:nvSpPr>
          <p:cNvPr id="31" name="TextBox 30"/>
          <p:cNvSpPr txBox="1"/>
          <p:nvPr/>
        </p:nvSpPr>
        <p:spPr>
          <a:xfrm>
            <a:off x="6300000" y="4212000"/>
            <a:ext cx="5220000" cy="180000"/>
          </a:xfrm>
          <a:prstGeom prst="rect">
            <a:avLst/>
          </a:prstGeom>
          <a:noFill/>
        </p:spPr>
        <p:txBody>
          <a:bodyPr wrap="square">
            <a:spAutoFit/>
          </a:bodyPr>
          <a:lstStyle/>
          <a:p>
            <a:pPr algn="l">
              <a:defRPr sz="1000" b="1">
                <a:solidFill>
                  <a:srgbClr val="1B2A4A"/>
                </a:solidFill>
                <a:latin typeface="Microsoft YaHei"/>
              </a:defRPr>
            </a:pPr>
            <a:r>
              <a:t>循迹横向误差</a:t>
            </a:r>
          </a:p>
        </p:txBody>
      </p:sp>
      <p:pic>
        <p:nvPicPr>
          <p:cNvPr id="32" name="Picture 31" descr="line_following_error.png"/>
          <p:cNvPicPr>
            <a:picLocks noChangeAspect="1"/>
          </p:cNvPicPr>
          <p:nvPr/>
        </p:nvPicPr>
        <p:blipFill>
          <a:blip r:embed="rId5"/>
          <a:stretch>
            <a:fillRect/>
          </a:stretch>
        </p:blipFill>
        <p:spPr>
          <a:xfrm>
            <a:off x="7307181" y="3960000"/>
            <a:ext cx="3823747" cy="2153534"/>
          </a:xfrm>
          <a:prstGeom prst="rect">
            <a:avLst/>
          </a:prstGeom>
        </p:spPr>
      </p:pic>
      <p:sp>
        <p:nvSpPr>
          <p:cNvPr id="33" name="Rounded Rectangle 32"/>
          <p:cNvSpPr/>
          <p:nvPr/>
        </p:nvSpPr>
        <p:spPr>
          <a:xfrm>
            <a:off x="360000" y="6228000"/>
            <a:ext cx="2700000" cy="288000"/>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8000" y="6246000"/>
            <a:ext cx="1080000" cy="125999"/>
          </a:xfrm>
          <a:prstGeom prst="rect">
            <a:avLst/>
          </a:prstGeom>
          <a:noFill/>
        </p:spPr>
        <p:txBody>
          <a:bodyPr wrap="square">
            <a:spAutoFit/>
          </a:bodyPr>
          <a:lstStyle/>
          <a:p>
            <a:pPr algn="l">
              <a:defRPr sz="800" b="0">
                <a:solidFill>
                  <a:srgbClr val="2E7D32"/>
                </a:solidFill>
                <a:latin typeface="Microsoft YaHei"/>
              </a:defRPr>
            </a:pPr>
            <a:r>
              <a:t>RMS误差</a:t>
            </a:r>
          </a:p>
        </p:txBody>
      </p:sp>
      <p:sp>
        <p:nvSpPr>
          <p:cNvPr id="35" name="TextBox 34"/>
          <p:cNvSpPr txBox="1"/>
          <p:nvPr/>
        </p:nvSpPr>
        <p:spPr>
          <a:xfrm>
            <a:off x="1620000" y="6246000"/>
            <a:ext cx="1260000" cy="125999"/>
          </a:xfrm>
          <a:prstGeom prst="rect">
            <a:avLst/>
          </a:prstGeom>
          <a:noFill/>
        </p:spPr>
        <p:txBody>
          <a:bodyPr wrap="square">
            <a:spAutoFit/>
          </a:bodyPr>
          <a:lstStyle/>
          <a:p>
            <a:pPr algn="r">
              <a:defRPr sz="1000" b="1">
                <a:solidFill>
                  <a:srgbClr val="2E7D32"/>
                </a:solidFill>
                <a:latin typeface="Microsoft YaHei"/>
              </a:defRPr>
            </a:pPr>
            <a:r>
              <a:t>1.5cm</a:t>
            </a:r>
          </a:p>
        </p:txBody>
      </p:sp>
      <p:sp>
        <p:nvSpPr>
          <p:cNvPr id="36" name="Rounded Rectangle 35"/>
          <p:cNvSpPr/>
          <p:nvPr/>
        </p:nvSpPr>
        <p:spPr>
          <a:xfrm>
            <a:off x="3311999" y="6228000"/>
            <a:ext cx="2700000" cy="288000"/>
          </a:xfrm>
          <a:prstGeom prst="roundRect">
            <a:avLst/>
          </a:prstGeom>
          <a:solidFill>
            <a:srgbClr val="FFF3E0"/>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20000" y="6246000"/>
            <a:ext cx="1080000" cy="125999"/>
          </a:xfrm>
          <a:prstGeom prst="rect">
            <a:avLst/>
          </a:prstGeom>
          <a:noFill/>
        </p:spPr>
        <p:txBody>
          <a:bodyPr wrap="square">
            <a:spAutoFit/>
          </a:bodyPr>
          <a:lstStyle/>
          <a:p>
            <a:pPr algn="l">
              <a:defRPr sz="800" b="0">
                <a:solidFill>
                  <a:srgbClr val="E65100"/>
                </a:solidFill>
                <a:latin typeface="Microsoft YaHei"/>
              </a:defRPr>
            </a:pPr>
            <a:r>
              <a:t>最大误差</a:t>
            </a:r>
          </a:p>
        </p:txBody>
      </p:sp>
      <p:sp>
        <p:nvSpPr>
          <p:cNvPr id="38" name="TextBox 37"/>
          <p:cNvSpPr txBox="1"/>
          <p:nvPr/>
        </p:nvSpPr>
        <p:spPr>
          <a:xfrm>
            <a:off x="4572000" y="6246000"/>
            <a:ext cx="1260000" cy="125999"/>
          </a:xfrm>
          <a:prstGeom prst="rect">
            <a:avLst/>
          </a:prstGeom>
          <a:noFill/>
        </p:spPr>
        <p:txBody>
          <a:bodyPr wrap="square">
            <a:spAutoFit/>
          </a:bodyPr>
          <a:lstStyle/>
          <a:p>
            <a:pPr algn="r">
              <a:defRPr sz="1000" b="1">
                <a:solidFill>
                  <a:srgbClr val="E65100"/>
                </a:solidFill>
                <a:latin typeface="Microsoft YaHei"/>
              </a:defRPr>
            </a:pPr>
            <a:r>
              <a:t>6.8cm</a:t>
            </a:r>
          </a:p>
        </p:txBody>
      </p:sp>
      <p:sp>
        <p:nvSpPr>
          <p:cNvPr id="39" name="Rounded Rectangle 38"/>
          <p:cNvSpPr/>
          <p:nvPr/>
        </p:nvSpPr>
        <p:spPr>
          <a:xfrm>
            <a:off x="6263999" y="6228000"/>
            <a:ext cx="2700000" cy="288000"/>
          </a:xfrm>
          <a:prstGeom prst="round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72000" y="6246000"/>
            <a:ext cx="1080000" cy="125999"/>
          </a:xfrm>
          <a:prstGeom prst="rect">
            <a:avLst/>
          </a:prstGeom>
          <a:noFill/>
        </p:spPr>
        <p:txBody>
          <a:bodyPr wrap="square">
            <a:spAutoFit/>
          </a:bodyPr>
          <a:lstStyle/>
          <a:p>
            <a:pPr algn="l">
              <a:defRPr sz="800" b="0">
                <a:solidFill>
                  <a:srgbClr val="1565C0"/>
                </a:solidFill>
                <a:latin typeface="Microsoft YaHei"/>
              </a:defRPr>
            </a:pPr>
            <a:r>
              <a:t>路径长度</a:t>
            </a:r>
          </a:p>
        </p:txBody>
      </p:sp>
      <p:sp>
        <p:nvSpPr>
          <p:cNvPr id="41" name="TextBox 40"/>
          <p:cNvSpPr txBox="1"/>
          <p:nvPr/>
        </p:nvSpPr>
        <p:spPr>
          <a:xfrm>
            <a:off x="7523999" y="6246000"/>
            <a:ext cx="1260000" cy="125999"/>
          </a:xfrm>
          <a:prstGeom prst="rect">
            <a:avLst/>
          </a:prstGeom>
          <a:noFill/>
        </p:spPr>
        <p:txBody>
          <a:bodyPr wrap="square">
            <a:spAutoFit/>
          </a:bodyPr>
          <a:lstStyle/>
          <a:p>
            <a:pPr algn="r">
              <a:defRPr sz="1000" b="1">
                <a:solidFill>
                  <a:srgbClr val="1565C0"/>
                </a:solidFill>
                <a:latin typeface="Microsoft YaHei"/>
              </a:defRPr>
            </a:pPr>
            <a:r>
              <a:t>11.04m</a:t>
            </a:r>
          </a:p>
        </p:txBody>
      </p:sp>
      <p:sp>
        <p:nvSpPr>
          <p:cNvPr id="42" name="Rounded Rectangle 41"/>
          <p:cNvSpPr/>
          <p:nvPr/>
        </p:nvSpPr>
        <p:spPr>
          <a:xfrm>
            <a:off x="9216000" y="6228000"/>
            <a:ext cx="2700000" cy="288000"/>
          </a:xfrm>
          <a:prstGeom prst="roundRect">
            <a:avLst/>
          </a:prstGeom>
          <a:solidFill>
            <a:srgbClr val="F3E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4000" y="6246000"/>
            <a:ext cx="1080000" cy="125999"/>
          </a:xfrm>
          <a:prstGeom prst="rect">
            <a:avLst/>
          </a:prstGeom>
          <a:noFill/>
        </p:spPr>
        <p:txBody>
          <a:bodyPr wrap="square">
            <a:spAutoFit/>
          </a:bodyPr>
          <a:lstStyle/>
          <a:p>
            <a:pPr algn="l">
              <a:defRPr sz="800" b="0">
                <a:solidFill>
                  <a:srgbClr val="7B1FA2"/>
                </a:solidFill>
                <a:latin typeface="Microsoft YaHei"/>
              </a:defRPr>
            </a:pPr>
            <a:r>
              <a:t>耗时</a:t>
            </a:r>
          </a:p>
        </p:txBody>
      </p:sp>
      <p:sp>
        <p:nvSpPr>
          <p:cNvPr id="44" name="TextBox 43"/>
          <p:cNvSpPr txBox="1"/>
          <p:nvPr/>
        </p:nvSpPr>
        <p:spPr>
          <a:xfrm>
            <a:off x="10476000" y="6246000"/>
            <a:ext cx="1260000" cy="125999"/>
          </a:xfrm>
          <a:prstGeom prst="rect">
            <a:avLst/>
          </a:prstGeom>
          <a:noFill/>
        </p:spPr>
        <p:txBody>
          <a:bodyPr wrap="square">
            <a:spAutoFit/>
          </a:bodyPr>
          <a:lstStyle/>
          <a:p>
            <a:pPr algn="r">
              <a:defRPr sz="1000" b="1">
                <a:solidFill>
                  <a:srgbClr val="7B1FA2"/>
                </a:solidFill>
                <a:latin typeface="Microsoft YaHei"/>
              </a:defRPr>
            </a:pPr>
            <a:r>
              <a:t>36.2s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06</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rPr dirty="0" err="1"/>
              <a:t>运动基元与算法流程</a:t>
            </a:r>
            <a:endParaRPr dirty="0"/>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6/9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sp>
        <p:nvSpPr>
          <p:cNvPr id="9" name="Rounded Rectangle 8"/>
          <p:cNvSpPr/>
          <p:nvPr/>
        </p:nvSpPr>
        <p:spPr>
          <a:xfrm>
            <a:off x="360000" y="1080000"/>
            <a:ext cx="5400000" cy="28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1188000"/>
            <a:ext cx="5040000" cy="180000"/>
          </a:xfrm>
          <a:prstGeom prst="rect">
            <a:avLst/>
          </a:prstGeom>
          <a:noFill/>
        </p:spPr>
        <p:txBody>
          <a:bodyPr wrap="square">
            <a:spAutoFit/>
          </a:bodyPr>
          <a:lstStyle/>
          <a:p>
            <a:pPr algn="l">
              <a:defRPr sz="1100" b="1">
                <a:solidFill>
                  <a:srgbClr val="1B2A4A"/>
                </a:solidFill>
                <a:latin typeface="Microsoft YaHei"/>
              </a:defRPr>
            </a:pPr>
            <a:r>
              <a:t>差速运动基元 (5种曲率)</a:t>
            </a:r>
          </a:p>
        </p:txBody>
      </p:sp>
      <p:sp>
        <p:nvSpPr>
          <p:cNvPr id="11" name="Rounded Rectangle 10"/>
          <p:cNvSpPr/>
          <p:nvPr/>
        </p:nvSpPr>
        <p:spPr>
          <a:xfrm>
            <a:off x="540000" y="1440000"/>
            <a:ext cx="5040000" cy="216000"/>
          </a:xfrm>
          <a:prstGeom prst="roundRect">
            <a:avLst/>
          </a:prstGeom>
          <a:solidFill>
            <a:srgbClr val="FAFAFA"/>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0000" y="1475999"/>
            <a:ext cx="1260000" cy="144000"/>
          </a:xfrm>
          <a:prstGeom prst="rect">
            <a:avLst/>
          </a:prstGeom>
          <a:noFill/>
        </p:spPr>
        <p:txBody>
          <a:bodyPr wrap="square">
            <a:spAutoFit/>
          </a:bodyPr>
          <a:lstStyle/>
          <a:p>
            <a:pPr algn="l">
              <a:defRPr sz="900" b="1">
                <a:solidFill>
                  <a:srgbClr val="E65100"/>
                </a:solidFill>
                <a:latin typeface="Microsoft YaHei"/>
              </a:defRPr>
            </a:pPr>
            <a:r>
              <a:t>大左转</a:t>
            </a:r>
          </a:p>
        </p:txBody>
      </p:sp>
      <p:sp>
        <p:nvSpPr>
          <p:cNvPr id="13" name="TextBox 12"/>
          <p:cNvSpPr txBox="1"/>
          <p:nvPr/>
        </p:nvSpPr>
        <p:spPr>
          <a:xfrm>
            <a:off x="1980000" y="1475999"/>
            <a:ext cx="1440000" cy="144000"/>
          </a:xfrm>
          <a:prstGeom prst="rect">
            <a:avLst/>
          </a:prstGeom>
          <a:noFill/>
        </p:spPr>
        <p:txBody>
          <a:bodyPr wrap="square">
            <a:spAutoFit/>
          </a:bodyPr>
          <a:lstStyle/>
          <a:p>
            <a:pPr algn="l">
              <a:defRPr sz="800" b="0">
                <a:solidFill>
                  <a:srgbClr val="6B7B8D"/>
                </a:solidFill>
                <a:latin typeface="Microsoft YaHei"/>
              </a:defRPr>
            </a:pPr>
            <a:r>
              <a:t>κ=-1.11</a:t>
            </a:r>
          </a:p>
        </p:txBody>
      </p:sp>
      <p:sp>
        <p:nvSpPr>
          <p:cNvPr id="14" name="TextBox 13"/>
          <p:cNvSpPr txBox="1"/>
          <p:nvPr/>
        </p:nvSpPr>
        <p:spPr>
          <a:xfrm>
            <a:off x="3420000" y="1475999"/>
            <a:ext cx="1440000" cy="144000"/>
          </a:xfrm>
          <a:prstGeom prst="rect">
            <a:avLst/>
          </a:prstGeom>
          <a:noFill/>
        </p:spPr>
        <p:txBody>
          <a:bodyPr wrap="square">
            <a:spAutoFit/>
          </a:bodyPr>
          <a:lstStyle/>
          <a:p>
            <a:pPr algn="l">
              <a:defRPr sz="800" b="0">
                <a:solidFill>
                  <a:srgbClr val="6B7B8D"/>
                </a:solidFill>
                <a:latin typeface="Microsoft YaHei"/>
              </a:defRPr>
            </a:pPr>
            <a:r>
              <a:t>R=0.90m</a:t>
            </a:r>
          </a:p>
        </p:txBody>
      </p:sp>
      <p:sp>
        <p:nvSpPr>
          <p:cNvPr id="15" name="Rounded Rectangle 14"/>
          <p:cNvSpPr/>
          <p:nvPr/>
        </p:nvSpPr>
        <p:spPr>
          <a:xfrm>
            <a:off x="540000" y="1692000"/>
            <a:ext cx="5040000" cy="216000"/>
          </a:xfrm>
          <a:prstGeom prst="roundRect">
            <a:avLst/>
          </a:prstGeom>
          <a:solidFill>
            <a:srgbClr val="FAFAFA"/>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0000" y="1728000"/>
            <a:ext cx="1260000" cy="144000"/>
          </a:xfrm>
          <a:prstGeom prst="rect">
            <a:avLst/>
          </a:prstGeom>
          <a:noFill/>
        </p:spPr>
        <p:txBody>
          <a:bodyPr wrap="square">
            <a:spAutoFit/>
          </a:bodyPr>
          <a:lstStyle/>
          <a:p>
            <a:pPr algn="l">
              <a:defRPr sz="900" b="1">
                <a:solidFill>
                  <a:srgbClr val="F39C12"/>
                </a:solidFill>
                <a:latin typeface="Microsoft YaHei"/>
              </a:defRPr>
            </a:pPr>
            <a:r>
              <a:t>小左转</a:t>
            </a:r>
          </a:p>
        </p:txBody>
      </p:sp>
      <p:sp>
        <p:nvSpPr>
          <p:cNvPr id="17" name="TextBox 16"/>
          <p:cNvSpPr txBox="1"/>
          <p:nvPr/>
        </p:nvSpPr>
        <p:spPr>
          <a:xfrm>
            <a:off x="1980000" y="1728000"/>
            <a:ext cx="1440000" cy="144000"/>
          </a:xfrm>
          <a:prstGeom prst="rect">
            <a:avLst/>
          </a:prstGeom>
          <a:noFill/>
        </p:spPr>
        <p:txBody>
          <a:bodyPr wrap="square">
            <a:spAutoFit/>
          </a:bodyPr>
          <a:lstStyle/>
          <a:p>
            <a:pPr algn="l">
              <a:defRPr sz="800" b="0">
                <a:solidFill>
                  <a:srgbClr val="6B7B8D"/>
                </a:solidFill>
                <a:latin typeface="Microsoft YaHei"/>
              </a:defRPr>
            </a:pPr>
            <a:r>
              <a:t>κ=-0.52</a:t>
            </a:r>
          </a:p>
        </p:txBody>
      </p:sp>
      <p:sp>
        <p:nvSpPr>
          <p:cNvPr id="18" name="TextBox 17"/>
          <p:cNvSpPr txBox="1"/>
          <p:nvPr/>
        </p:nvSpPr>
        <p:spPr>
          <a:xfrm>
            <a:off x="3420000" y="1728000"/>
            <a:ext cx="1440000" cy="144000"/>
          </a:xfrm>
          <a:prstGeom prst="rect">
            <a:avLst/>
          </a:prstGeom>
          <a:noFill/>
        </p:spPr>
        <p:txBody>
          <a:bodyPr wrap="square">
            <a:spAutoFit/>
          </a:bodyPr>
          <a:lstStyle/>
          <a:p>
            <a:pPr algn="l">
              <a:defRPr sz="800" b="0">
                <a:solidFill>
                  <a:srgbClr val="6B7B8D"/>
                </a:solidFill>
                <a:latin typeface="Microsoft YaHei"/>
              </a:defRPr>
            </a:pPr>
            <a:r>
              <a:t>R=1.92m</a:t>
            </a:r>
          </a:p>
        </p:txBody>
      </p:sp>
      <p:sp>
        <p:nvSpPr>
          <p:cNvPr id="19" name="Rounded Rectangle 18"/>
          <p:cNvSpPr/>
          <p:nvPr/>
        </p:nvSpPr>
        <p:spPr>
          <a:xfrm>
            <a:off x="540000" y="1944000"/>
            <a:ext cx="5040000" cy="216000"/>
          </a:xfrm>
          <a:prstGeom prst="roundRect">
            <a:avLst/>
          </a:prstGeom>
          <a:solidFill>
            <a:srgbClr val="FAFAFA"/>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0000" y="1980000"/>
            <a:ext cx="1260000" cy="144000"/>
          </a:xfrm>
          <a:prstGeom prst="rect">
            <a:avLst/>
          </a:prstGeom>
          <a:noFill/>
        </p:spPr>
        <p:txBody>
          <a:bodyPr wrap="square">
            <a:spAutoFit/>
          </a:bodyPr>
          <a:lstStyle/>
          <a:p>
            <a:pPr algn="l">
              <a:defRPr sz="900" b="1">
                <a:solidFill>
                  <a:srgbClr val="27AE60"/>
                </a:solidFill>
                <a:latin typeface="Microsoft YaHei"/>
              </a:defRPr>
            </a:pPr>
            <a:r>
              <a:t>直行</a:t>
            </a:r>
          </a:p>
        </p:txBody>
      </p:sp>
      <p:sp>
        <p:nvSpPr>
          <p:cNvPr id="21" name="TextBox 20"/>
          <p:cNvSpPr txBox="1"/>
          <p:nvPr/>
        </p:nvSpPr>
        <p:spPr>
          <a:xfrm>
            <a:off x="1980000" y="1980000"/>
            <a:ext cx="1440000" cy="144000"/>
          </a:xfrm>
          <a:prstGeom prst="rect">
            <a:avLst/>
          </a:prstGeom>
          <a:noFill/>
        </p:spPr>
        <p:txBody>
          <a:bodyPr wrap="square">
            <a:spAutoFit/>
          </a:bodyPr>
          <a:lstStyle/>
          <a:p>
            <a:pPr algn="l">
              <a:defRPr sz="800" b="0">
                <a:solidFill>
                  <a:srgbClr val="6B7B8D"/>
                </a:solidFill>
                <a:latin typeface="Microsoft YaHei"/>
              </a:defRPr>
            </a:pPr>
            <a:r>
              <a:t>κ=0</a:t>
            </a:r>
          </a:p>
        </p:txBody>
      </p:sp>
      <p:sp>
        <p:nvSpPr>
          <p:cNvPr id="22" name="TextBox 21"/>
          <p:cNvSpPr txBox="1"/>
          <p:nvPr/>
        </p:nvSpPr>
        <p:spPr>
          <a:xfrm>
            <a:off x="3420000" y="1980000"/>
            <a:ext cx="1440000" cy="144000"/>
          </a:xfrm>
          <a:prstGeom prst="rect">
            <a:avLst/>
          </a:prstGeom>
          <a:noFill/>
        </p:spPr>
        <p:txBody>
          <a:bodyPr wrap="square">
            <a:spAutoFit/>
          </a:bodyPr>
          <a:lstStyle/>
          <a:p>
            <a:pPr algn="l">
              <a:defRPr sz="800" b="0">
                <a:solidFill>
                  <a:srgbClr val="6B7B8D"/>
                </a:solidFill>
                <a:latin typeface="Microsoft YaHei"/>
              </a:defRPr>
            </a:pPr>
            <a:r>
              <a:t>R=∞</a:t>
            </a:r>
          </a:p>
        </p:txBody>
      </p:sp>
      <p:sp>
        <p:nvSpPr>
          <p:cNvPr id="23" name="Rounded Rectangle 22"/>
          <p:cNvSpPr/>
          <p:nvPr/>
        </p:nvSpPr>
        <p:spPr>
          <a:xfrm>
            <a:off x="540000" y="2196000"/>
            <a:ext cx="5040000" cy="216000"/>
          </a:xfrm>
          <a:prstGeom prst="roundRect">
            <a:avLst/>
          </a:prstGeom>
          <a:solidFill>
            <a:srgbClr val="FAFA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0000" y="2231999"/>
            <a:ext cx="1260000" cy="144000"/>
          </a:xfrm>
          <a:prstGeom prst="rect">
            <a:avLst/>
          </a:prstGeom>
          <a:noFill/>
        </p:spPr>
        <p:txBody>
          <a:bodyPr wrap="square">
            <a:spAutoFit/>
          </a:bodyPr>
          <a:lstStyle/>
          <a:p>
            <a:pPr algn="l">
              <a:defRPr sz="900" b="1">
                <a:solidFill>
                  <a:srgbClr val="2980B9"/>
                </a:solidFill>
                <a:latin typeface="Microsoft YaHei"/>
              </a:defRPr>
            </a:pPr>
            <a:r>
              <a:t>小右转</a:t>
            </a:r>
          </a:p>
        </p:txBody>
      </p:sp>
      <p:sp>
        <p:nvSpPr>
          <p:cNvPr id="25" name="TextBox 24"/>
          <p:cNvSpPr txBox="1"/>
          <p:nvPr/>
        </p:nvSpPr>
        <p:spPr>
          <a:xfrm>
            <a:off x="1980000" y="2231999"/>
            <a:ext cx="1440000" cy="144000"/>
          </a:xfrm>
          <a:prstGeom prst="rect">
            <a:avLst/>
          </a:prstGeom>
          <a:noFill/>
        </p:spPr>
        <p:txBody>
          <a:bodyPr wrap="square">
            <a:spAutoFit/>
          </a:bodyPr>
          <a:lstStyle/>
          <a:p>
            <a:pPr algn="l">
              <a:defRPr sz="800" b="0">
                <a:solidFill>
                  <a:srgbClr val="6B7B8D"/>
                </a:solidFill>
                <a:latin typeface="Microsoft YaHei"/>
              </a:defRPr>
            </a:pPr>
            <a:r>
              <a:t>κ=+0.52</a:t>
            </a:r>
          </a:p>
        </p:txBody>
      </p:sp>
      <p:sp>
        <p:nvSpPr>
          <p:cNvPr id="26" name="TextBox 25"/>
          <p:cNvSpPr txBox="1"/>
          <p:nvPr/>
        </p:nvSpPr>
        <p:spPr>
          <a:xfrm>
            <a:off x="3420000" y="2231999"/>
            <a:ext cx="1440000" cy="144000"/>
          </a:xfrm>
          <a:prstGeom prst="rect">
            <a:avLst/>
          </a:prstGeom>
          <a:noFill/>
        </p:spPr>
        <p:txBody>
          <a:bodyPr wrap="square">
            <a:spAutoFit/>
          </a:bodyPr>
          <a:lstStyle/>
          <a:p>
            <a:pPr algn="l">
              <a:defRPr sz="800" b="0">
                <a:solidFill>
                  <a:srgbClr val="6B7B8D"/>
                </a:solidFill>
                <a:latin typeface="Microsoft YaHei"/>
              </a:defRPr>
            </a:pPr>
            <a:r>
              <a:t>R=1.92m</a:t>
            </a:r>
          </a:p>
        </p:txBody>
      </p:sp>
      <p:sp>
        <p:nvSpPr>
          <p:cNvPr id="27" name="Rounded Rectangle 26"/>
          <p:cNvSpPr/>
          <p:nvPr/>
        </p:nvSpPr>
        <p:spPr>
          <a:xfrm>
            <a:off x="540000" y="2448000"/>
            <a:ext cx="5040000" cy="216000"/>
          </a:xfrm>
          <a:prstGeom prst="roundRect">
            <a:avLst/>
          </a:prstGeom>
          <a:solidFill>
            <a:srgbClr val="FAFAF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0000" y="2484000"/>
            <a:ext cx="1260000" cy="144000"/>
          </a:xfrm>
          <a:prstGeom prst="rect">
            <a:avLst/>
          </a:prstGeom>
          <a:noFill/>
        </p:spPr>
        <p:txBody>
          <a:bodyPr wrap="square">
            <a:spAutoFit/>
          </a:bodyPr>
          <a:lstStyle/>
          <a:p>
            <a:pPr algn="l">
              <a:defRPr sz="900" b="1">
                <a:solidFill>
                  <a:srgbClr val="8E44AD"/>
                </a:solidFill>
                <a:latin typeface="Microsoft YaHei"/>
              </a:defRPr>
            </a:pPr>
            <a:r>
              <a:t>大右转</a:t>
            </a:r>
          </a:p>
        </p:txBody>
      </p:sp>
      <p:sp>
        <p:nvSpPr>
          <p:cNvPr id="29" name="TextBox 28"/>
          <p:cNvSpPr txBox="1"/>
          <p:nvPr/>
        </p:nvSpPr>
        <p:spPr>
          <a:xfrm>
            <a:off x="1980000" y="2484000"/>
            <a:ext cx="1440000" cy="144000"/>
          </a:xfrm>
          <a:prstGeom prst="rect">
            <a:avLst/>
          </a:prstGeom>
          <a:noFill/>
        </p:spPr>
        <p:txBody>
          <a:bodyPr wrap="square">
            <a:spAutoFit/>
          </a:bodyPr>
          <a:lstStyle/>
          <a:p>
            <a:pPr algn="l">
              <a:defRPr sz="800" b="0">
                <a:solidFill>
                  <a:srgbClr val="6B7B8D"/>
                </a:solidFill>
                <a:latin typeface="Microsoft YaHei"/>
              </a:defRPr>
            </a:pPr>
            <a:r>
              <a:t>κ=+1.11</a:t>
            </a:r>
          </a:p>
        </p:txBody>
      </p:sp>
      <p:sp>
        <p:nvSpPr>
          <p:cNvPr id="30" name="TextBox 29"/>
          <p:cNvSpPr txBox="1"/>
          <p:nvPr/>
        </p:nvSpPr>
        <p:spPr>
          <a:xfrm>
            <a:off x="3420000" y="2484000"/>
            <a:ext cx="1440000" cy="144000"/>
          </a:xfrm>
          <a:prstGeom prst="rect">
            <a:avLst/>
          </a:prstGeom>
          <a:noFill/>
        </p:spPr>
        <p:txBody>
          <a:bodyPr wrap="square">
            <a:spAutoFit/>
          </a:bodyPr>
          <a:lstStyle/>
          <a:p>
            <a:pPr algn="l">
              <a:defRPr sz="800" b="0">
                <a:solidFill>
                  <a:srgbClr val="6B7B8D"/>
                </a:solidFill>
                <a:latin typeface="Microsoft YaHei"/>
              </a:defRPr>
            </a:pPr>
            <a:r>
              <a:t>R=0.90m</a:t>
            </a:r>
          </a:p>
        </p:txBody>
      </p:sp>
      <p:sp>
        <p:nvSpPr>
          <p:cNvPr id="31" name="TextBox 30"/>
          <p:cNvSpPr txBox="1"/>
          <p:nvPr/>
        </p:nvSpPr>
        <p:spPr>
          <a:xfrm>
            <a:off x="540000" y="2808000"/>
            <a:ext cx="5040000" cy="900000"/>
          </a:xfrm>
          <a:prstGeom prst="rect">
            <a:avLst/>
          </a:prstGeom>
          <a:noFill/>
        </p:spPr>
        <p:txBody>
          <a:bodyPr wrap="square">
            <a:spAutoFit/>
          </a:bodyPr>
          <a:lstStyle/>
          <a:p>
            <a:pPr algn="l">
              <a:defRPr sz="900" b="0">
                <a:solidFill>
                  <a:srgbClr val="6B7B8D"/>
                </a:solidFill>
                <a:latin typeface="Microsoft YaHei"/>
              </a:defRPr>
            </a:pPr>
            <a:r>
              <a:t>前进/后退 × 5种曲率 = 10种基元</a:t>
            </a:r>
            <a:br/>
            <a:r>
              <a:t>步长 d=0.5m</a:t>
            </a:r>
            <a:br/>
            <a:r>
              <a:t>节点状态 (x,y,θ) 三维位姿</a:t>
            </a:r>
          </a:p>
        </p:txBody>
      </p:sp>
      <p:sp>
        <p:nvSpPr>
          <p:cNvPr id="32" name="Rounded Rectangle 31"/>
          <p:cNvSpPr/>
          <p:nvPr/>
        </p:nvSpPr>
        <p:spPr>
          <a:xfrm>
            <a:off x="5940000" y="1080000"/>
            <a:ext cx="5760000" cy="28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0000" y="1188000"/>
            <a:ext cx="5400000" cy="180000"/>
          </a:xfrm>
          <a:prstGeom prst="rect">
            <a:avLst/>
          </a:prstGeom>
          <a:noFill/>
        </p:spPr>
        <p:txBody>
          <a:bodyPr wrap="square">
            <a:spAutoFit/>
          </a:bodyPr>
          <a:lstStyle/>
          <a:p>
            <a:pPr algn="l">
              <a:defRPr sz="1100" b="1">
                <a:solidFill>
                  <a:srgbClr val="1B2A4A"/>
                </a:solidFill>
                <a:latin typeface="Microsoft YaHei"/>
              </a:defRPr>
            </a:pPr>
            <a:r>
              <a:t>Hybrid A* 算法流程</a:t>
            </a:r>
          </a:p>
        </p:txBody>
      </p:sp>
      <p:sp>
        <p:nvSpPr>
          <p:cNvPr id="34" name="Rounded Rectangle 33"/>
          <p:cNvSpPr/>
          <p:nvPr/>
        </p:nvSpPr>
        <p:spPr>
          <a:xfrm>
            <a:off x="6120000" y="1404000"/>
            <a:ext cx="5400000" cy="1728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00000" y="1422000"/>
            <a:ext cx="2160000" cy="136800"/>
          </a:xfrm>
          <a:prstGeom prst="rect">
            <a:avLst/>
          </a:prstGeom>
          <a:noFill/>
        </p:spPr>
        <p:txBody>
          <a:bodyPr wrap="square">
            <a:spAutoFit/>
          </a:bodyPr>
          <a:lstStyle/>
          <a:p>
            <a:pPr algn="l">
              <a:defRPr sz="800" b="1">
                <a:solidFill>
                  <a:srgbClr val="1B2A4A"/>
                </a:solidFill>
                <a:latin typeface="Microsoft YaHei"/>
              </a:defRPr>
            </a:pPr>
            <a:r>
              <a:t>1. 栅格地图</a:t>
            </a:r>
          </a:p>
        </p:txBody>
      </p:sp>
      <p:sp>
        <p:nvSpPr>
          <p:cNvPr id="36" name="TextBox 35"/>
          <p:cNvSpPr txBox="1"/>
          <p:nvPr/>
        </p:nvSpPr>
        <p:spPr>
          <a:xfrm>
            <a:off x="8460000" y="1422000"/>
            <a:ext cx="2700000" cy="136800"/>
          </a:xfrm>
          <a:prstGeom prst="rect">
            <a:avLst/>
          </a:prstGeom>
          <a:noFill/>
        </p:spPr>
        <p:txBody>
          <a:bodyPr wrap="square">
            <a:spAutoFit/>
          </a:bodyPr>
          <a:lstStyle/>
          <a:p>
            <a:pPr algn="l">
              <a:defRPr sz="800" b="0">
                <a:solidFill>
                  <a:srgbClr val="6B7B8D"/>
                </a:solidFill>
                <a:latin typeface="Microsoft YaHei"/>
              </a:defRPr>
            </a:pPr>
            <a:r>
              <a:t>10×8m, 0.2m</a:t>
            </a:r>
          </a:p>
        </p:txBody>
      </p:sp>
      <p:sp>
        <p:nvSpPr>
          <p:cNvPr id="37" name="Rounded Rectangle 36"/>
          <p:cNvSpPr/>
          <p:nvPr/>
        </p:nvSpPr>
        <p:spPr>
          <a:xfrm>
            <a:off x="6120000" y="1602000"/>
            <a:ext cx="5400000" cy="1728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00000" y="1620000"/>
            <a:ext cx="2160000" cy="136800"/>
          </a:xfrm>
          <a:prstGeom prst="rect">
            <a:avLst/>
          </a:prstGeom>
          <a:noFill/>
        </p:spPr>
        <p:txBody>
          <a:bodyPr wrap="square">
            <a:spAutoFit/>
          </a:bodyPr>
          <a:lstStyle/>
          <a:p>
            <a:pPr algn="l">
              <a:defRPr sz="800" b="1">
                <a:solidFill>
                  <a:srgbClr val="1B2A4A"/>
                </a:solidFill>
                <a:latin typeface="Microsoft YaHei"/>
              </a:defRPr>
            </a:pPr>
            <a:r>
              <a:t>2. 初始化</a:t>
            </a:r>
          </a:p>
        </p:txBody>
      </p:sp>
      <p:sp>
        <p:nvSpPr>
          <p:cNvPr id="39" name="TextBox 38"/>
          <p:cNvSpPr txBox="1"/>
          <p:nvPr/>
        </p:nvSpPr>
        <p:spPr>
          <a:xfrm>
            <a:off x="8460000" y="1620000"/>
            <a:ext cx="2700000" cy="136800"/>
          </a:xfrm>
          <a:prstGeom prst="rect">
            <a:avLst/>
          </a:prstGeom>
          <a:noFill/>
        </p:spPr>
        <p:txBody>
          <a:bodyPr wrap="square">
            <a:spAutoFit/>
          </a:bodyPr>
          <a:lstStyle/>
          <a:p>
            <a:pPr algn="l">
              <a:defRPr sz="800" b="0">
                <a:solidFill>
                  <a:srgbClr val="6B7B8D"/>
                </a:solidFill>
                <a:latin typeface="Microsoft YaHei"/>
              </a:defRPr>
            </a:pPr>
            <a:r>
              <a:t>Open/Close, h₀</a:t>
            </a:r>
          </a:p>
        </p:txBody>
      </p:sp>
      <p:sp>
        <p:nvSpPr>
          <p:cNvPr id="40" name="Rounded Rectangle 39"/>
          <p:cNvSpPr/>
          <p:nvPr/>
        </p:nvSpPr>
        <p:spPr>
          <a:xfrm>
            <a:off x="6120000" y="1800000"/>
            <a:ext cx="5400000" cy="1728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00000" y="1818000"/>
            <a:ext cx="2160000" cy="136800"/>
          </a:xfrm>
          <a:prstGeom prst="rect">
            <a:avLst/>
          </a:prstGeom>
          <a:noFill/>
        </p:spPr>
        <p:txBody>
          <a:bodyPr wrap="square">
            <a:spAutoFit/>
          </a:bodyPr>
          <a:lstStyle/>
          <a:p>
            <a:pPr algn="l">
              <a:defRPr sz="800" b="1">
                <a:solidFill>
                  <a:srgbClr val="1B2A4A"/>
                </a:solidFill>
                <a:latin typeface="Microsoft YaHei"/>
              </a:defRPr>
            </a:pPr>
            <a:r>
              <a:t>3. 节点扩展</a:t>
            </a:r>
          </a:p>
        </p:txBody>
      </p:sp>
      <p:sp>
        <p:nvSpPr>
          <p:cNvPr id="42" name="TextBox 41"/>
          <p:cNvSpPr txBox="1"/>
          <p:nvPr/>
        </p:nvSpPr>
        <p:spPr>
          <a:xfrm>
            <a:off x="8460000" y="1818000"/>
            <a:ext cx="2700000" cy="136800"/>
          </a:xfrm>
          <a:prstGeom prst="rect">
            <a:avLst/>
          </a:prstGeom>
          <a:noFill/>
        </p:spPr>
        <p:txBody>
          <a:bodyPr wrap="square">
            <a:spAutoFit/>
          </a:bodyPr>
          <a:lstStyle/>
          <a:p>
            <a:pPr algn="l">
              <a:defRPr sz="800" b="0">
                <a:solidFill>
                  <a:srgbClr val="6B7B8D"/>
                </a:solidFill>
                <a:latin typeface="Microsoft YaHei"/>
              </a:defRPr>
            </a:pPr>
            <a:r>
              <a:t>10种基元</a:t>
            </a:r>
          </a:p>
        </p:txBody>
      </p:sp>
      <p:sp>
        <p:nvSpPr>
          <p:cNvPr id="43" name="Rounded Rectangle 42"/>
          <p:cNvSpPr/>
          <p:nvPr/>
        </p:nvSpPr>
        <p:spPr>
          <a:xfrm>
            <a:off x="6120000" y="1998000"/>
            <a:ext cx="5400000" cy="1728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0000" y="2015999"/>
            <a:ext cx="2160000" cy="136800"/>
          </a:xfrm>
          <a:prstGeom prst="rect">
            <a:avLst/>
          </a:prstGeom>
          <a:noFill/>
        </p:spPr>
        <p:txBody>
          <a:bodyPr wrap="square">
            <a:spAutoFit/>
          </a:bodyPr>
          <a:lstStyle/>
          <a:p>
            <a:pPr algn="l">
              <a:defRPr sz="800" b="1">
                <a:solidFill>
                  <a:srgbClr val="1B2A4A"/>
                </a:solidFill>
                <a:latin typeface="Microsoft YaHei"/>
              </a:defRPr>
            </a:pPr>
            <a:r>
              <a:t>4. 碰撞检测</a:t>
            </a:r>
          </a:p>
        </p:txBody>
      </p:sp>
      <p:sp>
        <p:nvSpPr>
          <p:cNvPr id="45" name="TextBox 44"/>
          <p:cNvSpPr txBox="1"/>
          <p:nvPr/>
        </p:nvSpPr>
        <p:spPr>
          <a:xfrm>
            <a:off x="8460000" y="2015999"/>
            <a:ext cx="2700000" cy="136800"/>
          </a:xfrm>
          <a:prstGeom prst="rect">
            <a:avLst/>
          </a:prstGeom>
          <a:noFill/>
        </p:spPr>
        <p:txBody>
          <a:bodyPr wrap="square">
            <a:spAutoFit/>
          </a:bodyPr>
          <a:lstStyle/>
          <a:p>
            <a:pPr algn="l">
              <a:defRPr sz="800" b="0">
                <a:solidFill>
                  <a:srgbClr val="6B7B8D"/>
                </a:solidFill>
                <a:latin typeface="Microsoft YaHei"/>
              </a:defRPr>
            </a:pPr>
            <a:r>
              <a:t>采样11点</a:t>
            </a:r>
          </a:p>
        </p:txBody>
      </p:sp>
      <p:sp>
        <p:nvSpPr>
          <p:cNvPr id="46" name="Rounded Rectangle 45"/>
          <p:cNvSpPr/>
          <p:nvPr/>
        </p:nvSpPr>
        <p:spPr>
          <a:xfrm>
            <a:off x="6120000" y="2196000"/>
            <a:ext cx="5400000" cy="1728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00000" y="2214000"/>
            <a:ext cx="2160000" cy="136800"/>
          </a:xfrm>
          <a:prstGeom prst="rect">
            <a:avLst/>
          </a:prstGeom>
          <a:noFill/>
        </p:spPr>
        <p:txBody>
          <a:bodyPr wrap="square">
            <a:spAutoFit/>
          </a:bodyPr>
          <a:lstStyle/>
          <a:p>
            <a:pPr algn="l">
              <a:defRPr sz="800" b="1">
                <a:solidFill>
                  <a:srgbClr val="1B2A4A"/>
                </a:solidFill>
                <a:latin typeface="Microsoft YaHei"/>
              </a:defRPr>
            </a:pPr>
            <a:r>
              <a:t>5. 代价评估</a:t>
            </a:r>
          </a:p>
        </p:txBody>
      </p:sp>
      <p:sp>
        <p:nvSpPr>
          <p:cNvPr id="48" name="TextBox 47"/>
          <p:cNvSpPr txBox="1"/>
          <p:nvPr/>
        </p:nvSpPr>
        <p:spPr>
          <a:xfrm>
            <a:off x="8460000" y="2214000"/>
            <a:ext cx="2700000" cy="136800"/>
          </a:xfrm>
          <a:prstGeom prst="rect">
            <a:avLst/>
          </a:prstGeom>
          <a:noFill/>
        </p:spPr>
        <p:txBody>
          <a:bodyPr wrap="square">
            <a:spAutoFit/>
          </a:bodyPr>
          <a:lstStyle/>
          <a:p>
            <a:pPr algn="l">
              <a:defRPr sz="800" b="0">
                <a:solidFill>
                  <a:srgbClr val="6B7B8D"/>
                </a:solidFill>
                <a:latin typeface="Microsoft YaHei"/>
              </a:defRPr>
            </a:pPr>
            <a:r>
              <a:t>f=g+h</a:t>
            </a:r>
          </a:p>
        </p:txBody>
      </p:sp>
      <p:sp>
        <p:nvSpPr>
          <p:cNvPr id="49" name="Rounded Rectangle 48"/>
          <p:cNvSpPr/>
          <p:nvPr/>
        </p:nvSpPr>
        <p:spPr>
          <a:xfrm>
            <a:off x="6120000" y="2394000"/>
            <a:ext cx="5400000" cy="1728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0000" y="2412000"/>
            <a:ext cx="2160000" cy="136800"/>
          </a:xfrm>
          <a:prstGeom prst="rect">
            <a:avLst/>
          </a:prstGeom>
          <a:noFill/>
        </p:spPr>
        <p:txBody>
          <a:bodyPr wrap="square">
            <a:spAutoFit/>
          </a:bodyPr>
          <a:lstStyle/>
          <a:p>
            <a:pPr algn="l">
              <a:defRPr sz="800" b="1">
                <a:solidFill>
                  <a:srgbClr val="1B2A4A"/>
                </a:solidFill>
                <a:latin typeface="Microsoft YaHei"/>
              </a:defRPr>
            </a:pPr>
            <a:r>
              <a:t>6. 路径回溯</a:t>
            </a:r>
          </a:p>
        </p:txBody>
      </p:sp>
      <p:sp>
        <p:nvSpPr>
          <p:cNvPr id="51" name="TextBox 50"/>
          <p:cNvSpPr txBox="1"/>
          <p:nvPr/>
        </p:nvSpPr>
        <p:spPr>
          <a:xfrm>
            <a:off x="8460000" y="2412000"/>
            <a:ext cx="2700000" cy="136800"/>
          </a:xfrm>
          <a:prstGeom prst="rect">
            <a:avLst/>
          </a:prstGeom>
          <a:noFill/>
        </p:spPr>
        <p:txBody>
          <a:bodyPr wrap="square">
            <a:spAutoFit/>
          </a:bodyPr>
          <a:lstStyle/>
          <a:p>
            <a:pPr algn="l">
              <a:defRPr sz="800" b="0">
                <a:solidFill>
                  <a:srgbClr val="6B7B8D"/>
                </a:solidFill>
                <a:latin typeface="Microsoft YaHei"/>
              </a:defRPr>
            </a:pPr>
            <a:r>
              <a:t>父节点链</a:t>
            </a:r>
          </a:p>
        </p:txBody>
      </p:sp>
      <p:sp>
        <p:nvSpPr>
          <p:cNvPr id="52" name="Rounded Rectangle 51"/>
          <p:cNvSpPr/>
          <p:nvPr/>
        </p:nvSpPr>
        <p:spPr>
          <a:xfrm>
            <a:off x="6120000" y="2592000"/>
            <a:ext cx="5400000" cy="1728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00000" y="2610000"/>
            <a:ext cx="2160000" cy="136800"/>
          </a:xfrm>
          <a:prstGeom prst="rect">
            <a:avLst/>
          </a:prstGeom>
          <a:noFill/>
        </p:spPr>
        <p:txBody>
          <a:bodyPr wrap="square">
            <a:spAutoFit/>
          </a:bodyPr>
          <a:lstStyle/>
          <a:p>
            <a:pPr algn="l">
              <a:defRPr sz="800" b="1">
                <a:solidFill>
                  <a:srgbClr val="1B2A4A"/>
                </a:solidFill>
                <a:latin typeface="Microsoft YaHei"/>
              </a:defRPr>
            </a:pPr>
            <a:r>
              <a:t>7. 均值平滑</a:t>
            </a:r>
          </a:p>
        </p:txBody>
      </p:sp>
      <p:sp>
        <p:nvSpPr>
          <p:cNvPr id="54" name="TextBox 53"/>
          <p:cNvSpPr txBox="1"/>
          <p:nvPr/>
        </p:nvSpPr>
        <p:spPr>
          <a:xfrm>
            <a:off x="8460000" y="2610000"/>
            <a:ext cx="2700000" cy="136800"/>
          </a:xfrm>
          <a:prstGeom prst="rect">
            <a:avLst/>
          </a:prstGeom>
          <a:noFill/>
        </p:spPr>
        <p:txBody>
          <a:bodyPr wrap="square">
            <a:spAutoFit/>
          </a:bodyPr>
          <a:lstStyle/>
          <a:p>
            <a:pPr algn="l">
              <a:defRPr sz="800" b="0">
                <a:solidFill>
                  <a:srgbClr val="6B7B8D"/>
                </a:solidFill>
                <a:latin typeface="Microsoft YaHei"/>
              </a:defRPr>
            </a:pPr>
            <a:r>
              <a:t>3次滤波</a:t>
            </a:r>
          </a:p>
        </p:txBody>
      </p:sp>
      <p:sp>
        <p:nvSpPr>
          <p:cNvPr id="55" name="Rounded Rectangle 54"/>
          <p:cNvSpPr/>
          <p:nvPr/>
        </p:nvSpPr>
        <p:spPr>
          <a:xfrm>
            <a:off x="6120000" y="2790000"/>
            <a:ext cx="5400000" cy="1728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00000" y="2808000"/>
            <a:ext cx="2160000" cy="136800"/>
          </a:xfrm>
          <a:prstGeom prst="rect">
            <a:avLst/>
          </a:prstGeom>
          <a:noFill/>
        </p:spPr>
        <p:txBody>
          <a:bodyPr wrap="square">
            <a:spAutoFit/>
          </a:bodyPr>
          <a:lstStyle/>
          <a:p>
            <a:pPr algn="l">
              <a:defRPr sz="800" b="1">
                <a:solidFill>
                  <a:srgbClr val="1B2A4A"/>
                </a:solidFill>
                <a:latin typeface="Microsoft YaHei"/>
              </a:defRPr>
            </a:pPr>
            <a:r>
              <a:t>8. 等距插值</a:t>
            </a:r>
          </a:p>
        </p:txBody>
      </p:sp>
      <p:sp>
        <p:nvSpPr>
          <p:cNvPr id="57" name="TextBox 56"/>
          <p:cNvSpPr txBox="1"/>
          <p:nvPr/>
        </p:nvSpPr>
        <p:spPr>
          <a:xfrm>
            <a:off x="8460000" y="2808000"/>
            <a:ext cx="2700000" cy="136800"/>
          </a:xfrm>
          <a:prstGeom prst="rect">
            <a:avLst/>
          </a:prstGeom>
          <a:noFill/>
        </p:spPr>
        <p:txBody>
          <a:bodyPr wrap="square">
            <a:spAutoFit/>
          </a:bodyPr>
          <a:lstStyle/>
          <a:p>
            <a:pPr algn="l">
              <a:defRPr sz="800" b="0">
                <a:solidFill>
                  <a:srgbClr val="6B7B8D"/>
                </a:solidFill>
                <a:latin typeface="Microsoft YaHei"/>
              </a:defRPr>
            </a:pPr>
            <a:r>
              <a:t>0.05m, 224点</a:t>
            </a:r>
          </a:p>
        </p:txBody>
      </p:sp>
      <p:sp>
        <p:nvSpPr>
          <p:cNvPr id="58" name="Rounded Rectangle 57"/>
          <p:cNvSpPr/>
          <p:nvPr/>
        </p:nvSpPr>
        <p:spPr>
          <a:xfrm>
            <a:off x="360000" y="4140000"/>
            <a:ext cx="11340000" cy="900000"/>
          </a:xfrm>
          <a:prstGeom prst="roundRect">
            <a:avLst/>
          </a:prstGeom>
          <a:solidFill>
            <a:srgbClr val="FFF8E1"/>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0000" y="4212000"/>
            <a:ext cx="10980000" cy="180000"/>
          </a:xfrm>
          <a:prstGeom prst="rect">
            <a:avLst/>
          </a:prstGeom>
          <a:noFill/>
        </p:spPr>
        <p:txBody>
          <a:bodyPr wrap="square">
            <a:spAutoFit/>
          </a:bodyPr>
          <a:lstStyle/>
          <a:p>
            <a:pPr algn="l">
              <a:defRPr sz="1100" b="1">
                <a:solidFill>
                  <a:srgbClr val="F57F17"/>
                </a:solidFill>
                <a:latin typeface="Microsoft YaHei"/>
              </a:defRPr>
            </a:pPr>
            <a:r>
              <a:t>代价函数 f = g + h</a:t>
            </a:r>
          </a:p>
        </p:txBody>
      </p:sp>
      <p:sp>
        <p:nvSpPr>
          <p:cNvPr id="60" name="TextBox 59"/>
          <p:cNvSpPr txBox="1"/>
          <p:nvPr/>
        </p:nvSpPr>
        <p:spPr>
          <a:xfrm>
            <a:off x="540000" y="4428000"/>
            <a:ext cx="3600000" cy="540000"/>
          </a:xfrm>
          <a:prstGeom prst="rect">
            <a:avLst/>
          </a:prstGeom>
          <a:noFill/>
        </p:spPr>
        <p:txBody>
          <a:bodyPr wrap="square">
            <a:spAutoFit/>
          </a:bodyPr>
          <a:lstStyle/>
          <a:p>
            <a:pPr algn="l">
              <a:defRPr sz="900" b="0">
                <a:solidFill>
                  <a:srgbClr val="F57F17"/>
                </a:solidFill>
                <a:latin typeface="Microsoft YaHei"/>
              </a:defRPr>
            </a:pPr>
            <a:r>
              <a:rPr dirty="0"/>
              <a:t>g: </a:t>
            </a:r>
            <a:r>
              <a:rPr dirty="0" err="1"/>
              <a:t>实际代价</a:t>
            </a:r>
            <a:r>
              <a:rPr dirty="0"/>
              <a:t> (步长0.5m + 倒车+50% + 转弯+0.1)</a:t>
            </a:r>
          </a:p>
        </p:txBody>
      </p:sp>
      <p:sp>
        <p:nvSpPr>
          <p:cNvPr id="61" name="TextBox 60"/>
          <p:cNvSpPr txBox="1"/>
          <p:nvPr/>
        </p:nvSpPr>
        <p:spPr>
          <a:xfrm>
            <a:off x="4320000" y="4428000"/>
            <a:ext cx="3600000" cy="540000"/>
          </a:xfrm>
          <a:prstGeom prst="rect">
            <a:avLst/>
          </a:prstGeom>
          <a:noFill/>
        </p:spPr>
        <p:txBody>
          <a:bodyPr wrap="square">
            <a:spAutoFit/>
          </a:bodyPr>
          <a:lstStyle/>
          <a:p>
            <a:pPr algn="l">
              <a:defRPr sz="900" b="0">
                <a:solidFill>
                  <a:srgbClr val="F57F17"/>
                </a:solidFill>
                <a:latin typeface="Microsoft YaHei"/>
              </a:defRPr>
            </a:pPr>
            <a:r>
              <a:t>h: 欧氏距离启发值 (保证可采纳性)</a:t>
            </a:r>
          </a:p>
        </p:txBody>
      </p:sp>
      <p:sp>
        <p:nvSpPr>
          <p:cNvPr id="62" name="TextBox 61"/>
          <p:cNvSpPr txBox="1"/>
          <p:nvPr/>
        </p:nvSpPr>
        <p:spPr>
          <a:xfrm>
            <a:off x="8280000" y="4428000"/>
            <a:ext cx="3240000" cy="540000"/>
          </a:xfrm>
          <a:prstGeom prst="rect">
            <a:avLst/>
          </a:prstGeom>
          <a:noFill/>
        </p:spPr>
        <p:txBody>
          <a:bodyPr wrap="square">
            <a:spAutoFit/>
          </a:bodyPr>
          <a:lstStyle/>
          <a:p>
            <a:pPr algn="l">
              <a:defRPr sz="900" b="1">
                <a:solidFill>
                  <a:srgbClr val="F57F17"/>
                </a:solidFill>
                <a:latin typeface="Microsoft YaHei"/>
              </a:defRPr>
            </a:pPr>
            <a:r>
              <a:t>关键：节点含θ，满足差速约束，路径可直接执行</a:t>
            </a:r>
          </a:p>
        </p:txBody>
      </p:sp>
      <p:sp>
        <p:nvSpPr>
          <p:cNvPr id="63" name="Rounded Rectangle 62"/>
          <p:cNvSpPr/>
          <p:nvPr/>
        </p:nvSpPr>
        <p:spPr>
          <a:xfrm>
            <a:off x="360000" y="5220000"/>
            <a:ext cx="5400000" cy="126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sensor_layout.png"/>
          <p:cNvPicPr>
            <a:picLocks noChangeAspect="1"/>
          </p:cNvPicPr>
          <p:nvPr/>
        </p:nvPicPr>
        <p:blipFill>
          <a:blip r:embed="rId3"/>
          <a:stretch>
            <a:fillRect/>
          </a:stretch>
        </p:blipFill>
        <p:spPr>
          <a:xfrm>
            <a:off x="540000" y="5328000"/>
            <a:ext cx="2160000" cy="1123081"/>
          </a:xfrm>
          <a:prstGeom prst="rect">
            <a:avLst/>
          </a:prstGeom>
        </p:spPr>
      </p:pic>
      <p:sp>
        <p:nvSpPr>
          <p:cNvPr id="65" name="TextBox 64"/>
          <p:cNvSpPr txBox="1"/>
          <p:nvPr/>
        </p:nvSpPr>
        <p:spPr>
          <a:xfrm>
            <a:off x="2880000" y="5400000"/>
            <a:ext cx="2700000" cy="900000"/>
          </a:xfrm>
          <a:prstGeom prst="rect">
            <a:avLst/>
          </a:prstGeom>
          <a:noFill/>
        </p:spPr>
        <p:txBody>
          <a:bodyPr wrap="square">
            <a:spAutoFit/>
          </a:bodyPr>
          <a:lstStyle/>
          <a:p>
            <a:pPr algn="l">
              <a:defRPr sz="900" b="0">
                <a:solidFill>
                  <a:srgbClr val="6B7B8D"/>
                </a:solidFill>
                <a:latin typeface="Microsoft YaHei"/>
              </a:defRPr>
            </a:pPr>
            <a:r>
              <a:t>循迹传感器：</a:t>
            </a:r>
            <a:br/>
            <a:r>
              <a:t>5路TCRT5000, 间距40mm</a:t>
            </a:r>
            <a:br/>
            <a:r>
              <a:t>权重{-4,-2,0,+2,+4}</a:t>
            </a:r>
            <a:br/>
            <a:r>
              <a:t>PID: Kp=3.0 Ki=0.08 Kd=1.0</a:t>
            </a:r>
          </a:p>
        </p:txBody>
      </p:sp>
      <p:sp>
        <p:nvSpPr>
          <p:cNvPr id="66" name="Rounded Rectangle 65"/>
          <p:cNvSpPr/>
          <p:nvPr/>
        </p:nvSpPr>
        <p:spPr>
          <a:xfrm>
            <a:off x="5940000" y="5220000"/>
            <a:ext cx="5760000" cy="1260000"/>
          </a:xfrm>
          <a:prstGeom prst="roundRect">
            <a:avLst/>
          </a:prstGeom>
          <a:solidFill>
            <a:srgbClr val="E8F5E9"/>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120000" y="5328000"/>
            <a:ext cx="5400000" cy="180000"/>
          </a:xfrm>
          <a:prstGeom prst="rect">
            <a:avLst/>
          </a:prstGeom>
          <a:noFill/>
        </p:spPr>
        <p:txBody>
          <a:bodyPr wrap="square">
            <a:spAutoFit/>
          </a:bodyPr>
          <a:lstStyle/>
          <a:p>
            <a:pPr algn="l">
              <a:defRPr sz="1100" b="1">
                <a:solidFill>
                  <a:srgbClr val="2E7D32"/>
                </a:solidFill>
                <a:latin typeface="Microsoft YaHei"/>
              </a:defRPr>
            </a:pPr>
            <a:r>
              <a:t>两层导航架构</a:t>
            </a:r>
          </a:p>
        </p:txBody>
      </p:sp>
      <p:sp>
        <p:nvSpPr>
          <p:cNvPr id="68" name="TextBox 67"/>
          <p:cNvSpPr txBox="1"/>
          <p:nvPr/>
        </p:nvSpPr>
        <p:spPr>
          <a:xfrm>
            <a:off x="6120000" y="5544000"/>
            <a:ext cx="5400000" cy="720000"/>
          </a:xfrm>
          <a:prstGeom prst="rect">
            <a:avLst/>
          </a:prstGeom>
          <a:noFill/>
        </p:spPr>
        <p:txBody>
          <a:bodyPr wrap="square">
            <a:spAutoFit/>
          </a:bodyPr>
          <a:lstStyle/>
          <a:p>
            <a:pPr algn="l">
              <a:defRPr sz="900" b="0">
                <a:solidFill>
                  <a:srgbClr val="2E7D32"/>
                </a:solidFill>
                <a:latin typeface="Microsoft YaHei"/>
              </a:defRPr>
            </a:pPr>
            <a:r>
              <a:t>规划层 Hybrid A* → 确定"走哪条路"</a:t>
            </a:r>
            <a:br/>
            <a:r>
              <a:t>执行层 PID+红外 → 解决"如何沿路走"</a:t>
            </a:r>
            <a:br/>
            <a:br/>
            <a:r>
              <a:t>优势：地图变更后自动重规划，无需人工铺设引导标识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2040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180000"/>
            <a:ext cx="1440000" cy="288000"/>
          </a:xfrm>
          <a:prstGeom prst="rect">
            <a:avLst/>
          </a:prstGeom>
          <a:noFill/>
        </p:spPr>
        <p:txBody>
          <a:bodyPr wrap="square">
            <a:spAutoFit/>
          </a:bodyPr>
          <a:lstStyle/>
          <a:p>
            <a:pPr algn="l">
              <a:defRPr sz="1400" b="0">
                <a:solidFill>
                  <a:srgbClr val="6B7B8D"/>
                </a:solidFill>
                <a:latin typeface="Microsoft YaHei"/>
              </a:defRPr>
            </a:pPr>
            <a:r>
              <a:t>PART  07</a:t>
            </a:r>
          </a:p>
        </p:txBody>
      </p:sp>
      <p:sp>
        <p:nvSpPr>
          <p:cNvPr id="4" name="TextBox 3"/>
          <p:cNvSpPr txBox="1"/>
          <p:nvPr/>
        </p:nvSpPr>
        <p:spPr>
          <a:xfrm>
            <a:off x="360000" y="432000"/>
            <a:ext cx="9000000" cy="324000"/>
          </a:xfrm>
          <a:prstGeom prst="rect">
            <a:avLst/>
          </a:prstGeom>
          <a:noFill/>
        </p:spPr>
        <p:txBody>
          <a:bodyPr wrap="square">
            <a:spAutoFit/>
          </a:bodyPr>
          <a:lstStyle/>
          <a:p>
            <a:pPr algn="l">
              <a:defRPr sz="2400" b="1">
                <a:solidFill>
                  <a:srgbClr val="1B2A4A"/>
                </a:solidFill>
                <a:latin typeface="Microsoft YaHei"/>
              </a:defRPr>
            </a:pPr>
            <a:r>
              <a:t>双环PID运动控制</a:t>
            </a:r>
          </a:p>
        </p:txBody>
      </p:sp>
      <p:sp>
        <p:nvSpPr>
          <p:cNvPr id="5" name="Rounded Rectangle 4"/>
          <p:cNvSpPr/>
          <p:nvPr/>
        </p:nvSpPr>
        <p:spPr>
          <a:xfrm>
            <a:off x="360000" y="792000"/>
            <a:ext cx="21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00000" y="6480000"/>
            <a:ext cx="1080000" cy="180000"/>
          </a:xfrm>
          <a:prstGeom prst="rect">
            <a:avLst/>
          </a:prstGeom>
          <a:noFill/>
        </p:spPr>
        <p:txBody>
          <a:bodyPr wrap="square">
            <a:spAutoFit/>
          </a:bodyPr>
          <a:lstStyle/>
          <a:p>
            <a:pPr algn="r">
              <a:defRPr sz="900" b="0">
                <a:solidFill>
                  <a:srgbClr val="6B7B8D"/>
                </a:solidFill>
                <a:latin typeface="Microsoft YaHei"/>
              </a:defRPr>
            </a:pPr>
            <a:r>
              <a:t>7/9</a:t>
            </a:r>
          </a:p>
        </p:txBody>
      </p:sp>
      <p:sp>
        <p:nvSpPr>
          <p:cNvPr id="7" name="Rounded Rectangle 6"/>
          <p:cNvSpPr/>
          <p:nvPr/>
        </p:nvSpPr>
        <p:spPr>
          <a:xfrm>
            <a:off x="0" y="6588000"/>
            <a:ext cx="12204000" cy="288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6623999"/>
            <a:ext cx="7200000" cy="180000"/>
          </a:xfrm>
          <a:prstGeom prst="rect">
            <a:avLst/>
          </a:prstGeom>
          <a:noFill/>
        </p:spPr>
        <p:txBody>
          <a:bodyPr wrap="square">
            <a:spAutoFit/>
          </a:bodyPr>
          <a:lstStyle/>
          <a:p>
            <a:pPr algn="l">
              <a:defRPr sz="800" b="0">
                <a:solidFill>
                  <a:srgbClr val="6B7B8D"/>
                </a:solidFill>
                <a:latin typeface="Microsoft YaHei"/>
              </a:defRPr>
            </a:pPr>
            <a:r>
              <a:t>齐鲁工业大学  机械工程学院</a:t>
            </a:r>
          </a:p>
        </p:txBody>
      </p:sp>
      <p:pic>
        <p:nvPicPr>
          <p:cNvPr id="18" name="Picture 17" descr="pid_step_response.png"/>
          <p:cNvPicPr>
            <a:picLocks noChangeAspect="1"/>
          </p:cNvPicPr>
          <p:nvPr/>
        </p:nvPicPr>
        <p:blipFill>
          <a:blip r:embed="rId3"/>
          <a:stretch>
            <a:fillRect/>
          </a:stretch>
        </p:blipFill>
        <p:spPr>
          <a:xfrm>
            <a:off x="24750" y="830651"/>
            <a:ext cx="3852465" cy="2408047"/>
          </a:xfrm>
          <a:prstGeom prst="rect">
            <a:avLst/>
          </a:prstGeom>
        </p:spPr>
      </p:pic>
      <p:sp>
        <p:nvSpPr>
          <p:cNvPr id="19" name="TextBox 18"/>
          <p:cNvSpPr txBox="1"/>
          <p:nvPr/>
        </p:nvSpPr>
        <p:spPr>
          <a:xfrm>
            <a:off x="629757" y="3278652"/>
            <a:ext cx="3024000" cy="144000"/>
          </a:xfrm>
          <a:prstGeom prst="rect">
            <a:avLst/>
          </a:prstGeom>
          <a:noFill/>
        </p:spPr>
        <p:txBody>
          <a:bodyPr wrap="square">
            <a:spAutoFit/>
          </a:bodyPr>
          <a:lstStyle/>
          <a:p>
            <a:pPr algn="ctr">
              <a:defRPr sz="800" b="1">
                <a:solidFill>
                  <a:srgbClr val="1B2A4A"/>
                </a:solidFill>
                <a:latin typeface="Microsoft YaHei"/>
              </a:defRPr>
            </a:pPr>
            <a:r>
              <a:rPr dirty="0" err="1"/>
              <a:t>阶跃响应</a:t>
            </a:r>
            <a:endParaRPr dirty="0"/>
          </a:p>
        </p:txBody>
      </p:sp>
      <p:pic>
        <p:nvPicPr>
          <p:cNvPr id="21" name="Picture 20" descr="pid_point_stabilization.png"/>
          <p:cNvPicPr>
            <a:picLocks noChangeAspect="1"/>
          </p:cNvPicPr>
          <p:nvPr/>
        </p:nvPicPr>
        <p:blipFill>
          <a:blip r:embed="rId4"/>
          <a:stretch>
            <a:fillRect/>
          </a:stretch>
        </p:blipFill>
        <p:spPr>
          <a:xfrm>
            <a:off x="3884751" y="866652"/>
            <a:ext cx="3891527" cy="2432464"/>
          </a:xfrm>
          <a:prstGeom prst="rect">
            <a:avLst/>
          </a:prstGeom>
        </p:spPr>
      </p:pic>
      <p:sp>
        <p:nvSpPr>
          <p:cNvPr id="22" name="TextBox 21"/>
          <p:cNvSpPr txBox="1"/>
          <p:nvPr/>
        </p:nvSpPr>
        <p:spPr>
          <a:xfrm>
            <a:off x="4049757" y="3278652"/>
            <a:ext cx="3024000" cy="144000"/>
          </a:xfrm>
          <a:prstGeom prst="rect">
            <a:avLst/>
          </a:prstGeom>
          <a:noFill/>
        </p:spPr>
        <p:txBody>
          <a:bodyPr wrap="square">
            <a:spAutoFit/>
          </a:bodyPr>
          <a:lstStyle/>
          <a:p>
            <a:pPr algn="ctr">
              <a:defRPr sz="800" b="1">
                <a:solidFill>
                  <a:srgbClr val="1B2A4A"/>
                </a:solidFill>
                <a:latin typeface="Microsoft YaHei"/>
              </a:defRPr>
            </a:pPr>
            <a:r>
              <a:t>定点镇定</a:t>
            </a:r>
          </a:p>
        </p:txBody>
      </p:sp>
      <p:pic>
        <p:nvPicPr>
          <p:cNvPr id="24" name="Picture 23" descr="pid_line_tracking.png"/>
          <p:cNvPicPr>
            <a:picLocks noChangeAspect="1"/>
          </p:cNvPicPr>
          <p:nvPr/>
        </p:nvPicPr>
        <p:blipFill>
          <a:blip r:embed="rId5"/>
          <a:stretch>
            <a:fillRect/>
          </a:stretch>
        </p:blipFill>
        <p:spPr>
          <a:xfrm>
            <a:off x="0" y="3720884"/>
            <a:ext cx="4031570" cy="2520000"/>
          </a:xfrm>
          <a:prstGeom prst="rect">
            <a:avLst/>
          </a:prstGeom>
        </p:spPr>
      </p:pic>
      <p:sp>
        <p:nvSpPr>
          <p:cNvPr id="25" name="TextBox 24"/>
          <p:cNvSpPr txBox="1"/>
          <p:nvPr/>
        </p:nvSpPr>
        <p:spPr>
          <a:xfrm>
            <a:off x="629757" y="6420884"/>
            <a:ext cx="3024000" cy="144000"/>
          </a:xfrm>
          <a:prstGeom prst="rect">
            <a:avLst/>
          </a:prstGeom>
          <a:noFill/>
        </p:spPr>
        <p:txBody>
          <a:bodyPr wrap="square">
            <a:spAutoFit/>
          </a:bodyPr>
          <a:lstStyle/>
          <a:p>
            <a:pPr algn="ctr">
              <a:defRPr sz="800" b="1">
                <a:solidFill>
                  <a:srgbClr val="1B2A4A"/>
                </a:solidFill>
                <a:latin typeface="Microsoft YaHei"/>
              </a:defRPr>
            </a:pPr>
            <a:r>
              <a:t>直线跟踪</a:t>
            </a:r>
          </a:p>
        </p:txBody>
      </p:sp>
      <p:pic>
        <p:nvPicPr>
          <p:cNvPr id="27" name="Picture 26" descr="pid_circle_tracking.png"/>
          <p:cNvPicPr>
            <a:picLocks noChangeAspect="1"/>
          </p:cNvPicPr>
          <p:nvPr/>
        </p:nvPicPr>
        <p:blipFill>
          <a:blip r:embed="rId6"/>
          <a:stretch>
            <a:fillRect/>
          </a:stretch>
        </p:blipFill>
        <p:spPr>
          <a:xfrm>
            <a:off x="3653757" y="3780000"/>
            <a:ext cx="4031570" cy="2520000"/>
          </a:xfrm>
          <a:prstGeom prst="rect">
            <a:avLst/>
          </a:prstGeom>
        </p:spPr>
      </p:pic>
      <p:sp>
        <p:nvSpPr>
          <p:cNvPr id="28" name="TextBox 27"/>
          <p:cNvSpPr txBox="1"/>
          <p:nvPr/>
        </p:nvSpPr>
        <p:spPr>
          <a:xfrm>
            <a:off x="4049757" y="6420884"/>
            <a:ext cx="3024000" cy="144000"/>
          </a:xfrm>
          <a:prstGeom prst="rect">
            <a:avLst/>
          </a:prstGeom>
          <a:noFill/>
        </p:spPr>
        <p:txBody>
          <a:bodyPr wrap="square">
            <a:spAutoFit/>
          </a:bodyPr>
          <a:lstStyle/>
          <a:p>
            <a:pPr algn="ctr">
              <a:defRPr sz="800" b="1">
                <a:solidFill>
                  <a:srgbClr val="1B2A4A"/>
                </a:solidFill>
                <a:latin typeface="Microsoft YaHei"/>
              </a:defRPr>
            </a:pPr>
            <a:r>
              <a:t>圆形跟踪</a:t>
            </a:r>
          </a:p>
        </p:txBody>
      </p:sp>
      <p:pic>
        <p:nvPicPr>
          <p:cNvPr id="35" name="图形 34">
            <a:extLst>
              <a:ext uri="{FF2B5EF4-FFF2-40B4-BE49-F238E27FC236}">
                <a16:creationId xmlns:a16="http://schemas.microsoft.com/office/drawing/2014/main" id="{D6806273-1DA8-436A-B7F2-DF33688A9B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30972" y="210884"/>
            <a:ext cx="4537000" cy="628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880000" y="1980000"/>
            <a:ext cx="1440000" cy="18000"/>
          </a:xfrm>
          <a:prstGeom prst="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0000" y="2232000"/>
            <a:ext cx="10080000" cy="900000"/>
          </a:xfrm>
          <a:prstGeom prst="rect">
            <a:avLst/>
          </a:prstGeom>
          <a:noFill/>
        </p:spPr>
        <p:txBody>
          <a:bodyPr wrap="square">
            <a:spAutoFit/>
          </a:bodyPr>
          <a:lstStyle/>
          <a:p>
            <a:pPr algn="ctr">
              <a:defRPr sz="4200" b="1">
                <a:solidFill>
                  <a:srgbClr val="FFFFFF"/>
                </a:solidFill>
              </a:defRPr>
            </a:pPr>
            <a:r>
              <a:t>感谢各位评委老师的评判指正</a:t>
            </a:r>
          </a:p>
        </p:txBody>
      </p:sp>
      <p:sp>
        <p:nvSpPr>
          <p:cNvPr id="5" name="Rectangle 4"/>
          <p:cNvSpPr/>
          <p:nvPr/>
        </p:nvSpPr>
        <p:spPr>
          <a:xfrm>
            <a:off x="2880000" y="3311999"/>
            <a:ext cx="1440000" cy="18000"/>
          </a:xfrm>
          <a:prstGeom prst="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3960000"/>
            <a:ext cx="8640000" cy="216000"/>
          </a:xfrm>
          <a:prstGeom prst="rect">
            <a:avLst/>
          </a:prstGeom>
          <a:noFill/>
        </p:spPr>
        <p:txBody>
          <a:bodyPr wrap="square">
            <a:spAutoFit/>
          </a:bodyPr>
          <a:lstStyle/>
          <a:p>
            <a:pPr algn="ctr">
              <a:defRPr sz="1600">
                <a:solidFill>
                  <a:srgbClr val="BBDEFB"/>
                </a:solidFill>
              </a:defRPr>
            </a:pPr>
            <a:r>
              <a:t>答辩人：王子煜    指导教师：刘鹏博</a:t>
            </a:r>
          </a:p>
        </p:txBody>
      </p:sp>
      <p:sp>
        <p:nvSpPr>
          <p:cNvPr id="7" name="TextBox 6"/>
          <p:cNvSpPr txBox="1"/>
          <p:nvPr/>
        </p:nvSpPr>
        <p:spPr>
          <a:xfrm>
            <a:off x="1800000" y="4320000"/>
            <a:ext cx="8640000" cy="216000"/>
          </a:xfrm>
          <a:prstGeom prst="rect">
            <a:avLst/>
          </a:prstGeom>
          <a:noFill/>
        </p:spPr>
        <p:txBody>
          <a:bodyPr wrap="square">
            <a:spAutoFit/>
          </a:bodyPr>
          <a:lstStyle/>
          <a:p>
            <a:pPr algn="ctr">
              <a:defRPr sz="1400">
                <a:solidFill>
                  <a:srgbClr val="BBDEFB"/>
                </a:solidFill>
              </a:defRPr>
            </a:pPr>
            <a:r>
              <a:t>齐鲁工业大学  机械工程学院</a:t>
            </a:r>
          </a:p>
        </p:txBody>
      </p:sp>
      <p:pic>
        <p:nvPicPr>
          <p:cNvPr id="8" name="Picture 7" descr="image.png"/>
          <p:cNvPicPr>
            <a:picLocks noChangeAspect="1"/>
          </p:cNvPicPr>
          <p:nvPr/>
        </p:nvPicPr>
        <p:blipFill>
          <a:blip r:embed="rId3"/>
          <a:stretch>
            <a:fillRect/>
          </a:stretch>
        </p:blipFill>
        <p:spPr>
          <a:xfrm>
            <a:off x="4253738" y="468000"/>
            <a:ext cx="3553125" cy="90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953</Words>
  <Application>Microsoft Office PowerPoint</Application>
  <PresentationFormat>宽屏</PresentationFormat>
  <Paragraphs>201</Paragraphs>
  <Slides>10</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等线</vt:lpstr>
      <vt:lpstr>宋体</vt:lpstr>
      <vt:lpstr>微软雅黑</vt: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
  <dc:description>generated using python-pptx</dc:description>
  <cp:lastModifiedBy>子煜 王</cp:lastModifiedBy>
  <cp:revision>8</cp:revision>
  <dcterms:created xsi:type="dcterms:W3CDTF">2013-01-27T09:14:16Z</dcterms:created>
  <dcterms:modified xsi:type="dcterms:W3CDTF">2026-06-05T06:20:23Z</dcterms:modified>
  <cp:category/>
</cp:coreProperties>
</file>