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9-4.jpg" ContentType="image/jpg"/>
  <Override PartName="/ppt/media/image-9-5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1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3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lw\code\lunwen\QLULatex\QLUThesisLatexTemplate-master\Thesis\static\figures\MainLOGO-pret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274320"/>
            <a:ext cx="18288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智能仓储自主移动机器人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结构设计与控制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38100">
            <a:solidFill>
              <a:srgbClr val="E891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9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3429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答辩人：王子煜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    号：202201230042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指导教师：刘鹏博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齐鲁工业大学 机械工程学院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280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0080" y="1874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06040" y="109728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06040" y="109728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325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7560" y="1280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2788920" y="1874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总体设计方案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754880" y="109728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54880" y="109728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1280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4937760" y="1874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机械结构设计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903720" y="109728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03720" y="109728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258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35240" y="1280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086600" y="1874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电气系统设计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57200" y="30175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7200" y="301752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8872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640080" y="3794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运动学建模与仿真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2606040" y="30175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606040" y="301752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324612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33756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26"/>
          <p:cNvSpPr/>
          <p:nvPr/>
        </p:nvSpPr>
        <p:spPr>
          <a:xfrm>
            <a:off x="2788920" y="3794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运动控制算法分析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4754880" y="30175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754880" y="3017520"/>
            <a:ext cx="54864" cy="1691640"/>
          </a:xfrm>
          <a:prstGeom prst="rect">
            <a:avLst/>
          </a:prstGeom>
          <a:solidFill>
            <a:srgbClr val="2D5F8A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246120"/>
            <a:ext cx="36576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864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0" name="Text 30"/>
          <p:cNvSpPr/>
          <p:nvPr/>
        </p:nvSpPr>
        <p:spPr>
          <a:xfrm>
            <a:off x="4937760" y="3794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一、研究背景与意义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市场驱动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E89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2024年全国网上零售额达15.5万亿元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快递业务量持续高速增长，仓储自动化需求迫切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E89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AGV市场规模：48.27亿（2019）→ 95.49亿（2024）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年复合增长率超过14%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研究空白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337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中小仓储环境自动化搬运方案不足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缺乏针对小型升降式机器人的系统研究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现有方案成本高、体积大、不适配小型仓库</a:t>
            </a:r>
            <a:endParaRPr lang="en-US" sz="1200" dirty="0"/>
          </a:p>
        </p:txBody>
      </p:sp>
      <p:pic>
        <p:nvPicPr>
          <p:cNvPr id="11" name="Image 1" descr="D:\bylw\code\lunwen\QLULatex\QLUThesisLatexTemplate-master\Thesis\static\figures\kuaidi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005840"/>
            <a:ext cx="3931920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  快递业务量统计（2020-2024）</a:t>
            </a:r>
            <a:endParaRPr lang="en-US" sz="900" dirty="0"/>
          </a:p>
        </p:txBody>
      </p:sp>
      <p:pic>
        <p:nvPicPr>
          <p:cNvPr id="13" name="Image 2" descr="D:\bylw\code\lunwen\QLULatex\QLUThesisLatexTemplate-master\Thesis\static\figures\AGV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46320" y="3108960"/>
            <a:ext cx="3931920" cy="1737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图2  AGV工作示意图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一、研究目标与主要任务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051560"/>
            <a:ext cx="1463040" cy="54864"/>
          </a:xfrm>
          <a:prstGeom prst="rect">
            <a:avLst/>
          </a:prstGeom>
          <a:solidFill>
            <a:srgbClr val="E8910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57200" y="1188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额定载荷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10515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103120" y="1051560"/>
            <a:ext cx="1463040" cy="54864"/>
          </a:xfrm>
          <a:prstGeom prst="rect">
            <a:avLst/>
          </a:prstGeom>
          <a:solidFill>
            <a:srgbClr val="E8910C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103120" y="1188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≥452mm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10312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升降行程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49040" y="1051560"/>
            <a:ext cx="1463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749040" y="1051560"/>
            <a:ext cx="1463040" cy="54864"/>
          </a:xfrm>
          <a:prstGeom prst="rect">
            <a:avLst/>
          </a:prstGeom>
          <a:solidFill>
            <a:srgbClr val="E8910C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749040" y="1188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30m/min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7490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最大速度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主要研究任务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2788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确定差速驱动+剪叉升降的整体方案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完成机械结构设计与强度校核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设计基于STM32的电气控制系统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实现Hybrid A*全局路径规划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设计双闭环PID运动控制算法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完成运动学建模与MATLAB仿真验证</a:t>
            </a:r>
            <a:endParaRPr lang="en-US" sz="1300" dirty="0"/>
          </a:p>
        </p:txBody>
      </p:sp>
      <p:pic>
        <p:nvPicPr>
          <p:cNvPr id="20" name="Image 1" descr="D:\bylw\code\lunwen\QLULatex\QLUThesisLatexTemplate-master\Thesis\static\figures\agv总体机械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94960" y="1005840"/>
            <a:ext cx="3291840" cy="34747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机器人整体结构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二、总体设计方案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驱动方式选型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D:\bylw\code\lunwen\QLULatex\QLUThesisLatexTemplate-master\Thesis\static\figures\danlunqudo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1554480"/>
            <a:ext cx="109728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单轮驱动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结构简单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转弯半径大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011680" y="1463040"/>
            <a:ext cx="1371600" cy="2011680"/>
          </a:xfrm>
          <a:prstGeom prst="rect">
            <a:avLst/>
          </a:prstGeom>
          <a:solidFill>
            <a:srgbClr val="E8F0FE"/>
          </a:solidFill>
          <a:ln w="25400">
            <a:solidFill>
              <a:srgbClr val="2D5F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01168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0116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结构紧凑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原地转向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463040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566160" y="14630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D:\bylw\code\lunwen\QLULatex\QLUThesisLatexTemplate-master\Thesis\static\figures\quanfangwei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03320" y="1554480"/>
            <a:ext cx="1097280" cy="10058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6616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全向驱动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56616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任意方向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结构复杂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5120640" y="100584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120640" y="1005840"/>
            <a:ext cx="54864" cy="3840480"/>
          </a:xfrm>
          <a:prstGeom prst="rect">
            <a:avLst/>
          </a:prstGeom>
          <a:solidFill>
            <a:srgbClr val="E8910C"/>
          </a:solidFill>
          <a:ln/>
        </p:spPr>
      </p:sp>
      <p:sp>
        <p:nvSpPr>
          <p:cNvPr id="22" name="Text 15"/>
          <p:cNvSpPr/>
          <p:nvPr/>
        </p:nvSpPr>
        <p:spPr>
          <a:xfrm>
            <a:off x="539496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整体方案确定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39496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驱动方案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67512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394960" y="2057400"/>
            <a:ext cx="31089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39496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升降机构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6751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剪叉式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394960" y="2560320"/>
            <a:ext cx="31089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39496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主控制器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6751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STM32F103C8T6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394960" y="3063240"/>
            <a:ext cx="31089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39496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驱动电机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67512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交流伺服电机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394960" y="3566160"/>
            <a:ext cx="31089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39496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控制算法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67512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双闭环PID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5394960" y="4069080"/>
            <a:ext cx="31089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39496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67512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A*</a:t>
            </a:r>
            <a:endParaRPr lang="en-US" sz="1300" dirty="0"/>
          </a:p>
        </p:txBody>
      </p:sp>
      <p:pic>
        <p:nvPicPr>
          <p:cNvPr id="40" name="Picture 39" descr="d:\bylw\code\lunwen\QLULatex\QLUThesisLatexTemplate-master\Thesis\static\figures\cha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554480"/>
            <a:ext cx="109728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二、方案选型对比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18288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选定方案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选定理由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单轮 / 差速 / 全向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5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差速驱动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结构紧凑，原地转向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升降机构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剪叉 / 门架 / 伸缩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5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剪叉式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承载力强，结构稳定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PLC / 工控机 / STM32 / DSP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5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STM32F103C8T6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性价比高，资源丰富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直流有刷/无刷 / 交流伺服 / 步进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5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交流伺服电机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精度高，响应快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控制算法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PID / 模糊控制 / MPC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5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双闭环PID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成熟可靠，易于实现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路径规划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 / A* / Hybrid A*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5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Hybrid A*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路径运动学可行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三、机械结构设计 — 剪叉升降机构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机械总装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05840"/>
            <a:ext cx="393192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机器人整体装配图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剪叉机构参数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46320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臂长 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46320" y="1947672"/>
            <a:ext cx="37490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19842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截面尺寸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09360" y="1984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mm × 4.8 mm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46320" y="2331720"/>
            <a:ext cx="37490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23682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09360" y="2368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Q235钢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846320" y="2715768"/>
            <a:ext cx="37490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27523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最低高度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09360" y="27523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mm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46320" y="3099816"/>
            <a:ext cx="37490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1363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最高高度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309360" y="3136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mm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846320" y="3483864"/>
            <a:ext cx="37490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4632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升降行程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0936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≈452 mm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46320" y="3977640"/>
            <a:ext cx="374904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运动学方程：H = L·sin(β) + h₀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三、关键部件强度校核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196596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5.56 MPa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综合应力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许用 156.7 MPa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14600" y="105156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051560"/>
            <a:ext cx="196596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10"/>
          <p:cNvSpPr/>
          <p:nvPr/>
        </p:nvSpPr>
        <p:spPr>
          <a:xfrm>
            <a:off x="2514600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51460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应力利用率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14600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安全裕度充足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05156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051560"/>
            <a:ext cx="1965960" cy="54864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66344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屈曲安全系数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63440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加侧向支撑后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12280" y="105156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12280" y="1051560"/>
            <a:ext cx="196596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0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MPa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1228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平台等效应力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12280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Q235钢许用范围内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0" y="274320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7548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校核结论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754880" y="32461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剪叉臂压弯组合应力远低于许用值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未加支撑时屈曲安全系数2.54（不满足）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增加侧向支撑后提升至10.14（满足）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铰销（18mm，45#钢）双剪承载72.3 kN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加载平台最大挠度仅0.47 mm</a:t>
            </a:r>
            <a:endParaRPr lang="en-US" sz="1200" dirty="0"/>
          </a:p>
        </p:txBody>
      </p:sp>
      <p:pic>
        <p:nvPicPr>
          <p:cNvPr id="30" name="Picture 29" descr="d:\bylw\code\lunwen\QLULatex\QLUThesisLatexTemplate-master\Thesis\static\figures\shengjiangt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0"/>
            <a:ext cx="39319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四、电气系统设计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STM32F103C8T6实物图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51560"/>
            <a:ext cx="2286000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34640" y="105156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01752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STM32F103C8T6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017520" y="1508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ARM Cortex-M3 内核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主频 72 MHz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Flash 64 KB / RAM 20 KB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37个GPIO引脚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支持SWD调试</a:t>
            </a:r>
            <a:endParaRPr lang="en-US" sz="1100" dirty="0"/>
          </a:p>
        </p:txBody>
      </p:sp>
      <p:pic>
        <p:nvPicPr>
          <p:cNvPr id="10" name="Image 2" descr="D:\bylw\code\lunwen\QLULatex\QLUThesisLatexTemplate-master\Thesis\static\figures\SMC80S-0040-30AoK-3DKH电机外形图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051560"/>
            <a:ext cx="1371600" cy="1828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498080" y="1051560"/>
            <a:ext cx="1371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49808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伺服电机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498080" y="14630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400W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 N·m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rpm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减速比 40:1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65760" y="310896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传感器配置</a:t>
            </a:r>
            <a:endParaRPr lang="en-US" sz="1500" dirty="0"/>
          </a:p>
        </p:txBody>
      </p:sp>
      <p:pic>
        <p:nvPicPr>
          <p:cNvPr id="16" name="Image 3" descr="D:\bylw\code\lunwen\QLULatex\QLUThesisLatexTemplate-master\Thesis\static\figures\TCRT500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611880"/>
            <a:ext cx="109728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4480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TCRT5000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红外传感器</a:t>
            </a:r>
            <a:endParaRPr lang="en-US" sz="900" dirty="0"/>
          </a:p>
        </p:txBody>
      </p:sp>
      <p:pic>
        <p:nvPicPr>
          <p:cNvPr id="18" name="Image 4" descr="D:\bylw\code\lunwen\QLULatex\QLUThesisLatexTemplate-master\Thesis\static\figures\HC-SR0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920240" y="3611880"/>
            <a:ext cx="1097280" cy="914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920240" y="4480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HC-SR04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超声波传感器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3291840" y="36118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循迹传感器：TCRT5000红外，检测距离1-25mm，5路布局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避障传感器：HC-SR04超声波，检测范围2-400cm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编码器：2500 P/R增量式，4倍频后10000脉冲/转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四、电气系统原理图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65760" y="4709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STM32芯片框图</a:t>
            </a:r>
            <a:endParaRPr lang="en-US" sz="900" dirty="0"/>
          </a:p>
        </p:txBody>
      </p:sp>
      <p:pic>
        <p:nvPicPr>
          <p:cNvPr id="8" name="Image 2" descr="D:\bylw\code\lunwen\QLULatex\QLUThesisLatexTemplate-master\Thesis\static\figures\最小系统原理图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005840"/>
            <a:ext cx="4206240" cy="3840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0" y="4709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STM32最小系统原理图</a:t>
            </a:r>
            <a:endParaRPr lang="en-US" sz="900" dirty="0"/>
          </a:p>
        </p:txBody>
      </p:sp>
      <p:pic>
        <p:nvPicPr>
          <p:cNvPr id="10" name="Picture 9" descr="d:\bylw\code\lunwen\QLULatex\QLUThesisLatexTemplate-master\Thesis\static\figures\stm32f103c8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五、运动学建模与仿真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free\运动学模型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05840"/>
            <a:ext cx="2743200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91840" y="100584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91840" y="1005840"/>
            <a:ext cx="54864" cy="22860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9" name="Text 5"/>
          <p:cNvSpPr/>
          <p:nvPr/>
        </p:nvSpPr>
        <p:spPr>
          <a:xfrm>
            <a:off x="347472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差速驱动运动学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15544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(vR + vL) / 2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(vR - vL) / 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ẋ = v·cosθ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ẏ = v·sinθ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θ̇ = ω</a:t>
            </a:r>
            <a:endParaRPr lang="en-US" sz="1300" dirty="0"/>
          </a:p>
        </p:txBody>
      </p:sp>
      <p:pic>
        <p:nvPicPr>
          <p:cNvPr id="11" name="Image 2" descr="D:\bylw\code\lunwen\QLULatex\QLUThesisLatexTemplate-master\Thesis\static\figures\free\四轨迹同步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1005840"/>
            <a:ext cx="2468880" cy="22860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56032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线速度 (m/s)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角速度 (rad/s)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路径长度 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圆弧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0.6sin(0.5t)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8字型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0.7sin(0.7t)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五、Hybrid A* 路径规划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hybrid_astar_resu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05840"/>
            <a:ext cx="4572000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20640" y="100584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120640" y="1005840"/>
            <a:ext cx="54864" cy="201168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9" name="Text 5"/>
          <p:cNvSpPr/>
          <p:nvPr/>
        </p:nvSpPr>
        <p:spPr>
          <a:xfrm>
            <a:off x="53035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算法参数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03520" y="1508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离散曲率：{-1.11, -0.52, 0, 0.52, 1.11} m⁻¹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运动基元：10个（前/后各5）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步长：0.5 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仓库地图：10m × 8m，5个货架障碍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120640" y="320040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120640" y="3200400"/>
            <a:ext cx="3657600" cy="54864"/>
          </a:xfrm>
          <a:prstGeom prst="rect">
            <a:avLst/>
          </a:prstGeom>
          <a:solidFill>
            <a:srgbClr val="E8910C"/>
          </a:solidFill>
          <a:ln/>
        </p:spPr>
      </p:sp>
      <p:sp>
        <p:nvSpPr>
          <p:cNvPr id="13" name="Text 9"/>
          <p:cNvSpPr/>
          <p:nvPr/>
        </p:nvSpPr>
        <p:spPr>
          <a:xfrm>
            <a:off x="53035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规划结果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0352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路径长度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76656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11.04 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4069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迭代次数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665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3134 次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0352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路径类型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7665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无障碍平滑路径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五、红外PID循迹仿真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sensor_layou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05840"/>
            <a:ext cx="256032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传感器布局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20040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3832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PID控制器参数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83280" y="1508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= 3.0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= 0.08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= 1.0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传感器权重：{-4, -2, 0, +2, +4}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5路TCRT5000红外传感器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10058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循迹精度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cm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40080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RMS横向误差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最大误差：6.8 cm</a:t>
            </a:r>
            <a:endParaRPr lang="en-US" sz="1100" dirty="0"/>
          </a:p>
        </p:txBody>
      </p:sp>
      <p:pic>
        <p:nvPicPr>
          <p:cNvPr id="17" name="Image 2" descr="D:\bylw\code\lunwen\QLULatex\QLUThesisLatexTemplate-master\Thesis\static\figures\line_following_traj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3200400"/>
            <a:ext cx="4114800" cy="1645920"/>
          </a:xfrm>
          <a:prstGeom prst="rect">
            <a:avLst/>
          </a:prstGeom>
        </p:spPr>
      </p:pic>
      <p:pic>
        <p:nvPicPr>
          <p:cNvPr id="18" name="Image 3" descr="D:\bylw\code\lunwen\QLULatex\QLUThesisLatexTemplate-master\Thesis\static\figures\line_following_erro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3200400"/>
            <a:ext cx="41148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六、运动控制算法 — 双闭环PID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pi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05840"/>
            <a:ext cx="45720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20640" y="10058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120640" y="1005840"/>
            <a:ext cx="54864" cy="2743200"/>
          </a:xfrm>
          <a:prstGeom prst="rect">
            <a:avLst/>
          </a:prstGeom>
          <a:solidFill>
            <a:srgbClr val="E8910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3035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控制器参数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035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外环（位姿环）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03520" y="1920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航向角：PID（Kp=3.0, Ki=0.2, Kd=0.4）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距离：比例控制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035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内环（轮速环）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左右轮：PI控制（Kp=17.0, Ki=103）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控制周期：Ts = 5 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03520" y="3383280"/>
            <a:ext cx="3291840" cy="27432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30352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积分分离 + 抗积分饱和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75000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48640" y="3790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级联控制结构：外环输出期望轮速 → 内环跟踪轮速 → PWM驱动电机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4110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外环周期20ms，内环周期5ms，实现高精度位姿跟踪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六、控制效果仿真验证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pic>
        <p:nvPicPr>
          <p:cNvPr id="6" name="Image 1" descr="D:\bylw\code\lunwen\QLULatex\QLUThesisLatexTemplate-master\Thesis\static\figures\pid_step_respon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05840"/>
            <a:ext cx="4023360" cy="1691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阶跃响应</a:t>
            </a:r>
            <a:endParaRPr lang="en-US" sz="1000" dirty="0"/>
          </a:p>
        </p:txBody>
      </p:sp>
      <p:pic>
        <p:nvPicPr>
          <p:cNvPr id="8" name="Image 2" descr="D:\bylw\code\lunwen\QLULatex\QLUThesisLatexTemplate-master\Thesis\static\figures\pid_point_stabiliza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05840"/>
            <a:ext cx="4023360" cy="1691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点镇定</a:t>
            </a:r>
            <a:endParaRPr lang="en-US" sz="1000" dirty="0"/>
          </a:p>
        </p:txBody>
      </p:sp>
      <p:pic>
        <p:nvPicPr>
          <p:cNvPr id="10" name="Image 3" descr="D:\bylw\code\lunwen\QLULatex\QLUThesisLatexTemplate-master\Thesis\static\figures\pid_line_tracki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5760" y="3017520"/>
            <a:ext cx="4023360" cy="16916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576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直线跟踪</a:t>
            </a:r>
            <a:endParaRPr lang="en-US" sz="1000" dirty="0"/>
          </a:p>
        </p:txBody>
      </p:sp>
      <p:pic>
        <p:nvPicPr>
          <p:cNvPr id="12" name="Image 4" descr="D:\bylw\code\lunwen\QLULatex\QLUThesisLatexTemplate-master\Thesis\static\figures\pid_circle_trackin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3440" y="3017520"/>
            <a:ext cx="4023360" cy="16916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6344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圆形轨迹跟踪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七、主要成果总结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54864" cy="6858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161288"/>
            <a:ext cx="457200" cy="457200"/>
          </a:xfrm>
          <a:prstGeom prst="ellipse">
            <a:avLst/>
          </a:prstGeom>
          <a:solidFill>
            <a:srgbClr val="2D5F8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整体方案设计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399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完成差速驱动+剪叉升降的整体方案，额定载荷50kg，升降行程452mm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54864" cy="6858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1938528"/>
            <a:ext cx="457200" cy="457200"/>
          </a:xfrm>
          <a:prstGeom prst="ellipse">
            <a:avLst/>
          </a:prstGeom>
          <a:solidFill>
            <a:srgbClr val="2D5F8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机械结构设计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21762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完成关键部件强度校核，应力利用率仅3.5%，屈曲安全系数10.14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606040"/>
            <a:ext cx="54864" cy="6858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rgbClr val="2D5F8A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电气控制系统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2953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基于STM32F103C8T6设计控制系统，集成伺服电机+红外/超声波传感器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" y="3383280"/>
            <a:ext cx="54864" cy="6858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6" name="Shape 23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D5F8A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160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71600" y="3730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实现Hybrid A*全局路径规划，生成11.04m无障碍平滑路径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4160520"/>
            <a:ext cx="54864" cy="6858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4270248"/>
            <a:ext cx="457200" cy="457200"/>
          </a:xfrm>
          <a:prstGeom prst="ellipse">
            <a:avLst/>
          </a:prstGeom>
          <a:solidFill>
            <a:srgbClr val="2D5F8A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716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371600" y="4507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设计双闭环PID控制器，位置误差厘米级，航向误差&lt;1°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七、不足与展望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存在不足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未进行实物样机测试验证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未与其他算法进行定量对比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运动学建模仅限二维平面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PID参数固定，缺乏自适应能力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系统集成调试尚未完成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制作实物样机并进行实验验证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建立动力学模型，考虑摩擦与惯性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引入模糊PID或MPC自适应控制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实现多机器人协调调度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扩展为三维空间运动规划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lw\code\lunwen\QLULatex\QLUThesisLatexTemplate-master\Thesis\static\figures\MainLOGO-pret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731520"/>
            <a:ext cx="18288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谢谢各位老师！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38100">
            <a:solidFill>
              <a:srgbClr val="E891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9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3840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答辩人：王子煜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指导教师：刘鹏博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齐鲁工业大学 机械工程学院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智能仓储自主移动机器人结构设计与控制 - 毕业答辩</dc:title>
  <dc:subject>PptxGenJS Presentation</dc:subject>
  <dc:creator>王子煜</dc:creator>
  <cp:lastModifiedBy>王子煜</cp:lastModifiedBy>
  <cp:revision>1</cp:revision>
  <dcterms:created xsi:type="dcterms:W3CDTF">2026-05-20T05:00:29Z</dcterms:created>
  <dcterms:modified xsi:type="dcterms:W3CDTF">2026-05-20T05:00:29Z</dcterms:modified>
</cp:coreProperties>
</file>