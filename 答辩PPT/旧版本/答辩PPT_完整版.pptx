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8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5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7918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312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665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30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809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995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740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485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23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162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588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38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389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D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rPr kumimoji="0" sz="4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智能仓储自主移动机器人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E8C547"/>
                </a:solidFill>
                <a:latin typeface="Microsoft YaHei"/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E8C547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结构设计与控制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>
                <a:solidFill>
                  <a:srgbClr val="999999"/>
                </a:solidFill>
                <a:latin typeface="Arial"/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Design and Control of Intelligent Warehouse Mobile Robot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4206240"/>
            <a:ext cx="3017520" cy="27432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0" y="4572000"/>
            <a:ext cx="484632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tabLst/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答辩人：王子煜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tabLst/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学号：202201230042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tabLst/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指导教师：刘鹏博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tabLst/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齐鲁工业大学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 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机械工程学院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14470" y="6217920"/>
            <a:ext cx="107273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2026年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6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月</a:t>
            </a:r>
          </a:p>
        </p:txBody>
      </p:sp>
      <p:pic>
        <p:nvPicPr>
          <p:cNvPr id="9" name="Picture 8" descr="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74320"/>
            <a:ext cx="21031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 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1005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63040" y="1005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研究背景与意义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1353312"/>
            <a:ext cx="6858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17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417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研究目标与任务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1764792"/>
            <a:ext cx="6858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828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1828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总体设计方案（驱动与升降）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2176272"/>
            <a:ext cx="6858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2402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63040" y="2240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总体设计方案（控制与规划）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2587752"/>
            <a:ext cx="6858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6517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63040" y="2651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机械结构设计（剪叉机构）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" y="2999232"/>
            <a:ext cx="6858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063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6304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机械结构设计（强度校核）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400" y="3410712"/>
            <a:ext cx="6858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4747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63040" y="3474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电气系统设计（控制器与电机）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14400" y="3822192"/>
            <a:ext cx="6858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886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63040" y="3886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电气系统设计（传感器与电路）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14400" y="4233672"/>
            <a:ext cx="6858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2976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63040" y="42976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运动学建模与仿真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14400" y="4645152"/>
            <a:ext cx="6858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463040" y="4709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路径规划与循迹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14400" y="5056632"/>
            <a:ext cx="6858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51206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463040" y="5120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运动控制算法设计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14400" y="5468112"/>
            <a:ext cx="6858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5532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463040" y="5532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运动控制仿真验证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14400" y="5879592"/>
            <a:ext cx="6858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5943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463040" y="5943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结论与展望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686800" y="1005840"/>
            <a:ext cx="3017520" cy="54864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869680" y="1188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052560" y="1645920"/>
            <a:ext cx="1097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05256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差速驱动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0332720" y="1645920"/>
            <a:ext cx="1097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33272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剪叉升降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9052560" y="2286000"/>
            <a:ext cx="1097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052560" y="2286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STM32F103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0332720" y="2286000"/>
            <a:ext cx="1097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332720" y="2286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Hybrid A*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052560" y="2926080"/>
            <a:ext cx="1097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052560" y="29260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双环PID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0332720" y="2926080"/>
            <a:ext cx="1097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332720" y="29260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MATLAB仿真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9052560" y="3566160"/>
            <a:ext cx="1097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052560" y="35661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运动学建模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10332720" y="3566160"/>
            <a:ext cx="1097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332720" y="35661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强度校核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研究背景与意义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65760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市场驱动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36576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44752"/>
            <a:ext cx="338328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2024年我国网络零售额达15.5万亿元，同比增长7.2%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连续12年保持全球最大网络零售市场地位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快递业务量持续高速增长，仓储自动化需求迫切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中国AGV市场规模：48.27亿→95.49亿元（2019-2024）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AMR市场2023年突破60亿元，年增长率超30%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移动机器人市场年复合增长率超14%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0" y="1005840"/>
            <a:ext cx="3657600" cy="36576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研究空白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06240" y="1371600"/>
            <a:ext cx="36576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444752"/>
            <a:ext cx="338328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中小型仓储自动化方案不足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缺乏小型升降式机器人研究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现有方案成本高、体积大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不适配小型仓库场景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50kg级举升机器人市场缺口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需兼顾导航、装卸与避障功能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005840"/>
            <a:ext cx="3749040" cy="3657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4" name="Text 12"/>
          <p:cNvSpPr/>
          <p:nvPr/>
        </p:nvSpPr>
        <p:spPr>
          <a:xfrm>
            <a:off x="8183880" y="10332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0" y="1371600"/>
            <a:ext cx="37490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83880" y="1444752"/>
            <a:ext cx="34747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电商规模持续扩大，仓储成为效率瓶颈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人工仓储无法匹配攀升的订单量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需兼顾自主导航、货物装卸与障碍规避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结构化仓储场景需高效安全的物料搬运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本文研究对象：举升式自主搬运机器人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206240"/>
            <a:ext cx="1143000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23367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AGV与AMR技术趋势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572000"/>
            <a:ext cx="114300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645152"/>
            <a:ext cx="1115568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AGV：依靠磁条/二维码等预设标识导航，适用于路径固定场景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AMR：引入激光雷达/视觉+SLAM，具备自主感知与动态决策能力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行业从'固定路径导引'向'自主感知决策'升级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环境感知、路径规划和任务调度需兼顾全局最优性与局部实时性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多机协同调度成为研究热点，深度强化学习（DQN、PPO）开始落地应用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研究目标与任务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4747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7190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额定载荷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0" y="1005840"/>
            <a:ext cx="34747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1097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114800" y="15087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17190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升降行程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63840" y="1005840"/>
            <a:ext cx="3931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863840" y="15087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m/min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63840" y="17190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最大速度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548640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95351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主要研究任务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54864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364992"/>
            <a:ext cx="521208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总体方案设计：确定差速底盘、驱动电机、升降机构、控制器和路径规划方案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机械结构设计：完成总体结构布局设计，并对剪叉式升降机构进行结构设计、运动学建模、受力分析及关键部件强度校核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电气系统设计：完成主控制器、电机、传感器选型及电路原理图设计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运动学建模、路径规划与仿真：建立差速运动学模型，利用MATLAB进行典型轨迹仿真，并基于Hybrid A*算法完成路径规划与红外循迹仿真验证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运动控制研究：设计双环PID控制器并通过仿真验证控制性能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结论与展望：总结成果，指出不足并提出改进方向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2926080"/>
            <a:ext cx="5760720" cy="36576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29535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设计目标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035040" y="3291840"/>
            <a:ext cx="57607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3364992"/>
            <a:ext cx="548640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移动机器人能够自主沿规划路径行驶，完成从取货点到目标货架之间的物料搬运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具备载物台升降功能，升降行程不小于0.4 m，以适应不同货架高度的搬运需求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具备基本的障碍物检测与避障能力，保障运行安全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外形尺寸紧凑，能够在狭窄通道中灵活通行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系统结构简洁、控制可靠、成本可控，适合实际部署与维护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总体设计方案（驱动与升降）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247120" y="502920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驱动方式对比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5486400" cy="1295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对比维度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单轮驱动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差速驱动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全方位驱动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结构复杂度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C528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较低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转弯半径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较大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C528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小（可原地转向）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控制难度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C528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制造成本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C528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较低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21792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升降机构对比</a:t>
            </a:r>
            <a:endParaRPr lang="en-US" sz="13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280160"/>
          <a:ext cx="5577840" cy="1295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对比维度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剪叉式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桅柱式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套筒式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结构紧凑性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C528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好（收缩高度小）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一般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好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承载能力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C528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中等偏高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较低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升降平稳性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C528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好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好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一般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行程/收缩比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C528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受导轨长度限制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365760" y="2743200"/>
            <a:ext cx="5486400" cy="36576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6"/>
          <p:cNvSpPr/>
          <p:nvPr/>
        </p:nvSpPr>
        <p:spPr>
          <a:xfrm>
            <a:off x="502920" y="27706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驱动选型结论：差速驱动</a:t>
            </a:r>
            <a:endParaRPr lang="en-US" sz="1400" dirty="0"/>
          </a:p>
        </p:txBody>
      </p:sp>
      <p:sp>
        <p:nvSpPr>
          <p:cNvPr id="8" name="Shape 7"/>
          <p:cNvSpPr/>
          <p:nvPr/>
        </p:nvSpPr>
        <p:spPr>
          <a:xfrm>
            <a:off x="365760" y="3108960"/>
            <a:ext cx="54864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502920" y="3182112"/>
            <a:ext cx="5212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结构紧凑，无需转向机构，可原地旋转（零转弯半径）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零部件标准化程度高，成本可控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控制策略基于左右轮速差，算法成熟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在结构复杂度、灵活性和成本间取得最优平衡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17920" y="2743200"/>
            <a:ext cx="5577840" cy="36576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6355080" y="277063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升降选型结论：剪叉式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217920" y="3108960"/>
            <a:ext cx="55778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6355080" y="3182112"/>
            <a:ext cx="5303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行程/收缩比大，收起高度小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传动平稳，平台水平度保持性好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承载能力可通过增减层数灵活配置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与轻载、紧凑、平稳三项核心需求高度吻合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274320" y="4800600"/>
            <a:ext cx="1143000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4"/>
          <p:cNvSpPr/>
          <p:nvPr/>
        </p:nvSpPr>
        <p:spPr>
          <a:xfrm>
            <a:off x="502920" y="48463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选型依据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365760" y="5029200"/>
            <a:ext cx="114300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411480" y="5715000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仓储通道空间有限，要求车辆具备较小的转弯半径和良好的转向灵活性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全方位驱动虽灵活性极佳，但结构复杂、成本高昂，属于功能冗余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剪叉式以紧凑结构实现较大行程/收缩比，传动平稳、无纵向尺寸冗余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差速驱动在结构复杂度、转弯灵活性和制造成本之间取得了较好的平衡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总体设计方案（控制与规划）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48640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3327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控制系统方案选择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54864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44752"/>
            <a:ext cx="52120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PLC：高可靠性但体积大、成本高、算法灵活性有限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工控机：计算能力强但功耗高、启动慢，不适合移动平台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DSP：高速信号处理但通用外设接口不及单片机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单片机（MCU）：体积小、功耗低、实时性强、成本低廉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本文选择ARM Cortex-M系列单片机为核心构建主控制器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005840"/>
            <a:ext cx="5760720" cy="36576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0" name="Text 8"/>
          <p:cNvSpPr/>
          <p:nvPr/>
        </p:nvSpPr>
        <p:spPr>
          <a:xfrm>
            <a:off x="6172200" y="10332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驱动电机方案选择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35040" y="1371600"/>
            <a:ext cx="57607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1444752"/>
            <a:ext cx="54864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直流有刷电机：结构简单但电刷磨损、换向火花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直流无刷电机：效率高但低速齿槽效应导致转矩脉动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步进电机：开环位置控制但高速转矩下降、丢步风险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交流伺服电机：闭环控制、调速范围宽、低速平稳性好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本文选择交流伺服电机，配合行星减速器实现低速大扭矩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566160"/>
            <a:ext cx="5486400" cy="3657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59359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运动控制算法选择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931920"/>
            <a:ext cx="548640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005072"/>
            <a:ext cx="521208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PID控制：实现难度低、计算量小、模型依赖低、稳态精度好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模糊控制：适合难以精确建模的系统，但规则库设计依赖经验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MPC：理论性能优异但计算量大，对控制器要求高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本文选择PID控制，通过双环级联结构兼顾轨迹跟踪与姿态调节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外环位姿环与内环轮速环，适合嵌入式平台的实时性要求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3566160"/>
            <a:ext cx="57607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35935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路径规划算法选择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35040" y="3931920"/>
            <a:ext cx="576072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4005072"/>
            <a:ext cx="548640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Dijkstra：全局最优但搜索效率低，节点扩展量大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标准A*：有启发引导但路径存在锯齿，需后处理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Hybrid A*：节点状态(x,y,θ)，运动学约束下近似最优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5种离散曲率运动基元，路径天然满足转弯半径约束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本文选择Hybrid A*，路径可直接交付底层控制器执行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机械结构设计（剪叉机构）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02920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332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机构结构组成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50292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44752"/>
            <a:ext cx="475488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剪叉臂杆：600mm，截面36mm×4.8mm Q235扁钢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底座固定铰座：约束平动自由度，仅允许转动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底座滑动导轨：为滑动端提供水平导向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中心铰轴：直径18mm，45号钢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承载平台：660mm×312mm×3mm Q235钢板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顶部滚轮机构：滚动摩擦代替滑动摩擦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77840" y="1005840"/>
            <a:ext cx="6217920" cy="36576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0" name="Text 8"/>
          <p:cNvSpPr/>
          <p:nvPr/>
        </p:nvSpPr>
        <p:spPr>
          <a:xfrm>
            <a:off x="5715000" y="103327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运动学分析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577840" y="1371600"/>
            <a:ext cx="621792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0" y="1444752"/>
            <a:ext cx="594360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台面高度：H = L·sin(β) + h₀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β = α/2（水平半角 = 臂杆夹角/2）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底部滑动端水平位移：x_s = L·cos(β)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最低位 β=9.55° → H_min ≈ 149mm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最高位 β=66.75° → H_max ≈ 600mm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理论最大升程约为452mm，满足0.4m设计指标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023360"/>
            <a:ext cx="5029200" cy="36576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02920" y="40233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材料选择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9223" y="4389120"/>
            <a:ext cx="5029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86383" y="4642558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剪叉臂杆：Q235普通碳素结构钢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屈服强度≥235MPa，抗拉强度375~500MPa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延伸率≥26%，弹性模量2.06×10⁵MPa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焊接性能良好，常温下具有良好韧性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销轴：45号优质碳素结构钢，调质处理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577840" y="4023360"/>
            <a:ext cx="621792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715000" y="402336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受力分析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577840" y="4315968"/>
            <a:ext cx="62179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715000" y="4901184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额定载荷 Q₀ = 50kg，载荷力 F = 490.5N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最危险工况：最低位（β=9.55°）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臂杆轴向力：F_arm = F/(4·sinβ) ≈ 739.1N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约为最高位时的5.5倍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自重弯矩 M_self ≈ 0.59 N·m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偏心弯矩 M_ecc ≈ 0.74 N·m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综合弯矩 M_max ≈ 1.33 N·m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机械结构设计（强度校核）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强度校核结果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5.56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99339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臂杆综合应力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28016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10.14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00400" y="199339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屈曲安全系数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72.3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035040" y="17830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199339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销轴承载力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869680" y="1280160"/>
            <a:ext cx="29260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1371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0.47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869680" y="17830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869680" y="19933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平台最大挠度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926080"/>
            <a:ext cx="548640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295351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臂杆强度校核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54864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364992"/>
            <a:ext cx="52120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轴向压应力 σ_a = F_arm/A ≈ 4.28 MPa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弯曲正应力 σ_b = M_max/W ≈ 1.28 MPa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压弯组合应力 σ_max = 5.56 MPa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许用应力 [σ] = 235/1.5 ≈ 156.7 MPa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应力利用率仅3.5%，具有充足安全余量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35040" y="2926080"/>
            <a:ext cx="5760720" cy="36576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29535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屈曲稳定性校核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035040" y="3291840"/>
            <a:ext cx="57607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3364992"/>
            <a:ext cx="54864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弱轴方向长细比 λ = 431.7 &gt; λ_p ≈ 104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属于大柔度压杆，采用欧拉公式计算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无侧向约束时安全系数 n ≈ 2.54 &lt; 3.0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增设侧向支撑后有效长度减半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安全系数提升至 n' ≈ 10.14，满足要求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5212080"/>
            <a:ext cx="5486400" cy="3657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523951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销轴与平台校核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65760" y="5577840"/>
            <a:ext cx="54864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5650992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销轴双面剪切承载力 F_pin ≈ 72.3 kN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销轴弯曲应力约8.7 MPa，耳板承压应力约6.8 MPa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平台最大挠度0.47mm，von Mises等效应力14.1 MPa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035040" y="5212080"/>
            <a:ext cx="576072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172200" y="52120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有限元数值验证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035040" y="5577840"/>
            <a:ext cx="57607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172200" y="52120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臂杆采用30个平面梁单元离散，组合应力FEA解约5.60MPa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与理论值5.56MPa偏差&lt;1%，相互验证可靠性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台面板采用Navier级数解取前21×21项计算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电气系统设计（控制器与电机）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65760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主控制器：STM32F103C8T6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36576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44752"/>
            <a:ext cx="338328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ARM Cortex-M3内核，主频72MHz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Flash 64KB / RAM 20KB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37个GPIO，12位ADC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定时器编码器接口（四倍频）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SWD调试接口，低功耗低成本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0" y="1005840"/>
            <a:ext cx="3657600" cy="36576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驱动电机：SMC80S伺服电机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06240" y="1371600"/>
            <a:ext cx="36576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444752"/>
            <a:ext cx="338328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额定功率 400W，额定转矩 1.27 N·m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额定转速 3000 rpm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瞬时最大转矩 3.81 N·m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2500P/R增量编码器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闭环控制，低速平稳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005840"/>
            <a:ext cx="3749040" cy="3657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4" name="Text 12"/>
          <p:cNvSpPr/>
          <p:nvPr/>
        </p:nvSpPr>
        <p:spPr>
          <a:xfrm>
            <a:off x="8183880" y="10332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减速器：ZJPX115行星减速器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0" y="1371600"/>
            <a:ext cx="37490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83880" y="1444752"/>
            <a:ext cx="347472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减速比40:1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满载效率93%（二级传动）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平均寿命20000小时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结构紧凑，传动平稳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输出扭矩满足驱动轮需求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023360"/>
            <a:ext cx="548640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05079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电机选型计算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436" y="4416552"/>
            <a:ext cx="54864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02920" y="480060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驱动轮转速 N = V/(πD) ≈ 53.05 r/min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满载总质量250kg，综合阻力系数μ=0.2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总阻力 f = μ·m·g = 500 N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单轮牵引力 F = 250N，输出转矩 M = 22.5 N·m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理论功率 Pw = 0.125kW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选400W伺服电机，过载3倍峰值152.4 N·m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4023360"/>
            <a:ext cx="5760720" cy="36576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40507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减速器选型依据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035040" y="4389120"/>
            <a:ext cx="57607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4462272"/>
            <a:ext cx="548640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理论总传动比 i = 3000/53.05 ≈ 56.55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实际选用减速比40，通过伺服驱动器限速补偿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电机最高转速限制在约2122 r/min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减速后轮速约53.05 r/min，对应线速度30 m/min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连续输出扭矩约47.2 N·m，满足22.5 N·m需求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电气系统设计（传感器与电路）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65760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红外传感器：TCRT5000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36576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44752"/>
            <a:ext cx="338328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反射式光电传感器，集发射与接收于一体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有效检测距离1~25mm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输出数字量（高低电平）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板载LM393比较器和电位器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主要用于地面轨迹线检测（循迹）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0" y="1005840"/>
            <a:ext cx="3657600" cy="36576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超声波传感器：HC-SR04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06240" y="1371600"/>
            <a:ext cx="36576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444752"/>
            <a:ext cx="338328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工作电压5V，测距范围2~400cm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测量精度可达3mm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发射40kHz超声波脉冲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通过Echo高电平持续时间计算距离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用于中远距离障碍物检测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005840"/>
            <a:ext cx="3749040" cy="3657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4" name="Text 12"/>
          <p:cNvSpPr/>
          <p:nvPr/>
        </p:nvSpPr>
        <p:spPr>
          <a:xfrm>
            <a:off x="8183880" y="10332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编码器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0" y="1371600"/>
            <a:ext cx="37490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83880" y="1444752"/>
            <a:ext cx="347472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SMC80S电机自带增量式光电编码器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分辨率2500 P/R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经4倍频后每转输出10000个脉冲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可精确测量左右轮转速和转角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构成航位推算（Dead Reckoning）系统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840480"/>
            <a:ext cx="548640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86791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电源与电路设计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206240"/>
            <a:ext cx="54864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02920" y="402336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锂离子电池组主电源，DC-DC变换器分级供电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ME6211C33 LDO芯片提供稳定3.3V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SOT-23-5封装，最大输出电流500mA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8MHz外部晶振提供时钟信号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SWD两线调试协议实现程序烧录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复位电路保证异常时恢复正常运行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3840480"/>
            <a:ext cx="5760720" cy="36576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38679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传感器接口电路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035040" y="4206240"/>
            <a:ext cx="576072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4279392"/>
            <a:ext cx="548640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TCRT5000输出数字量，直接连接STM32 GPIO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信号线上加10kΩ上拉电阻拉高到3.3V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100nF去耦电容滤除高频噪声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HC-SR04 Trig连接PA1，Echo连接PA2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Echo为5V电平，需确认引脚5V容限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 运动学建模与仿真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02920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332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差速驱动运动学模型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5029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44752"/>
            <a:ext cx="475488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中心线速度：v = (v_R + v_L) / 2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角速度：ω = (v_R - v_L) / L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转弯半径：R = v/ω = (L/2)·(v_L+v_R)/(v_R-v_L)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状态方程：ẋ=v·cosθ, ẏ=v·sinθ, θ̇=ω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轮半径 r = 0.09m，轮距 L = 0.52m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77840" y="10058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四类典型轨迹仿真结果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280160"/>
          <a:ext cx="6217920" cy="12954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路径/m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位移/m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最大角速度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最大曲率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9.0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9.0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圆弧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1.521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0.45 rad/s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1.286 m⁻¹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S形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5.269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0.60 rad/s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1.500 m⁻¹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5.817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0.70 rad/s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1.842 m⁻¹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65760" y="3840480"/>
            <a:ext cx="502920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0" name="Text 9"/>
          <p:cNvSpPr/>
          <p:nvPr/>
        </p:nvSpPr>
        <p:spPr>
          <a:xfrm>
            <a:off x="502920" y="38679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仿真参数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65760" y="4206240"/>
            <a:ext cx="50292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4279392"/>
            <a:ext cx="47548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初始位姿：(0, 0, 0)，积分步长 dt = 0.01s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直线：v=0.45m/s, ω=0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圆弧：v=0.35m/s, ω=0.45rad/s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S形：v=0.40m/s, ω=0.6sin(0.5t)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8字：v=0.38m/s, ω=0.7sin(0.7t)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577840" y="3840480"/>
            <a:ext cx="6217920" cy="36576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6" name="Text 13"/>
          <p:cNvSpPr/>
          <p:nvPr/>
        </p:nvSpPr>
        <p:spPr>
          <a:xfrm>
            <a:off x="5715000" y="386791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仿真结论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577840" y="4206240"/>
            <a:ext cx="62179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15000" y="4279392"/>
            <a:ext cx="59436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直线：左右轮角速度完全重合，直行能力验证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圆弧：两轮角速度保持恒定差值，稳态转弯特性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S形/8字：轮速周期性变化，连续变曲率工况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8字轮速波动最大，对动态调节要求最高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差速底盘在各类工况下运动学响应符合预期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 路径规划与循迹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48640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3327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Hybrid A*路径规划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54864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44752"/>
            <a:ext cx="521208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地图：10m×8m仓储环境，栅格分辨率0.2m，5个货架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起点(1.0,1.0,0°)，终点(9.0,7.0,90°)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5种离散曲率κ∈{-1.11,-0.52,0,0.52,1.11} m⁻¹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3134次迭代，路径总长11.04m，25个节点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路径天然满足差速运动学约束，可直接执行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采用差速运动学模型的连续曲率运动基元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005840"/>
            <a:ext cx="5760720" cy="36576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0" name="Text 8"/>
          <p:cNvSpPr/>
          <p:nvPr/>
        </p:nvSpPr>
        <p:spPr>
          <a:xfrm>
            <a:off x="6172200" y="10332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红外传感器PID循迹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35040" y="1371600"/>
            <a:ext cx="57607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1444752"/>
            <a:ext cx="548640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5路TCRT5000红外，间距40mm，前向80mm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权重{-4,-2,0,+2,+4}加权平均偏移量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PID参数：Kp=3.0, Ki=0.08, Kd=1.0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丢线时偏移量×1.5倍外推补偿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标称行驶速度0.3m/s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传感器阵列总覆盖宽度160mm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840480"/>
            <a:ext cx="1143000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6791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循迹仿真结果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4206240"/>
            <a:ext cx="114300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279392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RMS横向误差 1.5cm，最大横向误差 6.8cm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传感器阵列总覆盖宽度160mm，最大误差在覆盖范围内，检测裕量充足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循迹过程耗时36.2s，控制器响应及时，纠偏过程平稳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5486400"/>
            <a:ext cx="11430000" cy="36576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Text 16"/>
          <p:cNvSpPr/>
          <p:nvPr/>
        </p:nvSpPr>
        <p:spPr>
          <a:xfrm>
            <a:off x="502920" y="55138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两层导航架构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0040" y="5824728"/>
            <a:ext cx="114300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0" name="Text 18"/>
          <p:cNvSpPr/>
          <p:nvPr/>
        </p:nvSpPr>
        <p:spPr>
          <a:xfrm>
            <a:off x="457200" y="5577840"/>
            <a:ext cx="11201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全局规划层（Hybrid A*路径决策）+ 局部循迹层（PID跟踪执行）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 err="1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规划层负责路径决策，循迹层负责跟踪执行</a:t>
            </a:r>
            <a:endParaRPr lang="en-US" sz="900" dirty="0">
              <a:solidFill>
                <a:srgbClr val="2D3748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Hybrid A*解决'</a:t>
            </a:r>
            <a:r>
              <a:rPr lang="en-US" sz="900" dirty="0" err="1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走哪条路</a:t>
            </a: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'，</a:t>
            </a:r>
            <a:r>
              <a:rPr lang="en-US" sz="900" dirty="0" err="1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红外循迹解决'如何沿路走</a:t>
            </a:r>
            <a:r>
              <a:rPr lang="en-US" sz="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'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 运动控制算法设计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48640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3327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PID控制原理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54864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44752"/>
            <a:ext cx="521208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比例环节：对当前偏差进行即时响应，提供控制作用主体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积分环节：对历史偏差累积，消除长时间运行中的稳态误差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微分环节：对偏差变化趋势预估，抑制超调和减小振荡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输出：u(t) = K_p·e(t) + K_i·∫e(τ)dτ + K_d·de(t)/dt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三个环节相互配合，物理意义明确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005840"/>
            <a:ext cx="5760720" cy="36576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0" name="Text 8"/>
          <p:cNvSpPr/>
          <p:nvPr/>
        </p:nvSpPr>
        <p:spPr>
          <a:xfrm>
            <a:off x="6172200" y="10332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双环PID控制结构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35040" y="1371600"/>
            <a:ext cx="576072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1444752"/>
            <a:ext cx="548640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外环（位姿环，20ms）：航向PID Kp=3.0,Ki=0.2,Kd=0.4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外环：距离比例控制 Kp=0.6 → 期望轮速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内环（轮速环，5ms）：左右轮PI Kp=17.0,Ki=103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内环：快速跟踪期望轮速 → PWM驱动电机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积分分离 + 抗积分饱和策略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内环200Hz &gt; 外环50Hz，保证内环优先收敛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023360"/>
            <a:ext cx="5486400" cy="3657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05079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控制律设计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4389120"/>
            <a:ext cx="54864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462272"/>
            <a:ext cx="521208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外环输出(v_cmd, ω_cmd)经差速逆运动学转换为轮速指令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ω_L,ref = v_cmd/r - ω_cmd·L/(2r)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ω_R,ref = v_cmd/r + ω_cmd·L/(2r)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内环对左右轮各配置一个PI控制器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速度环采用PI而非PID，避免微分项引入噪声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4023360"/>
            <a:ext cx="57607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40507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实现细节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35040" y="4389120"/>
            <a:ext cx="57607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4462272"/>
            <a:ext cx="548640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控制器以定时器中断方式周期性执行，中断周期Ts=5ms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编码器脉冲计数→轮速计算→外环PID→逆运动学→内环PI→PWM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积分分离：偏差&gt;8.0 rad/s时清零积分项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遇限削弱积分：输出超出±24V时停止正向积分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轮速估算采用M法：ω = 2π·ΔN/(10000·Ts)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 运动控制仿真验证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四场景仿真验证结果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5486400" cy="18135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测试场景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评价指标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阶跃响应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速度稳态误差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C528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 0 m/s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定点镇定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终点位置误差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C528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(0.022, -0.007) 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终点航向误差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C528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-0.89°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直线跟踪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角速度RMSE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C528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0.0023 rad/s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圆形跟踪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轨迹圆度RMSE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C528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0.020 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线速度RMSE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C528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0.0086 m/s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035040" y="1005840"/>
            <a:ext cx="57607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8" name="Text 5"/>
          <p:cNvSpPr/>
          <p:nvPr/>
        </p:nvSpPr>
        <p:spPr>
          <a:xfrm>
            <a:off x="6172200" y="10332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阶跃响应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035040" y="1371600"/>
            <a:ext cx="576072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72200" y="1444752"/>
            <a:ext cx="548640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2.5s时施加0.3m/s线速度阶跃指令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速度响应无超调、无明显振荡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调节时间约0.8s，稳态速度误差≈0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左右轮速指令保持一致，角速度维持零附近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航向角全程保持0°，未出现航向偏移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35040" y="4023360"/>
            <a:ext cx="5760720" cy="36576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2" name="Text 9"/>
          <p:cNvSpPr/>
          <p:nvPr/>
        </p:nvSpPr>
        <p:spPr>
          <a:xfrm>
            <a:off x="6172200" y="40507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定点镇定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035040" y="4389120"/>
            <a:ext cx="57607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72200" y="4462272"/>
            <a:ext cx="548640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目标位姿(2.0, 1.0, π/4)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终点位置误差(0.022, -0.007) m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终点航向误差-0.89°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分两阶段收敛：朝向目标→姿态微调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距离缩小至8cm后主要进行原地姿态调整</a:t>
            </a:r>
            <a:endParaRPr lang="en-US" sz="1200" dirty="0"/>
          </a:p>
        </p:txBody>
      </p:sp>
      <p:sp>
        <p:nvSpPr>
          <p:cNvPr id="6" name="Shape 12"/>
          <p:cNvSpPr/>
          <p:nvPr/>
        </p:nvSpPr>
        <p:spPr>
          <a:xfrm>
            <a:off x="365760" y="4023360"/>
            <a:ext cx="5486400" cy="3657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6" name="Text 13"/>
          <p:cNvSpPr/>
          <p:nvPr/>
        </p:nvSpPr>
        <p:spPr>
          <a:xfrm>
            <a:off x="502920" y="405079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直线与圆形跟踪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65760" y="4389120"/>
            <a:ext cx="54864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4462272"/>
            <a:ext cx="521208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直线跟踪：稳态角速度RMSE 0.0023 rad/s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航向角始终维持0°附近，直线保持能力良好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圆形跟踪：轨迹圆度RMSE 0.020 m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线速度RMSE 0.0086 m/s，角速度RMSE 0.0031 rad/s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以恒定角速度平稳完成圆周运动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 结论与展望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48640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3327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主要成果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548640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44752"/>
            <a:ext cx="521208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总体方案设计：经过单轮驱动、差速驱动和全方位驱动的对比分析，确定了双轮差速驱动方案。关键技术指标为：额定载重50kg、举升行程0.4m、最大行驶速度30m/min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机械结构设计：完成了总体结构布局设计，并对剪叉式升降机构进行了结构设计、运动学建模、受力分析及强度校核。臂杆压弯组合应力为5.56MPa，承载平台von Mises等效应力为14.1MPa，均远低于Q235钢许用应力156.7MPa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电气系统设计：选用STM32F103C8T6主控芯片、SMC80S伺服电机与ZJPX115行星减速器、TCRT5000红外传感器和HC-SR04超声波传感器，完成了硬件接口和最小系统电路设计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运动学建模与路径规划：建立了差速底盘运动学模型，采用Hybrid A*算法在仓储地图上规划无碰撞路径（长度11.04m），循迹控制RMS横向误差1.5cm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运动控制：设计了双环PID控制器（位姿外环与轮速内环），在阶跃响应、定点镇定、直线跟踪和圆形轨迹跟踪四类工况下验证了有效性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005840"/>
            <a:ext cx="5760720" cy="36576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0" name="Text 8"/>
          <p:cNvSpPr/>
          <p:nvPr/>
        </p:nvSpPr>
        <p:spPr>
          <a:xfrm>
            <a:off x="6172200" y="10332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存在不足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35040" y="1371600"/>
            <a:ext cx="57607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1444752"/>
            <a:ext cx="54864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未进行实物样机测试验证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未与其他算法定量对比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运动学建模仅限二维平面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PID参数固定缺乏自适应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系统集成调试尚未完成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3200400"/>
            <a:ext cx="5760720" cy="3657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32278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改进方向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35040" y="3566160"/>
            <a:ext cx="57607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3639312"/>
            <a:ext cx="54864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制作实物样机并实验验证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建立动力学模型考虑摩擦惯性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引入模糊PID或MPC自适应控制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实现多机器人协调调度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增加视觉SLAM自主导航</a:t>
            </a:r>
            <a:endParaRPr lang="en-US" sz="1200" dirty="0"/>
          </a:p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扩展为三维空间运动规划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5852160"/>
            <a:ext cx="1143000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587959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应用前景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6217920"/>
            <a:ext cx="11430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29107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" indent="-1524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适用于中小型仓储、车间物料配送和轻载搬运等场景，可承担货物转运、工位配送、自动上下料等任务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D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rPr kumimoji="0" sz="5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谢谢各位老师！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>
                <a:solidFill>
                  <a:srgbClr val="E8C547"/>
                </a:solidFill>
                <a:latin typeface="Microsoft YaHei"/>
              </a:defRPr>
            </a:pPr>
            <a:r>
              <a:rPr kumimoji="0" sz="2800" b="0" i="0" u="none" strike="noStrike" kern="1200" cap="none" spc="0" normalizeH="0" baseline="0" noProof="0">
                <a:ln>
                  <a:noFill/>
                </a:ln>
                <a:solidFill>
                  <a:srgbClr val="E8C547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敬请批评指正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4206240"/>
            <a:ext cx="3017520" cy="27432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0" y="45720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tabLst/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答辩人：王子煜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tabLst/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指导教师：刘鹏博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tabLst/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齐鲁工业大学  机械工程学院</a:t>
            </a:r>
          </a:p>
        </p:txBody>
      </p:sp>
      <p:pic>
        <p:nvPicPr>
          <p:cNvPr id="7" name="Picture 6" descr="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2103120" cy="822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2032</Words>
  <Application>Microsoft Office PowerPoint</Application>
  <PresentationFormat>宽屏</PresentationFormat>
  <Paragraphs>478</Paragraphs>
  <Slides>16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等线</vt:lpstr>
      <vt:lpstr>Microsoft YaHei</vt:lpstr>
      <vt:lpstr>Arial</vt:lpstr>
      <vt:lpstr>Calibri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智能仓储自主移动机器人结构设计与控制</dc:title>
  <dc:subject>PptxGenJS Presentation</dc:subject>
  <dc:creator>王子煜</dc:creator>
  <cp:lastModifiedBy>子煜 王</cp:lastModifiedBy>
  <cp:revision>3</cp:revision>
  <dcterms:created xsi:type="dcterms:W3CDTF">2026-05-28T15:27:17Z</dcterms:created>
  <dcterms:modified xsi:type="dcterms:W3CDTF">2026-06-02T05:56:29Z</dcterms:modified>
</cp:coreProperties>
</file>