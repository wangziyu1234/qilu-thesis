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56" r:id="rId8"/>
    <p:sldId id="257" r:id="rId9"/>
    <p:sldId id="258" r:id="rId10"/>
    <p:sldId id="259" r:id="rId11"/>
    <p:sldId id="260" r:id="rId7"/>
    <p:sldId id="261" r:id="rId6"/>
    <p:sldId id="262" r:id="rId5"/>
    <p:sldId id="263" r:id="rId4"/>
    <p:sldId id="264" r:id="rId3"/>
    <p:sldId id="265" r:id="rId17"/>
    <p:sldId id="26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44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4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17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6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2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7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4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3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5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64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76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687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204000" cy="1260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智能仓储移动机器人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</a:defRPr>
            </a:pPr>
            <a:r>
              <a:t>结构设计与运动控制研究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70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CAF9"/>
                </a:solidFill>
              </a:defRPr>
            </a:pPr>
            <a:r>
              <a:t>Design and Control of Intelligent Warehouse Mobile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3420000"/>
            <a:ext cx="6480000" cy="108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78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</a:defRPr>
            </a:pPr>
            <a:r>
              <a:t>答辩人：王梓煜    学号：202201230042    指导教师：曹树春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068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</a:defRPr>
            </a:pPr>
            <a:r>
              <a:t>齐鲁工业大学  机械工程学院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50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2026年6月</a:t>
            </a:r>
          </a:p>
        </p:txBody>
      </p:sp>
      <p:pic>
        <p:nvPicPr>
          <p:cNvPr id="11" name="Picture 10" descr="MainLOGO-pret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4860000"/>
            <a:ext cx="426375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687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204000" cy="576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0" y="10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DEFB"/>
                </a:solidFill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90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0000" y="90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9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97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122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研究现状、目标与方法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162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0000" y="162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169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0" y="169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机械结构设计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0" y="194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总装布局、升降机构、强度校核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34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0000" y="234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241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241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电气系统设计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266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主控、电机、传感器、电路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06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0000" y="306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000" y="3131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3131999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运动学建模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338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差速模型、速度与位姿关系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378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0000" y="378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000" y="3851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0000" y="3851999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轨迹仿真验证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0000" y="410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直线/圆弧/S形/8字轨迹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000" y="450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0000" y="450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45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0000" y="457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路径规划与循迹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60000" y="482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Hybrid A* + PID红外循迹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000" y="522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0000" y="522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0000" y="529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60000" y="529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运动基元与算法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60000" y="5544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5种曲率基元、算法流程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0000" y="5940000"/>
            <a:ext cx="10800000" cy="61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0000" y="5940000"/>
            <a:ext cx="54000" cy="612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0000" y="601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83593"/>
                </a:solidFill>
              </a:defRPr>
            </a:pPr>
            <a: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60000" y="6012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双环PID控制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0000" y="6263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级联结构、四项仿真验证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研究背景与意义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1/11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720000"/>
            <a:ext cx="5580000" cy="2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792000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3593"/>
                </a:solidFill>
              </a:defRPr>
            </a:pPr>
            <a:r>
              <a:t>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044000"/>
            <a:ext cx="52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2024年网络零售额15.5万亿元，连续12年全球最大网络零售市场。电商规模持续扩大，仓储物流环节成为效率瓶颈。自主移动机器人(AMR)凭借激光SLAM、视觉感知和自主决策能力，成为智能仓储的核心装备。</a:t>
            </a:r>
            <a:br/>
            <a:br/>
            <a:r>
              <a:t>AGV行业规模从48.27亿攀升至95.49亿元，AMR市场突破60亿元，年增长率超30%。行业从"固定路径导引"向"自主感知决策"升级。</a:t>
            </a:r>
          </a:p>
        </p:txBody>
      </p:sp>
      <p:pic>
        <p:nvPicPr>
          <p:cNvPr id="11" name="Picture 10" descr="kuaid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720000"/>
            <a:ext cx="5580000" cy="3333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0000" y="2268000"/>
            <a:ext cx="55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图  2020-2024年人均用邮与快递情况</a:t>
            </a:r>
          </a:p>
        </p:txBody>
      </p:sp>
      <p:pic>
        <p:nvPicPr>
          <p:cNvPr id="13" name="Picture 12" descr="AG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3600000"/>
            <a:ext cx="2880000" cy="1806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0000" y="5148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AGV工作示意图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0000" y="3600000"/>
            <a:ext cx="5580000" cy="234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0" y="3671999"/>
            <a:ext cx="52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研究目标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924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① 自主沿规划路径行驶，完成物料搬运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4122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② 载物台升降，行程≥0.4m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4320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③ 基本障碍物检测与避障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4518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④ 外形紧凑，狭窄通道灵活通行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4716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⑤ 结构简洁、控制可靠、成本可控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5400000"/>
            <a:ext cx="1800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5436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565C0"/>
                </a:solidFill>
              </a:defRPr>
            </a:pPr>
            <a:r>
              <a:t>额定载重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5616000"/>
            <a:ext cx="16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</a:defRPr>
            </a:pPr>
            <a:r>
              <a:t>50 kg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0000" y="5400000"/>
            <a:ext cx="1800000" cy="54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2000" y="5436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E7D32"/>
                </a:solidFill>
              </a:defRPr>
            </a:pPr>
            <a:r>
              <a:t>升降行程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2000" y="5616000"/>
            <a:ext cx="16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0.4 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0" y="5400000"/>
            <a:ext cx="1800000" cy="54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2000" y="5436000"/>
            <a:ext cx="165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65100"/>
                </a:solidFill>
              </a:defRPr>
            </a:pPr>
            <a:r>
              <a:t>最大速度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2000" y="5616000"/>
            <a:ext cx="16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30 m/min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机械结构设计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2/11</a:t>
            </a:r>
          </a:p>
        </p:txBody>
      </p:sp>
      <p:pic>
        <p:nvPicPr>
          <p:cNvPr id="8" name="Picture 7" descr="机械总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3960000" cy="24633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780000"/>
            <a:ext cx="39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智能仓储移动机器人总体结构</a:t>
            </a:r>
          </a:p>
        </p:txBody>
      </p:sp>
      <p:pic>
        <p:nvPicPr>
          <p:cNvPr id="10" name="Picture 9" descr="shengjiangt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0" y="720000"/>
            <a:ext cx="2520000" cy="16259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0000" y="2700000"/>
            <a:ext cx="25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剪叉式升降机构三维模型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0" y="720000"/>
            <a:ext cx="4500000" cy="198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0000" y="792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</a:defRPr>
            </a:pPr>
            <a:r>
              <a:t>升降机构参数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0000" y="1007999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臂杆长度 L = 600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0000" y="1170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截面 36mm x 4.8mm Q235扁钢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0000" y="1332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夹角范围 19.1° ~ 133.5°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1494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台面高度 149 ~ 600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000" y="1655999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最大升程 ~452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0000" y="1818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额定载重 50 kg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0000" y="2880000"/>
            <a:ext cx="4500000" cy="16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0000" y="2951999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强度校核结果 (FEA验证)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0000" y="3168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臂杆组合应力  5.56 MPa  (FEA: 5.60)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0000" y="3330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许用应力  156.7 MPa  利用率 3.5%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0000" y="3492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平台 von Mises  14.1 MPa  利用率 9.0%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000" y="3654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平台挠度  0.47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0000" y="3816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屈曲安全系数  10.14 (含侧向支撑)</a:t>
            </a:r>
          </a:p>
        </p:txBody>
      </p:sp>
      <p:pic>
        <p:nvPicPr>
          <p:cNvPr id="27" name="Picture 26" descr="fea_results_50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4140000"/>
            <a:ext cx="6660000" cy="28176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0000" y="5940000"/>
            <a:ext cx="66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剪叉式升降机构有限元分析结果（50kg额定载重）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0" y="4680000"/>
            <a:ext cx="45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7D32"/>
                </a:solidFill>
              </a:defRPr>
            </a:pPr>
            <a:r>
              <a:t>各部件应力远低于许用值，结构安全可靠。</a:t>
            </a:r>
            <a:br/>
            <a:r>
              <a:t>理论手算与有限元偏差&lt;1%，相互印证。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电气系统设计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3/11</a:t>
            </a:r>
          </a:p>
        </p:txBody>
      </p:sp>
      <p:pic>
        <p:nvPicPr>
          <p:cNvPr id="8" name="Picture 7" descr="STM32F103C8T6实物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1980000" cy="1053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700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STM32F103C8T6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84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ARM Cortex-M3</a:t>
            </a:r>
            <a:br/>
            <a:r>
              <a:t>72MHz / 64KB Flash</a:t>
            </a:r>
            <a:br/>
            <a:r>
              <a:t>20KB RAM / 37 I/O</a:t>
            </a:r>
          </a:p>
        </p:txBody>
      </p:sp>
      <p:pic>
        <p:nvPicPr>
          <p:cNvPr id="11" name="Picture 10" descr="SMC80S-0040-30AoK-3DKH电机外形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000" y="720000"/>
            <a:ext cx="1980000" cy="10194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20000" y="2700000"/>
            <a:ext cx="19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SMC80S 伺服电机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284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400W / 1.27N·m</a:t>
            </a:r>
            <a:br/>
            <a:r>
              <a:t>3000rpm / 48VDC</a:t>
            </a:r>
            <a:br/>
            <a:r>
              <a:t>2500P/R编码器</a:t>
            </a:r>
          </a:p>
        </p:txBody>
      </p:sp>
      <p:pic>
        <p:nvPicPr>
          <p:cNvPr id="14" name="Picture 13" descr="TCRT50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720000"/>
            <a:ext cx="1800000" cy="16363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80000" y="2340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TCRT5000 红外</a:t>
            </a:r>
          </a:p>
        </p:txBody>
      </p:sp>
      <p:pic>
        <p:nvPicPr>
          <p:cNvPr id="16" name="Picture 15" descr="HC-SR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000" y="720000"/>
            <a:ext cx="1620000" cy="10384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0000" y="234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HC-SR04 超声波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0000" y="720000"/>
            <a:ext cx="3060000" cy="216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0000" y="792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</a:defRPr>
            </a:pPr>
            <a:r>
              <a:t>电气系统参数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0000" y="1007999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驱动轮直径 180mm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0" y="1170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轮距 520mm / 轮半径 90mm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0000" y="1332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减速器 ZJPX115 i=40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0000" y="1494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减速后扭矩 47.2 N·m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000" y="1655999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驱动所需扭矩 22.5 N·m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0" y="181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565C0"/>
                </a:solidFill>
              </a:defRPr>
            </a:pPr>
            <a:r>
              <a:t>传感器: 5路红外+超声波</a:t>
            </a:r>
          </a:p>
        </p:txBody>
      </p:sp>
      <p:pic>
        <p:nvPicPr>
          <p:cNvPr id="26" name="Picture 25" descr="最小系统原理图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000" y="3240000"/>
            <a:ext cx="5040000" cy="35676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0000" y="53280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STM32F103C8T6最小系统原理图</a:t>
            </a:r>
          </a:p>
        </p:txBody>
      </p:sp>
      <p:pic>
        <p:nvPicPr>
          <p:cNvPr id="28" name="Picture 27" descr="sensor_layou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0000" y="3240000"/>
            <a:ext cx="2340000" cy="12166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80000" y="4968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5路红外传感器布局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0000" y="3311999"/>
            <a:ext cx="3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控制架构：</a:t>
            </a:r>
            <a:br/>
            <a:r>
              <a:t>STM32为中枢，采集传感器数据，</a:t>
            </a:r>
            <a:br/>
            <a:r>
              <a:t>执行PID算法，输出PWM驱动电机。</a:t>
            </a:r>
            <a:br/>
            <a:br/>
            <a:r>
              <a:t>传感器协同：</a:t>
            </a:r>
            <a:br/>
            <a:r>
              <a:t>TCRT5000近距离循迹(1~25mm)</a:t>
            </a:r>
            <a:br/>
            <a:r>
              <a:t>HC-SR04中远距离避障(2~400cm)</a:t>
            </a:r>
            <a:br/>
            <a:r>
              <a:t>编码器轮速反馈(10000脉冲/转)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运动学建模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4/11</a:t>
            </a:r>
          </a:p>
        </p:txBody>
      </p:sp>
      <p:pic>
        <p:nvPicPr>
          <p:cNvPr id="8" name="Picture 7" descr="双轮模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5040000" cy="42197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7800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双轮差速移动机器人模型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0000" y="720000"/>
            <a:ext cx="6120000" cy="180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0" y="792000"/>
            <a:ext cx="57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65C0"/>
                </a:solidFill>
              </a:defRPr>
            </a:pPr>
            <a:r>
              <a:t>差速运动学方程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0" y="1007999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线速度:  v = (v_R + v_L) /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1170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角速度:  ω = (v_R - v_L) /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0" y="1332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位姿变化: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0" y="1494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  ẋ = v·cosθ    ẏ = v·sinθ    θ̇ = 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0" y="1655999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轮角速度: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1818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  ω_R = (2v + ωL) / 2r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0" y="1980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565C0"/>
                </a:solidFill>
              </a:defRPr>
            </a:pPr>
            <a:r>
              <a:t>  ω_L = (2v - ωL) / 2r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0000" y="2700000"/>
            <a:ext cx="6120000" cy="126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0" y="2772000"/>
            <a:ext cx="57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5100"/>
                </a:solidFill>
              </a:defRPr>
            </a:pPr>
            <a:r>
              <a:t>底盘参数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0" y="2988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5100"/>
                </a:solidFill>
              </a:defRPr>
            </a:pPr>
            <a:r>
              <a:t>轮距 L = 0.52 m    轮半径 r = 0.09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3150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5100"/>
                </a:solidFill>
              </a:defRPr>
            </a:pPr>
            <a:r>
              <a:t>标称速度 v = 0.3 m/s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3312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5100"/>
                </a:solidFill>
              </a:defRPr>
            </a:pPr>
            <a:r>
              <a:t>最大角速度 ω = 1.5 rad/s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0" y="3474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5100"/>
                </a:solidFill>
              </a:defRPr>
            </a:pPr>
            <a:r>
              <a:t>最小转弯半径 R = v/ω = 0.2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0000" y="4140000"/>
            <a:ext cx="6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差速驱动通过调节左右轮速度差实现转向：</a:t>
            </a:r>
            <a:br/>
            <a:r>
              <a:t>• 两侧轮速相等 → 直线行驶</a:t>
            </a:r>
            <a:br/>
            <a:r>
              <a:t>• 两侧轮速不等 → 向低速侧偏转</a:t>
            </a:r>
            <a:br/>
            <a:r>
              <a:t>• 原地转向：左右轮等速反向</a:t>
            </a:r>
            <a:br/>
            <a:br/>
            <a:r>
              <a:t>该模型是后续轨迹仿真、路径规划和PID控制的数学基础。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典型轨迹仿真验证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5/11</a:t>
            </a:r>
          </a:p>
        </p:txBody>
      </p:sp>
      <p:pic>
        <p:nvPicPr>
          <p:cNvPr id="8" name="Picture 7" descr="直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2700000" cy="2026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80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直线运动</a:t>
            </a:r>
          </a:p>
        </p:txBody>
      </p:sp>
      <p:pic>
        <p:nvPicPr>
          <p:cNvPr id="10" name="Picture 9" descr="圆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0" y="720000"/>
            <a:ext cx="2700000" cy="20264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40000" y="280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定曲率圆弧</a:t>
            </a:r>
          </a:p>
        </p:txBody>
      </p:sp>
      <p:pic>
        <p:nvPicPr>
          <p:cNvPr id="12" name="Picture 11" descr="s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2880000"/>
            <a:ext cx="2700000" cy="20264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000" y="496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S形运动</a:t>
            </a:r>
          </a:p>
        </p:txBody>
      </p:sp>
      <p:pic>
        <p:nvPicPr>
          <p:cNvPr id="14" name="Picture 13" descr="8字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000" y="2880000"/>
            <a:ext cx="2700000" cy="20264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40000" y="496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8字形运动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000" y="720000"/>
            <a:ext cx="5400000" cy="41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0" y="792000"/>
            <a:ext cx="50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3593"/>
                </a:solidFill>
              </a:defRPr>
            </a:pPr>
            <a:r>
              <a:t>轨迹仿真结果汇总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1044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轨迹类型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0000" y="1044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路径/m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0" y="1044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位移/m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0" y="1044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ω_max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0000" y="1044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κ_max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80000" y="1188000"/>
            <a:ext cx="5220000" cy="72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0000" y="1260000"/>
            <a:ext cx="5220000" cy="16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0" y="127800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直线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0000" y="1278000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9.0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00" y="127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9.0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0" y="127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0000" y="127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0000" y="1440000"/>
            <a:ext cx="5220000" cy="16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0" y="145800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定曲率圆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0000" y="1458000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7.0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00" y="145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1.521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0000" y="145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0000" y="145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1.286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80000" y="1620000"/>
            <a:ext cx="5220000" cy="16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0" y="163800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S形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0000" y="1638000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8.0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00" y="163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5.269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0000" y="163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0000" y="163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1.500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80000" y="1800000"/>
            <a:ext cx="5220000" cy="16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0" y="1818000"/>
            <a:ext cx="18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8字形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0000" y="1818000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7.6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0000" y="181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5.817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00000" y="181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0000" y="1818000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1.842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0000" y="20880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55555"/>
                </a:solidFill>
              </a:defRPr>
            </a:pPr>
            <a:r>
              <a:t>ω_max: rad/s    κ_max: m⁻¹    平均速度: 0.35~0.45 m/s</a:t>
            </a:r>
          </a:p>
        </p:txBody>
      </p:sp>
      <p:pic>
        <p:nvPicPr>
          <p:cNvPr id="49" name="Picture 48" descr="输入与轮速曲线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000" y="2340000"/>
            <a:ext cx="2700000" cy="23630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300000" y="3960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控制输入与轮速曲线</a:t>
            </a:r>
          </a:p>
        </p:txBody>
      </p:sp>
      <p:pic>
        <p:nvPicPr>
          <p:cNvPr id="51" name="Picture 50" descr="曲率变化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000" y="2340000"/>
            <a:ext cx="2520000" cy="16791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80000" y="3960000"/>
            <a:ext cx="25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曲率对比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0000" y="5220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四类轨迹覆盖差速底盘的典型工况：直线体现基础直行能力，圆弧反映稳态转弯特性，S形和8字形呈现连续变曲率下的姿态调整能力。仿真验证了差速运动学模型的正确性，为路径规划和PID控制奠定基础。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路径规划与循迹仿真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6/11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576000"/>
            <a:ext cx="11484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648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3593"/>
                </a:solidFill>
              </a:defRPr>
            </a:pPr>
            <a:r>
              <a:t>Hybrid A* 仓储路径规划结果</a:t>
            </a:r>
          </a:p>
        </p:txBody>
      </p:sp>
      <p:pic>
        <p:nvPicPr>
          <p:cNvPr id="10" name="Picture 9" descr="hybrid_astar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936000"/>
            <a:ext cx="4680000" cy="2927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00000" y="900000"/>
            <a:ext cx="63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5555"/>
                </a:solidFill>
              </a:defRPr>
            </a:pPr>
            <a:r>
              <a:t>算法原理：Hybrid A*将节点状态扩展为(x,y,θ)三维位姿，采用5种离散曲率的差速运动学基元扩展后继节点，代价函数f=g+h含转弯惩罚与倒车惩罚，使路径天然满足转弯半径约束。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84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3593"/>
                </a:solidFill>
              </a:defRPr>
            </a:pPr>
            <a:r>
              <a:t>仿真参数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1800000"/>
            <a:ext cx="30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地图 10m x 8m, 分辨率 0.2m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0" y="1972800"/>
            <a:ext cx="30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5 个货架障碍物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0" y="2145600"/>
            <a:ext cx="30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起点(1,1) -&gt; 终点(9,7)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2318400"/>
            <a:ext cx="30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搜索迭代 3008 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1800000"/>
            <a:ext cx="32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路径长度 11.04 m, 25 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0" y="1972800"/>
            <a:ext cx="32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 = {-1.11, -0.52, 0, 0.52, 1.11}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0" y="2145600"/>
            <a:ext cx="32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步长 0.5m, 轮距 L = 0.52m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0" y="2318400"/>
            <a:ext cx="324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3次均值平滑 + 0.05m等距插值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0" y="2520000"/>
            <a:ext cx="63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E7D32"/>
                </a:solidFill>
              </a:defRPr>
            </a:pPr>
            <a:r>
              <a:t>规划结果：路径成功绕过所有货架，整体平滑无锯齿。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3240000"/>
            <a:ext cx="1148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路径规划层 (Hybrid A*) 确定"走哪条路"  |  循迹执行层 (PID + 5路红外) 解决"如何沿路走"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3420000"/>
            <a:ext cx="5580000" cy="27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345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3593"/>
                </a:solidFill>
              </a:defRPr>
            </a:pPr>
            <a:r>
              <a:t>参考路径 vs 循迹轨迹</a:t>
            </a:r>
          </a:p>
        </p:txBody>
      </p:sp>
      <p:pic>
        <p:nvPicPr>
          <p:cNvPr id="25" name="Picture 24" descr="line_following_tr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671999"/>
            <a:ext cx="2518744" cy="198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40000" y="5760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蓝色实线为参考路径，红色虚线为循迹轨迹。两者高度重合。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3420000"/>
            <a:ext cx="5723999" cy="27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000" y="3456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3593"/>
                </a:solidFill>
              </a:defRPr>
            </a:pPr>
            <a:r>
              <a:t>循迹横向误差</a:t>
            </a:r>
          </a:p>
        </p:txBody>
      </p:sp>
      <p:pic>
        <p:nvPicPr>
          <p:cNvPr id="29" name="Picture 28" descr="line_following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000" y="3671999"/>
            <a:ext cx="3515625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0000" y="5760000"/>
            <a:ext cx="5363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起步误差较大，随后收敛至RMS=1.5cm，均在传感器覆盖裕量内。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6300000"/>
            <a:ext cx="2763000" cy="54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3999" y="6336000"/>
            <a:ext cx="2619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7D32"/>
                </a:solidFill>
              </a:defRPr>
            </a:pPr>
            <a:r>
              <a:t>RMS横向误差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999" y="6516000"/>
            <a:ext cx="2619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1.5 cm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8999" y="6300000"/>
            <a:ext cx="2763000" cy="540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999" y="6336000"/>
            <a:ext cx="2619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65100"/>
                </a:solidFill>
              </a:defRPr>
            </a:pPr>
            <a:r>
              <a:t>最大横向误差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0999" y="6516000"/>
            <a:ext cx="2619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6.8 cm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999" y="6300000"/>
            <a:ext cx="2763000" cy="5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7999" y="6336000"/>
            <a:ext cx="2619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565C0"/>
                </a:solidFill>
              </a:defRPr>
            </a:pPr>
            <a:r>
              <a:t>规划路径长度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7999" y="6516000"/>
            <a:ext cx="2619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11.04 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52999" y="6300000"/>
            <a:ext cx="2763000" cy="540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4999" y="6336000"/>
            <a:ext cx="2619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B1FA2"/>
                </a:solidFill>
              </a:defRPr>
            </a:pPr>
            <a:r>
              <a:t>循迹耗时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4999" y="6516000"/>
            <a:ext cx="2619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1FA2"/>
                </a:solidFill>
              </a:defRPr>
            </a:pPr>
            <a:r>
              <a:t>36.2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运动基元与算法流程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7/11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720000"/>
            <a:ext cx="5580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792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3593"/>
                </a:solidFill>
              </a:defRPr>
            </a:pPr>
            <a:r>
              <a:t>差速运动基元 (5种曲率)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1080000"/>
            <a:ext cx="5040000" cy="21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116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5100"/>
                </a:solidFill>
              </a:defRPr>
            </a:pPr>
            <a:r>
              <a:t>大左转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111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κ=-1.11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1116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R=0.90m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1332000"/>
            <a:ext cx="5040000" cy="21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1368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39C12"/>
                </a:solidFill>
              </a:defRPr>
            </a:pPr>
            <a:r>
              <a:t>小左转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13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κ=-0.52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0" y="1368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R=1.92m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1584000"/>
            <a:ext cx="5040000" cy="21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1620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t>直行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60000" y="16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0" y="1620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R=∞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1835999"/>
            <a:ext cx="5040000" cy="21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1871999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</a:defRPr>
            </a:pPr>
            <a:r>
              <a:t>小右转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0000" y="187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κ=+0.52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0" y="1871999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R=1.92m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2088000"/>
            <a:ext cx="5040000" cy="21600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2124000"/>
            <a:ext cx="14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</a:defRPr>
            </a:pPr>
            <a:r>
              <a:t>大右转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0000" y="21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κ=+1.11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0" y="2124000"/>
            <a:ext cx="16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R=0.90m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2448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前进/后退 × 5种曲率 = 10种运动基元</a:t>
            </a:r>
            <a:br/>
            <a:r>
              <a:t>步长 d = 0.5m</a:t>
            </a:r>
            <a:br/>
            <a:r>
              <a:t>节点状态: (x, y, θ) 三维位姿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0000" y="720000"/>
            <a:ext cx="5580000" cy="25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000" y="792000"/>
            <a:ext cx="52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3593"/>
                </a:solidFill>
              </a:defRPr>
            </a:pPr>
            <a:r>
              <a:t>Hybrid A* 算法流程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000" y="1044000"/>
            <a:ext cx="5220000" cy="1728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0" y="1062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1. 栅格地图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0000" y="1062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10×8m, 0.2m分辨率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0000" y="1242000"/>
            <a:ext cx="5220000" cy="1728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0" y="1260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2. 初始化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0000" y="1260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Open/Close列表, 启发函数h₀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0000" y="1440000"/>
            <a:ext cx="5220000" cy="1728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0000" y="1458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3. 节点扩展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0000" y="1458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10种运动基元生成后继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0000" y="1638000"/>
            <a:ext cx="5220000" cy="1728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0" y="1655999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4. 碰撞检测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0000" y="1655999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插值采样11个点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000" y="1835999"/>
            <a:ext cx="5220000" cy="172800"/>
          </a:xfrm>
          <a:prstGeom prst="round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0000" y="1853999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5. 代价评估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0000" y="1853999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f=g+h, 含转弯/倒车惩罚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0000" y="2034000"/>
            <a:ext cx="5220000" cy="172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0000" y="2052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6. 路径回溯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0000" y="2052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从终点回溯父节点链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0000" y="2232000"/>
            <a:ext cx="5220000" cy="172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0000" y="2250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7. 均值平滑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0000" y="2250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3次加权平均滤波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0000" y="2430000"/>
            <a:ext cx="5220000" cy="172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0000" y="2448000"/>
            <a:ext cx="14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8. 等距插值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0000" y="2448000"/>
            <a:ext cx="324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0.05m间距, 224个路径点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0000" y="3420000"/>
            <a:ext cx="11340000" cy="108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0000" y="3491999"/>
            <a:ext cx="10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F17"/>
                </a:solidFill>
              </a:defRPr>
            </a:pPr>
            <a:r>
              <a:t>代价函数 f = g + 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000" y="3708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7F17"/>
                </a:solidFill>
              </a:defRPr>
            </a:pPr>
            <a:r>
              <a:t>g: 实际代价</a:t>
            </a:r>
            <a:br/>
            <a:r>
              <a:t>  • 基础: 步长0.5m</a:t>
            </a:r>
            <a:br/>
            <a:r>
              <a:t>  • 倒车惩罚: +50%</a:t>
            </a:r>
            <a:br/>
            <a:r>
              <a:t>  • 转弯惩罚: +0.1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20000" y="3708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7F17"/>
                </a:solidFill>
              </a:defRPr>
            </a:pPr>
            <a:r>
              <a:t>h: 启发值</a:t>
            </a:r>
            <a:br/>
            <a:r>
              <a:t>  • 欧氏距离</a:t>
            </a:r>
            <a:br/>
            <a:r>
              <a:t>  • 保证可采纳性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0000" y="3708000"/>
            <a:ext cx="32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7F17"/>
                </a:solidFill>
              </a:defRPr>
            </a:pPr>
            <a:r>
              <a:t>关键特性:</a:t>
            </a:r>
            <a:br/>
            <a:r>
              <a:t>• 节点含航向θ</a:t>
            </a:r>
            <a:br/>
            <a:r>
              <a:t>• 满足差速约束</a:t>
            </a:r>
            <a:br/>
            <a:r>
              <a:t>• 路径可直接执行</a:t>
            </a:r>
          </a:p>
        </p:txBody>
      </p:sp>
      <p:pic>
        <p:nvPicPr>
          <p:cNvPr id="62" name="Picture 61" descr="senso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4680000"/>
            <a:ext cx="2160000" cy="112308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60000" y="61200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555"/>
                </a:solidFill>
              </a:defRPr>
            </a:pPr>
            <a:r>
              <a:t>5路红外传感器布局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00000" y="4752000"/>
            <a:ext cx="90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循迹传感器阵列：</a:t>
            </a:r>
            <a:br/>
            <a:r>
              <a:t>• 5路TCRT5000红外，间距40mm，总覆盖160mm</a:t>
            </a:r>
            <a:br/>
            <a:r>
              <a:t>• 安装在车体前端、驱动轮轴线前方80mm</a:t>
            </a:r>
            <a:br/>
            <a:r>
              <a:t>• 权重{-4,-2,0,+2,+4}计算加权偏移量</a:t>
            </a:r>
            <a:br/>
            <a:r>
              <a:t>• 丢线时外推1.5倍上次偏移量</a:t>
            </a:r>
            <a:br/>
            <a:r>
              <a:t>• PID: Kp=3.0, Ki=0.08, Kd=1.0, 限幅±1.5rad/s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503999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3999"/>
            <a:ext cx="12204000" cy="72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1999" y="36000"/>
            <a:ext cx="720000" cy="3960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" y="14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44000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双环PID运动控制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0" y="827999"/>
            <a:ext cx="7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</a:defRPr>
            </a:pPr>
            <a:r>
              <a:t>8/11</a:t>
            </a:r>
          </a:p>
        </p:txBody>
      </p:sp>
      <p:pic>
        <p:nvPicPr>
          <p:cNvPr id="8" name="Picture 7" descr="cascaded_pi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4140000" cy="1971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780000"/>
            <a:ext cx="41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</a:defRPr>
            </a:pPr>
            <a:r>
              <a:t>双环PID级联控制结构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0" y="720000"/>
            <a:ext cx="7020000" cy="1440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0" y="792000"/>
            <a:ext cx="66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</a:defRPr>
            </a:pPr>
            <a:r>
              <a:t>双环PID控制器参数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1007999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控制器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0" y="1007999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Kp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0000" y="1007999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1007999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Kd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0" y="1007999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0" y="1188000"/>
            <a:ext cx="6660000" cy="16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0" y="1205999"/>
            <a:ext cx="216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位姿环(航向PID)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0" y="120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0000" y="120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1205999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0" y="120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外环,输出v,ω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0000" y="1368000"/>
            <a:ext cx="6660000" cy="16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0" y="1385999"/>
            <a:ext cx="216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轮速环(PI)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138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17.0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0000" y="138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103.0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00" y="1385999"/>
            <a:ext cx="90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--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0" y="1385999"/>
            <a:ext cx="1080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内环,输出PWM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0000" y="1655999"/>
            <a:ext cx="66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内环响应频率约为外环3~5倍，保证内环优先收敛。</a:t>
            </a:r>
            <a:br/>
            <a:r>
              <a:t>轮速环采用PI而非PID：微分项对编码器噪声敏感。</a:t>
            </a:r>
          </a:p>
        </p:txBody>
      </p:sp>
      <p:pic>
        <p:nvPicPr>
          <p:cNvPr id="30" name="Picture 29" descr="pid_step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2340000"/>
            <a:ext cx="3060000" cy="1912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80000" y="4500000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阶跃响应</a:t>
            </a:r>
          </a:p>
        </p:txBody>
      </p:sp>
      <p:pic>
        <p:nvPicPr>
          <p:cNvPr id="32" name="Picture 31" descr="pid_point_stab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0" y="2340000"/>
            <a:ext cx="3060000" cy="1912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20000" y="4500000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定点镇定</a:t>
            </a:r>
          </a:p>
        </p:txBody>
      </p:sp>
      <p:pic>
        <p:nvPicPr>
          <p:cNvPr id="34" name="Picture 33" descr="pid_line_trac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0" y="4140000"/>
            <a:ext cx="3060000" cy="19127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80000" y="6300000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直线跟踪</a:t>
            </a:r>
          </a:p>
        </p:txBody>
      </p:sp>
      <p:pic>
        <p:nvPicPr>
          <p:cNvPr id="36" name="Picture 35" descr="pid_circle_trac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0" y="4140000"/>
            <a:ext cx="3060000" cy="19127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20000" y="6300000"/>
            <a:ext cx="30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83593"/>
                </a:solidFill>
              </a:defRPr>
            </a:pPr>
            <a:r>
              <a:t>圆形跟踪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000" y="4860000"/>
            <a:ext cx="4140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4932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83593"/>
                </a:solidFill>
              </a:defRPr>
            </a:pPr>
            <a:r>
              <a:t>仿真结果汇总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5148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阶跃响应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0000" y="514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稳态误差≈0, 调节时间0.8s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000" y="5328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定点镇定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0000" y="532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位置误差(0.022,-0.007)m, 航向-0.89°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" y="5508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直线跟踪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20000" y="550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角速度RMSE 0.0023 rad/s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000" y="5688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83593"/>
                </a:solidFill>
              </a:defRPr>
            </a:pPr>
            <a:r>
              <a:t>圆形跟踪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0000" y="5688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线速度RMSE 0.0086m/s, 圆度RMSE 0.020m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0000" y="6660000"/>
            <a:ext cx="72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204000" cy="687600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204000" cy="12600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感谢各位老师指导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0" y="2880000"/>
            <a:ext cx="6480000" cy="1080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</a:defRPr>
            </a:pPr>
            <a:r>
              <a:t>答辩人：王梓煜    指导教师：曹树春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78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EFB"/>
                </a:solidFill>
              </a:defRPr>
            </a:pPr>
            <a:r>
              <a:t>齐鲁工业大学  机械工程学院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291</Words>
  <Application>Microsoft Office PowerPoint</Application>
  <PresentationFormat>宽屏</PresentationFormat>
  <Paragraphs>131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Microsoft YaHei</vt:lpstr>
      <vt:lpstr>Arial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bylw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智能仓储举升式AGV小车的设计与控制研究</dc:title>
  <dc:subject>答辩PPT</dc:subject>
  <dc:creator>GitHub Copilot</dc:creator>
  <cp:lastModifiedBy>子煜 王</cp:lastModifiedBy>
  <cp:revision>15</cp:revision>
  <dcterms:created xsi:type="dcterms:W3CDTF">2026-06-04T06:03:01Z</dcterms:created>
  <dcterms:modified xsi:type="dcterms:W3CDTF">2026-06-04T13:36:39Z</dcterms:modified>
</cp:coreProperties>
</file>