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各位老师好，我是王梓煜，我的毕业设计题目是《智能仓储移动机器人结构设计与运动控制研究》，指导教师是曹树春老师。</a:t>
            </a:r>
          </a:p>
          <a:p/>
          <a:p>
            <a:r>
              <a:t>我的研究背景是：随着电商规模持续扩大，2024年网络零售额达到15.5万亿元，仓储物流环节成为效率瓶颈。自主移动机器人（AMR）凭借自主感知和决策能力，成为智能仓储的核心装备。本设计的目标是开发一款兼具举升功能和自主导航能力的紧凑型搬运机器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本次汇报分为七个部分：研究背景与意义、机械结构设计、电气系统设计、运动学建模与仿真、路径规划与循迹、运动基元与算法流程，以及双环PID运动控制。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先是研究背景。2024年我国网络零售额达15.5万亿元，连续12年保持全球最大网络零售市场。电商规模的持续扩大使仓储物流成为效率瓶颈。AGV行业规模从48.27亿元攀升至95.49亿元，AMR市场突破60亿元，年增长率超30%，行业正从固定路径导引向自主感知决策升级。</a:t>
            </a:r>
          </a:p>
          <a:p/>
          <a:p>
            <a:r>
              <a:t>本设计的研究目标包括五个方面：自主沿规划路径行驶、载物台升降行程不小于0.4米、基本障碍物检测与避障、外形紧凑能够在狭窄通道灵活通行，以及结构简洁控制可靠成本可控。关键指标为额定载重50kg、升降行程0.4m、最大速度30m/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接下来介绍机械结构设计。整体结构如图所示，主要由车身、驱动轮、升降机构和控制系统四大部分组成。</a:t>
            </a:r>
          </a:p>
          <a:p/>
          <a:p>
            <a:r>
              <a:t>升降机构选用剪叉式结构，臂杆长度600mm，截面为36mm×4.8mm的Q235实心扁钢。两臂夹角范围19.1°到133.5°，台面高度149到600mm，理论最大升程约452mm。</a:t>
            </a:r>
          </a:p>
          <a:p/>
          <a:p>
            <a:r>
              <a:t>强度校核结果显示：臂杆压弯组合应力为5.56MPa，有限元验证为5.60MPa，偏差小于1%；承载平台von Mises应力14.1MPa，应力利用率仅9.0%，具有充足的安全裕度。屈曲安全系数在增设侧向支撑后达到10.14，满足设计要求。</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电气系统设计方面，主控制器选用STM32F103C8T6，基于ARM Cortex-M3内核，72MHz主频，满足实时控制需求。</a:t>
            </a:r>
          </a:p>
          <a:p/>
          <a:p>
            <a:r>
              <a:t>驱动电机选用SMC80S伺服电机，额定功率400W，额定转矩1.27N·m，配合ZJPX115行星减速器（减速比40），减速后连续输出扭矩约47.2N·m，远超驱动所需的22.5N·m。</a:t>
            </a:r>
          </a:p>
          <a:p/>
          <a:p>
            <a:r>
              <a:t>传感器方面，配备5路TCRT5000红外传感器用于近距离循迹，HC-SR04超声波传感器用于中远距离避障，电机自带编码器用于轮速反馈。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运动学建模方面，建立了双轮差速运动学模型。线速度v等于左右轮速度之和除以2，角速度ω等于左右轮速度之差除以轮距。位姿变化率为：ẋ=v·cosθ，ẏ=v·sinθ，θ̇=ω。</a:t>
            </a:r>
          </a:p>
          <a:p/>
          <a:p>
            <a:r>
              <a:t>基于该模型，通过MATLAB仿真了四类典型轨迹。直线运动路径长度9.0m，定曲率圆弧7.0m，S形运动8.0m，8字形运动7.6m。四类轨迹覆盖了差速底盘的典型工况，验证了运动学模型的正确性。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路径规划与循迹仿真方面，采用两层导航架构。全局路径规划层使用Hybrid A*算法，在10m×8m的仓储地图上规划无碰撞路径；局部循迹跟踪层使用PID控制器驱动5路红外传感器进行纠偏。</a:t>
            </a:r>
          </a:p>
          <a:p/>
          <a:p>
            <a:r>
              <a:t>Hybrid A*将节点状态扩展为(x,y,θ)三维位姿，采用5种离散曲率的运动基元，路径天然满足转弯半径约束。规划结果：搜索迭代3008次，路径长度11.04m，共25个路径节点。</a:t>
            </a:r>
          </a:p>
          <a:p/>
          <a:p>
            <a:r>
              <a:t>循迹仿真结果显示：RMS横向误差1.5cm，最大横向误差6.8cm，均在传感器覆盖宽度（±80mm）的检测裕量内。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运动基元方面，Hybrid A*采用5种离散曲率：κ=-1.11（大左转，R=0.90m）、κ=-0.52（小左转，R=1.92m）、κ=0（直行）、κ=+0.52（小右转）、κ=+1.11（大右转）。前进/后退各5种，共10种运动基元。</a:t>
            </a:r>
          </a:p>
          <a:p/>
          <a:p>
            <a:r>
              <a:t>算法流程包括8个步骤：栅格地图构建、初始化Open/Close列表、节点扩展、碰撞检测、代价评估、路径回溯、均值平滑和等距插值。</a:t>
            </a:r>
          </a:p>
          <a:p/>
          <a:p>
            <a:r>
              <a:t>代价函数f=g+h中，g包含基础代价（步长0.5m）、倒车惩罚（+50%）和转弯惩罚（+0.1），h为欧氏距离启发值。关键优势在于节点状态含航向θ，满足差速运动学约束，路径可直接由底层PID控制器执行。</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双环PID运动控制方面，采用外环位姿环与内环轮速环的级联结构。外环位姿PID参数为Kp=3.0、Ki=0.2、Kd=0.4，输出线速度和角速度指令；内环轮速PI参数为Kp=17.0、Ki=103.0，输出电机PWM驱动信号。</a:t>
            </a:r>
          </a:p>
          <a:p/>
          <a:p>
            <a:r>
              <a:t>内环响应频率约为外环3到5倍，保证内环优先收敛。控制周期5ms，积分限幅[-2,2]防饱和，电压限幅±24V。</a:t>
            </a:r>
          </a:p>
          <a:p/>
          <a:p>
            <a:r>
              <a:t>四项仿真验证结果：</a:t>
            </a:r>
          </a:p>
          <a:p>
            <a:r>
              <a:t>阶跃响应：稳态误差约为0，调节时间0.8s；</a:t>
            </a:r>
          </a:p>
          <a:p>
            <a:r>
              <a:t>定点镇定：终点位置误差(0.022, -0.007)m，航向误差-0.89°；</a:t>
            </a:r>
          </a:p>
          <a:p>
            <a:r>
              <a:t>直线跟踪：角速度RMSE 0.0023 rad/s；</a:t>
            </a:r>
          </a:p>
          <a:p>
            <a:r>
              <a:t>圆形跟踪：线速度RMSE 0.0086 m/s，轨迹圆度RMSE 0.020m。</a:t>
            </a:r>
          </a:p>
          <a:p>
            <a:r>
              <a:t>结果表明双环PID控制器在四种典型工况下均能实现较好的控制效果。</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总结一下我的主要工作：</a:t>
            </a:r>
          </a:p>
          <a:p>
            <a:r>
              <a:t>（1）完成了总体方案设计，确定了差速驱动、交流伺服电机、剪叉式升降机构、STM32主控、双环PID控制和Hybrid A*路径规划方案。</a:t>
            </a:r>
          </a:p>
          <a:p>
            <a:r>
              <a:t>（2）完成了机械结构设计与强度校核，各部件应力远低于许用值。</a:t>
            </a:r>
          </a:p>
          <a:p>
            <a:r>
              <a:t>（3）完成了电气系统设计，包括主控制器、电机、传感器选型及电路设计。</a:t>
            </a:r>
          </a:p>
          <a:p>
            <a:r>
              <a:t>（4）完成了运动学建模与仿真验证，包括四类轨迹仿真和Hybrid A*路径规划。</a:t>
            </a:r>
          </a:p>
          <a:p>
            <a:r>
              <a:t>（5）设计了双环PID控制器并通过四项仿真验证了有效性。</a:t>
            </a:r>
          </a:p>
          <a:p/>
          <a:p>
            <a:r>
              <a:t>不足之处在于尚未进行实物样机测试，后续将分三个阶段推进实物验证工作。</a:t>
            </a:r>
          </a:p>
          <a:p/>
          <a:p>
            <a:r>
              <a:t>感谢各位老师的指导，恳请批评指正！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6858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0000" y="1440000"/>
            <a:ext cx="288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584000"/>
            <a:ext cx="10800000" cy="540000"/>
          </a:xfrm>
          <a:prstGeom prst="rect">
            <a:avLst/>
          </a:prstGeom>
          <a:noFill/>
        </p:spPr>
        <p:txBody>
          <a:bodyPr wrap="square">
            <a:spAutoFit/>
          </a:bodyPr>
          <a:lstStyle/>
          <a:p>
            <a:pPr algn="l">
              <a:defRPr sz="3400" b="1">
                <a:solidFill>
                  <a:srgbClr val="FFFFFF"/>
                </a:solidFill>
              </a:defRPr>
            </a:pPr>
            <a:r>
              <a:t>智能仓储移动机器人</a:t>
            </a:r>
          </a:p>
        </p:txBody>
      </p:sp>
      <p:sp>
        <p:nvSpPr>
          <p:cNvPr id="5" name="TextBox 4"/>
          <p:cNvSpPr txBox="1"/>
          <p:nvPr/>
        </p:nvSpPr>
        <p:spPr>
          <a:xfrm>
            <a:off x="720000" y="2160000"/>
            <a:ext cx="10800000" cy="324000"/>
          </a:xfrm>
          <a:prstGeom prst="rect">
            <a:avLst/>
          </a:prstGeom>
          <a:noFill/>
        </p:spPr>
        <p:txBody>
          <a:bodyPr wrap="square">
            <a:spAutoFit/>
          </a:bodyPr>
          <a:lstStyle/>
          <a:p>
            <a:pPr algn="l">
              <a:defRPr sz="2100" b="0">
                <a:solidFill>
                  <a:srgbClr val="90CAF9"/>
                </a:solidFill>
              </a:defRPr>
            </a:pPr>
            <a:r>
              <a:t>结构设计与运动控制研究</a:t>
            </a:r>
          </a:p>
        </p:txBody>
      </p:sp>
      <p:sp>
        <p:nvSpPr>
          <p:cNvPr id="6" name="TextBox 5"/>
          <p:cNvSpPr txBox="1"/>
          <p:nvPr/>
        </p:nvSpPr>
        <p:spPr>
          <a:xfrm>
            <a:off x="720000" y="2700000"/>
            <a:ext cx="10800000" cy="251999"/>
          </a:xfrm>
          <a:prstGeom prst="rect">
            <a:avLst/>
          </a:prstGeom>
          <a:noFill/>
        </p:spPr>
        <p:txBody>
          <a:bodyPr wrap="square">
            <a:spAutoFit/>
          </a:bodyPr>
          <a:lstStyle/>
          <a:p>
            <a:pPr algn="l">
              <a:defRPr sz="1200" b="0">
                <a:solidFill>
                  <a:srgbClr val="78909C"/>
                </a:solidFill>
              </a:defRPr>
            </a:pPr>
            <a:r>
              <a:t>Design and Control of Intelligent Warehouse Mobile Robot</a:t>
            </a:r>
          </a:p>
        </p:txBody>
      </p:sp>
      <p:sp>
        <p:nvSpPr>
          <p:cNvPr id="7" name="Rounded Rectangle 6"/>
          <p:cNvSpPr/>
          <p:nvPr/>
        </p:nvSpPr>
        <p:spPr>
          <a:xfrm>
            <a:off x="720000" y="3168000"/>
            <a:ext cx="288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3420000"/>
            <a:ext cx="5400000" cy="180000"/>
          </a:xfrm>
          <a:prstGeom prst="rect">
            <a:avLst/>
          </a:prstGeom>
          <a:noFill/>
        </p:spPr>
        <p:txBody>
          <a:bodyPr wrap="square">
            <a:spAutoFit/>
          </a:bodyPr>
          <a:lstStyle/>
          <a:p>
            <a:pPr algn="l">
              <a:defRPr sz="1200" b="0">
                <a:solidFill>
                  <a:srgbClr val="BBDEFB"/>
                </a:solidFill>
              </a:defRPr>
            </a:pPr>
            <a:r>
              <a:t>答辩人：王梓煜</a:t>
            </a:r>
          </a:p>
        </p:txBody>
      </p:sp>
      <p:sp>
        <p:nvSpPr>
          <p:cNvPr id="9" name="TextBox 8"/>
          <p:cNvSpPr txBox="1"/>
          <p:nvPr/>
        </p:nvSpPr>
        <p:spPr>
          <a:xfrm>
            <a:off x="720000" y="3671999"/>
            <a:ext cx="5400000" cy="180000"/>
          </a:xfrm>
          <a:prstGeom prst="rect">
            <a:avLst/>
          </a:prstGeom>
          <a:noFill/>
        </p:spPr>
        <p:txBody>
          <a:bodyPr wrap="square">
            <a:spAutoFit/>
          </a:bodyPr>
          <a:lstStyle/>
          <a:p>
            <a:pPr algn="l">
              <a:defRPr sz="1200" b="0">
                <a:solidFill>
                  <a:srgbClr val="BBDEFB"/>
                </a:solidFill>
              </a:defRPr>
            </a:pPr>
            <a:r>
              <a:t>指导教师：曹树春</a:t>
            </a:r>
          </a:p>
        </p:txBody>
      </p:sp>
      <p:sp>
        <p:nvSpPr>
          <p:cNvPr id="10" name="TextBox 9"/>
          <p:cNvSpPr txBox="1"/>
          <p:nvPr/>
        </p:nvSpPr>
        <p:spPr>
          <a:xfrm>
            <a:off x="720000" y="3924000"/>
            <a:ext cx="5400000" cy="180000"/>
          </a:xfrm>
          <a:prstGeom prst="rect">
            <a:avLst/>
          </a:prstGeom>
          <a:noFill/>
        </p:spPr>
        <p:txBody>
          <a:bodyPr wrap="square">
            <a:spAutoFit/>
          </a:bodyPr>
          <a:lstStyle/>
          <a:p>
            <a:pPr algn="l">
              <a:defRPr sz="1200" b="0">
                <a:solidFill>
                  <a:srgbClr val="BBDEFB"/>
                </a:solidFill>
              </a:defRPr>
            </a:pPr>
            <a:r>
              <a:t>齐鲁工业大学  机械工程学院</a:t>
            </a:r>
          </a:p>
        </p:txBody>
      </p:sp>
      <p:sp>
        <p:nvSpPr>
          <p:cNvPr id="11" name="TextBox 10"/>
          <p:cNvSpPr txBox="1"/>
          <p:nvPr/>
        </p:nvSpPr>
        <p:spPr>
          <a:xfrm>
            <a:off x="720000" y="4320000"/>
            <a:ext cx="5400000" cy="180000"/>
          </a:xfrm>
          <a:prstGeom prst="rect">
            <a:avLst/>
          </a:prstGeom>
          <a:noFill/>
        </p:spPr>
        <p:txBody>
          <a:bodyPr wrap="square">
            <a:spAutoFit/>
          </a:bodyPr>
          <a:lstStyle/>
          <a:p>
            <a:pPr algn="l">
              <a:defRPr sz="1300" b="1">
                <a:solidFill>
                  <a:srgbClr val="FFFFFF"/>
                </a:solidFill>
              </a:defRPr>
            </a:pPr>
            <a:r>
              <a:t>2026年6月</a:t>
            </a:r>
          </a:p>
        </p:txBody>
      </p:sp>
      <p:pic>
        <p:nvPicPr>
          <p:cNvPr id="12" name="Picture 11" descr="MainLOGO-pretty.png"/>
          <p:cNvPicPr>
            <a:picLocks noChangeAspect="1"/>
          </p:cNvPicPr>
          <p:nvPr/>
        </p:nvPicPr>
        <p:blipFill>
          <a:blip r:embed="rId2"/>
          <a:stretch>
            <a:fillRect/>
          </a:stretch>
        </p:blipFill>
        <p:spPr>
          <a:xfrm>
            <a:off x="7200000" y="3420000"/>
            <a:ext cx="4320000" cy="10942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6858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88000"/>
            <a:ext cx="3600000" cy="324000"/>
          </a:xfrm>
          <a:prstGeom prst="rect">
            <a:avLst/>
          </a:prstGeom>
          <a:noFill/>
        </p:spPr>
        <p:txBody>
          <a:bodyPr wrap="square">
            <a:spAutoFit/>
          </a:bodyPr>
          <a:lstStyle/>
          <a:p>
            <a:pPr algn="l">
              <a:defRPr sz="2600" b="1">
                <a:solidFill>
                  <a:srgbClr val="1B2A4A"/>
                </a:solidFill>
              </a:defRPr>
            </a:pPr>
            <a:r>
              <a:t>目  录</a:t>
            </a:r>
          </a:p>
        </p:txBody>
      </p:sp>
      <p:sp>
        <p:nvSpPr>
          <p:cNvPr id="5" name="TextBox 4"/>
          <p:cNvSpPr txBox="1"/>
          <p:nvPr/>
        </p:nvSpPr>
        <p:spPr>
          <a:xfrm>
            <a:off x="720000" y="612000"/>
            <a:ext cx="3600000" cy="144000"/>
          </a:xfrm>
          <a:prstGeom prst="rect">
            <a:avLst/>
          </a:prstGeom>
          <a:noFill/>
        </p:spPr>
        <p:txBody>
          <a:bodyPr wrap="square">
            <a:spAutoFit/>
          </a:bodyPr>
          <a:lstStyle/>
          <a:p>
            <a:pPr algn="l">
              <a:defRPr sz="1100" b="0">
                <a:solidFill>
                  <a:srgbClr val="6B7B8D"/>
                </a:solidFill>
              </a:defRPr>
            </a:pPr>
            <a:r>
              <a:t>CONTENTS</a:t>
            </a:r>
          </a:p>
        </p:txBody>
      </p:sp>
      <p:sp>
        <p:nvSpPr>
          <p:cNvPr id="6" name="Rounded Rectangle 5"/>
          <p:cNvSpPr/>
          <p:nvPr/>
        </p:nvSpPr>
        <p:spPr>
          <a:xfrm>
            <a:off x="720000" y="792000"/>
            <a:ext cx="126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20000" y="1080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20000" y="1080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0000" y="1134000"/>
            <a:ext cx="720000" cy="324000"/>
          </a:xfrm>
          <a:prstGeom prst="rect">
            <a:avLst/>
          </a:prstGeom>
          <a:noFill/>
        </p:spPr>
        <p:txBody>
          <a:bodyPr wrap="square">
            <a:spAutoFit/>
          </a:bodyPr>
          <a:lstStyle/>
          <a:p>
            <a:pPr algn="l">
              <a:defRPr sz="2400" b="1">
                <a:solidFill>
                  <a:srgbClr val="3D6CB9"/>
                </a:solidFill>
              </a:defRPr>
            </a:pPr>
            <a:r>
              <a:t>01</a:t>
            </a:r>
          </a:p>
        </p:txBody>
      </p:sp>
      <p:sp>
        <p:nvSpPr>
          <p:cNvPr id="10" name="TextBox 9"/>
          <p:cNvSpPr txBox="1"/>
          <p:nvPr/>
        </p:nvSpPr>
        <p:spPr>
          <a:xfrm>
            <a:off x="2160000" y="1134000"/>
            <a:ext cx="5400000" cy="216000"/>
          </a:xfrm>
          <a:prstGeom prst="rect">
            <a:avLst/>
          </a:prstGeom>
          <a:noFill/>
        </p:spPr>
        <p:txBody>
          <a:bodyPr wrap="square">
            <a:spAutoFit/>
          </a:bodyPr>
          <a:lstStyle/>
          <a:p>
            <a:pPr algn="l">
              <a:defRPr sz="1300" b="1">
                <a:solidFill>
                  <a:srgbClr val="1B2A4A"/>
                </a:solidFill>
              </a:defRPr>
            </a:pPr>
            <a:r>
              <a:t>研究背景与意义</a:t>
            </a:r>
          </a:p>
        </p:txBody>
      </p:sp>
      <p:sp>
        <p:nvSpPr>
          <p:cNvPr id="11" name="TextBox 10"/>
          <p:cNvSpPr txBox="1"/>
          <p:nvPr/>
        </p:nvSpPr>
        <p:spPr>
          <a:xfrm>
            <a:off x="2160000" y="1368000"/>
            <a:ext cx="7200000" cy="180000"/>
          </a:xfrm>
          <a:prstGeom prst="rect">
            <a:avLst/>
          </a:prstGeom>
          <a:noFill/>
        </p:spPr>
        <p:txBody>
          <a:bodyPr wrap="square">
            <a:spAutoFit/>
          </a:bodyPr>
          <a:lstStyle/>
          <a:p>
            <a:pPr algn="l">
              <a:defRPr sz="900" b="0">
                <a:solidFill>
                  <a:srgbClr val="6B7B8D"/>
                </a:solidFill>
              </a:defRPr>
            </a:pPr>
            <a:r>
              <a:t>研究现状、目标与方法</a:t>
            </a:r>
          </a:p>
        </p:txBody>
      </p:sp>
      <p:sp>
        <p:nvSpPr>
          <p:cNvPr id="12" name="Rounded Rectangle 11"/>
          <p:cNvSpPr/>
          <p:nvPr/>
        </p:nvSpPr>
        <p:spPr>
          <a:xfrm>
            <a:off x="720000" y="1835999"/>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20000" y="1835999"/>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80000" y="1890000"/>
            <a:ext cx="720000" cy="324000"/>
          </a:xfrm>
          <a:prstGeom prst="rect">
            <a:avLst/>
          </a:prstGeom>
          <a:noFill/>
        </p:spPr>
        <p:txBody>
          <a:bodyPr wrap="square">
            <a:spAutoFit/>
          </a:bodyPr>
          <a:lstStyle/>
          <a:p>
            <a:pPr algn="l">
              <a:defRPr sz="2400" b="1">
                <a:solidFill>
                  <a:srgbClr val="3D6CB9"/>
                </a:solidFill>
              </a:defRPr>
            </a:pPr>
            <a:r>
              <a:t>02</a:t>
            </a:r>
          </a:p>
        </p:txBody>
      </p:sp>
      <p:sp>
        <p:nvSpPr>
          <p:cNvPr id="15" name="TextBox 14"/>
          <p:cNvSpPr txBox="1"/>
          <p:nvPr/>
        </p:nvSpPr>
        <p:spPr>
          <a:xfrm>
            <a:off x="2160000" y="1890000"/>
            <a:ext cx="5400000" cy="216000"/>
          </a:xfrm>
          <a:prstGeom prst="rect">
            <a:avLst/>
          </a:prstGeom>
          <a:noFill/>
        </p:spPr>
        <p:txBody>
          <a:bodyPr wrap="square">
            <a:spAutoFit/>
          </a:bodyPr>
          <a:lstStyle/>
          <a:p>
            <a:pPr algn="l">
              <a:defRPr sz="1300" b="1">
                <a:solidFill>
                  <a:srgbClr val="1B2A4A"/>
                </a:solidFill>
              </a:defRPr>
            </a:pPr>
            <a:r>
              <a:t>机械结构设计</a:t>
            </a:r>
          </a:p>
        </p:txBody>
      </p:sp>
      <p:sp>
        <p:nvSpPr>
          <p:cNvPr id="16" name="TextBox 15"/>
          <p:cNvSpPr txBox="1"/>
          <p:nvPr/>
        </p:nvSpPr>
        <p:spPr>
          <a:xfrm>
            <a:off x="2160000" y="2124000"/>
            <a:ext cx="7200000" cy="180000"/>
          </a:xfrm>
          <a:prstGeom prst="rect">
            <a:avLst/>
          </a:prstGeom>
          <a:noFill/>
        </p:spPr>
        <p:txBody>
          <a:bodyPr wrap="square">
            <a:spAutoFit/>
          </a:bodyPr>
          <a:lstStyle/>
          <a:p>
            <a:pPr algn="l">
              <a:defRPr sz="900" b="0">
                <a:solidFill>
                  <a:srgbClr val="6B7B8D"/>
                </a:solidFill>
              </a:defRPr>
            </a:pPr>
            <a:r>
              <a:t>总装布局、升降机构、强度校核</a:t>
            </a:r>
          </a:p>
        </p:txBody>
      </p:sp>
      <p:sp>
        <p:nvSpPr>
          <p:cNvPr id="17" name="Rounded Rectangle 16"/>
          <p:cNvSpPr/>
          <p:nvPr/>
        </p:nvSpPr>
        <p:spPr>
          <a:xfrm>
            <a:off x="720000" y="2592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0000" y="2592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0000" y="2646000"/>
            <a:ext cx="720000" cy="324000"/>
          </a:xfrm>
          <a:prstGeom prst="rect">
            <a:avLst/>
          </a:prstGeom>
          <a:noFill/>
        </p:spPr>
        <p:txBody>
          <a:bodyPr wrap="square">
            <a:spAutoFit/>
          </a:bodyPr>
          <a:lstStyle/>
          <a:p>
            <a:pPr algn="l">
              <a:defRPr sz="2400" b="1">
                <a:solidFill>
                  <a:srgbClr val="3D6CB9"/>
                </a:solidFill>
              </a:defRPr>
            </a:pPr>
            <a:r>
              <a:t>03</a:t>
            </a:r>
          </a:p>
        </p:txBody>
      </p:sp>
      <p:sp>
        <p:nvSpPr>
          <p:cNvPr id="20" name="TextBox 19"/>
          <p:cNvSpPr txBox="1"/>
          <p:nvPr/>
        </p:nvSpPr>
        <p:spPr>
          <a:xfrm>
            <a:off x="2160000" y="2646000"/>
            <a:ext cx="5400000" cy="216000"/>
          </a:xfrm>
          <a:prstGeom prst="rect">
            <a:avLst/>
          </a:prstGeom>
          <a:noFill/>
        </p:spPr>
        <p:txBody>
          <a:bodyPr wrap="square">
            <a:spAutoFit/>
          </a:bodyPr>
          <a:lstStyle/>
          <a:p>
            <a:pPr algn="l">
              <a:defRPr sz="1300" b="1">
                <a:solidFill>
                  <a:srgbClr val="1B2A4A"/>
                </a:solidFill>
              </a:defRPr>
            </a:pPr>
            <a:r>
              <a:t>电气系统设计</a:t>
            </a:r>
          </a:p>
        </p:txBody>
      </p:sp>
      <p:sp>
        <p:nvSpPr>
          <p:cNvPr id="21" name="TextBox 20"/>
          <p:cNvSpPr txBox="1"/>
          <p:nvPr/>
        </p:nvSpPr>
        <p:spPr>
          <a:xfrm>
            <a:off x="2160000" y="2880000"/>
            <a:ext cx="7200000" cy="180000"/>
          </a:xfrm>
          <a:prstGeom prst="rect">
            <a:avLst/>
          </a:prstGeom>
          <a:noFill/>
        </p:spPr>
        <p:txBody>
          <a:bodyPr wrap="square">
            <a:spAutoFit/>
          </a:bodyPr>
          <a:lstStyle/>
          <a:p>
            <a:pPr algn="l">
              <a:defRPr sz="900" b="0">
                <a:solidFill>
                  <a:srgbClr val="6B7B8D"/>
                </a:solidFill>
              </a:defRPr>
            </a:pPr>
            <a:r>
              <a:t>主控、电机、传感器、电路</a:t>
            </a:r>
          </a:p>
        </p:txBody>
      </p:sp>
      <p:sp>
        <p:nvSpPr>
          <p:cNvPr id="22" name="Rounded Rectangle 21"/>
          <p:cNvSpPr/>
          <p:nvPr/>
        </p:nvSpPr>
        <p:spPr>
          <a:xfrm>
            <a:off x="720000" y="3348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0000" y="3348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0000" y="3402000"/>
            <a:ext cx="720000" cy="324000"/>
          </a:xfrm>
          <a:prstGeom prst="rect">
            <a:avLst/>
          </a:prstGeom>
          <a:noFill/>
        </p:spPr>
        <p:txBody>
          <a:bodyPr wrap="square">
            <a:spAutoFit/>
          </a:bodyPr>
          <a:lstStyle/>
          <a:p>
            <a:pPr algn="l">
              <a:defRPr sz="2400" b="1">
                <a:solidFill>
                  <a:srgbClr val="3D6CB9"/>
                </a:solidFill>
              </a:defRPr>
            </a:pPr>
            <a:r>
              <a:t>04</a:t>
            </a:r>
          </a:p>
        </p:txBody>
      </p:sp>
      <p:sp>
        <p:nvSpPr>
          <p:cNvPr id="25" name="TextBox 24"/>
          <p:cNvSpPr txBox="1"/>
          <p:nvPr/>
        </p:nvSpPr>
        <p:spPr>
          <a:xfrm>
            <a:off x="2160000" y="3402000"/>
            <a:ext cx="5400000" cy="216000"/>
          </a:xfrm>
          <a:prstGeom prst="rect">
            <a:avLst/>
          </a:prstGeom>
          <a:noFill/>
        </p:spPr>
        <p:txBody>
          <a:bodyPr wrap="square">
            <a:spAutoFit/>
          </a:bodyPr>
          <a:lstStyle/>
          <a:p>
            <a:pPr algn="l">
              <a:defRPr sz="1300" b="1">
                <a:solidFill>
                  <a:srgbClr val="1B2A4A"/>
                </a:solidFill>
              </a:defRPr>
            </a:pPr>
            <a:r>
              <a:t>运动学建模与仿真</a:t>
            </a:r>
          </a:p>
        </p:txBody>
      </p:sp>
      <p:sp>
        <p:nvSpPr>
          <p:cNvPr id="26" name="TextBox 25"/>
          <p:cNvSpPr txBox="1"/>
          <p:nvPr/>
        </p:nvSpPr>
        <p:spPr>
          <a:xfrm>
            <a:off x="2160000" y="3636000"/>
            <a:ext cx="7200000" cy="180000"/>
          </a:xfrm>
          <a:prstGeom prst="rect">
            <a:avLst/>
          </a:prstGeom>
          <a:noFill/>
        </p:spPr>
        <p:txBody>
          <a:bodyPr wrap="square">
            <a:spAutoFit/>
          </a:bodyPr>
          <a:lstStyle/>
          <a:p>
            <a:pPr algn="l">
              <a:defRPr sz="900" b="0">
                <a:solidFill>
                  <a:srgbClr val="6B7B8D"/>
                </a:solidFill>
              </a:defRPr>
            </a:pPr>
            <a:r>
              <a:t>差速模型、四类轨迹验证</a:t>
            </a:r>
          </a:p>
        </p:txBody>
      </p:sp>
      <p:sp>
        <p:nvSpPr>
          <p:cNvPr id="27" name="Rounded Rectangle 26"/>
          <p:cNvSpPr/>
          <p:nvPr/>
        </p:nvSpPr>
        <p:spPr>
          <a:xfrm>
            <a:off x="720000" y="4104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0000" y="4104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0000" y="4158000"/>
            <a:ext cx="720000" cy="324000"/>
          </a:xfrm>
          <a:prstGeom prst="rect">
            <a:avLst/>
          </a:prstGeom>
          <a:noFill/>
        </p:spPr>
        <p:txBody>
          <a:bodyPr wrap="square">
            <a:spAutoFit/>
          </a:bodyPr>
          <a:lstStyle/>
          <a:p>
            <a:pPr algn="l">
              <a:defRPr sz="2400" b="1">
                <a:solidFill>
                  <a:srgbClr val="3D6CB9"/>
                </a:solidFill>
              </a:defRPr>
            </a:pPr>
            <a:r>
              <a:t>05</a:t>
            </a:r>
          </a:p>
        </p:txBody>
      </p:sp>
      <p:sp>
        <p:nvSpPr>
          <p:cNvPr id="30" name="TextBox 29"/>
          <p:cNvSpPr txBox="1"/>
          <p:nvPr/>
        </p:nvSpPr>
        <p:spPr>
          <a:xfrm>
            <a:off x="2160000" y="4158000"/>
            <a:ext cx="5400000" cy="216000"/>
          </a:xfrm>
          <a:prstGeom prst="rect">
            <a:avLst/>
          </a:prstGeom>
          <a:noFill/>
        </p:spPr>
        <p:txBody>
          <a:bodyPr wrap="square">
            <a:spAutoFit/>
          </a:bodyPr>
          <a:lstStyle/>
          <a:p>
            <a:pPr algn="l">
              <a:defRPr sz="1300" b="1">
                <a:solidFill>
                  <a:srgbClr val="1B2A4A"/>
                </a:solidFill>
              </a:defRPr>
            </a:pPr>
            <a:r>
              <a:t>路径规划与循迹</a:t>
            </a:r>
          </a:p>
        </p:txBody>
      </p:sp>
      <p:sp>
        <p:nvSpPr>
          <p:cNvPr id="31" name="TextBox 30"/>
          <p:cNvSpPr txBox="1"/>
          <p:nvPr/>
        </p:nvSpPr>
        <p:spPr>
          <a:xfrm>
            <a:off x="2160000" y="4392000"/>
            <a:ext cx="7200000" cy="180000"/>
          </a:xfrm>
          <a:prstGeom prst="rect">
            <a:avLst/>
          </a:prstGeom>
          <a:noFill/>
        </p:spPr>
        <p:txBody>
          <a:bodyPr wrap="square">
            <a:spAutoFit/>
          </a:bodyPr>
          <a:lstStyle/>
          <a:p>
            <a:pPr algn="l">
              <a:defRPr sz="900" b="0">
                <a:solidFill>
                  <a:srgbClr val="6B7B8D"/>
                </a:solidFill>
              </a:defRPr>
            </a:pPr>
            <a:r>
              <a:t>Hybrid A* + PID红外循迹</a:t>
            </a:r>
          </a:p>
        </p:txBody>
      </p:sp>
      <p:sp>
        <p:nvSpPr>
          <p:cNvPr id="32" name="Rounded Rectangle 31"/>
          <p:cNvSpPr/>
          <p:nvPr/>
        </p:nvSpPr>
        <p:spPr>
          <a:xfrm>
            <a:off x="720000" y="4860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20000" y="4860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80000" y="4914000"/>
            <a:ext cx="720000" cy="324000"/>
          </a:xfrm>
          <a:prstGeom prst="rect">
            <a:avLst/>
          </a:prstGeom>
          <a:noFill/>
        </p:spPr>
        <p:txBody>
          <a:bodyPr wrap="square">
            <a:spAutoFit/>
          </a:bodyPr>
          <a:lstStyle/>
          <a:p>
            <a:pPr algn="l">
              <a:defRPr sz="2400" b="1">
                <a:solidFill>
                  <a:srgbClr val="3D6CB9"/>
                </a:solidFill>
              </a:defRPr>
            </a:pPr>
            <a:r>
              <a:t>06</a:t>
            </a:r>
          </a:p>
        </p:txBody>
      </p:sp>
      <p:sp>
        <p:nvSpPr>
          <p:cNvPr id="35" name="TextBox 34"/>
          <p:cNvSpPr txBox="1"/>
          <p:nvPr/>
        </p:nvSpPr>
        <p:spPr>
          <a:xfrm>
            <a:off x="2160000" y="4914000"/>
            <a:ext cx="5400000" cy="216000"/>
          </a:xfrm>
          <a:prstGeom prst="rect">
            <a:avLst/>
          </a:prstGeom>
          <a:noFill/>
        </p:spPr>
        <p:txBody>
          <a:bodyPr wrap="square">
            <a:spAutoFit/>
          </a:bodyPr>
          <a:lstStyle/>
          <a:p>
            <a:pPr algn="l">
              <a:defRPr sz="1300" b="1">
                <a:solidFill>
                  <a:srgbClr val="1B2A4A"/>
                </a:solidFill>
              </a:defRPr>
            </a:pPr>
            <a:r>
              <a:t>运动基元与算法</a:t>
            </a:r>
          </a:p>
        </p:txBody>
      </p:sp>
      <p:sp>
        <p:nvSpPr>
          <p:cNvPr id="36" name="TextBox 35"/>
          <p:cNvSpPr txBox="1"/>
          <p:nvPr/>
        </p:nvSpPr>
        <p:spPr>
          <a:xfrm>
            <a:off x="2160000" y="5148000"/>
            <a:ext cx="7200000" cy="180000"/>
          </a:xfrm>
          <a:prstGeom prst="rect">
            <a:avLst/>
          </a:prstGeom>
          <a:noFill/>
        </p:spPr>
        <p:txBody>
          <a:bodyPr wrap="square">
            <a:spAutoFit/>
          </a:bodyPr>
          <a:lstStyle/>
          <a:p>
            <a:pPr algn="l">
              <a:defRPr sz="900" b="0">
                <a:solidFill>
                  <a:srgbClr val="6B7B8D"/>
                </a:solidFill>
              </a:defRPr>
            </a:pPr>
            <a:r>
              <a:t>5种曲率基元、算法流程</a:t>
            </a:r>
          </a:p>
        </p:txBody>
      </p:sp>
      <p:sp>
        <p:nvSpPr>
          <p:cNvPr id="37" name="Rounded Rectangle 36"/>
          <p:cNvSpPr/>
          <p:nvPr/>
        </p:nvSpPr>
        <p:spPr>
          <a:xfrm>
            <a:off x="720000" y="5616000"/>
            <a:ext cx="10800000" cy="612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20000" y="5616000"/>
            <a:ext cx="43200" cy="6120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0000" y="5670000"/>
            <a:ext cx="720000" cy="324000"/>
          </a:xfrm>
          <a:prstGeom prst="rect">
            <a:avLst/>
          </a:prstGeom>
          <a:noFill/>
        </p:spPr>
        <p:txBody>
          <a:bodyPr wrap="square">
            <a:spAutoFit/>
          </a:bodyPr>
          <a:lstStyle/>
          <a:p>
            <a:pPr algn="l">
              <a:defRPr sz="2400" b="1">
                <a:solidFill>
                  <a:srgbClr val="3D6CB9"/>
                </a:solidFill>
              </a:defRPr>
            </a:pPr>
            <a:r>
              <a:t>07</a:t>
            </a:r>
          </a:p>
        </p:txBody>
      </p:sp>
      <p:sp>
        <p:nvSpPr>
          <p:cNvPr id="40" name="TextBox 39"/>
          <p:cNvSpPr txBox="1"/>
          <p:nvPr/>
        </p:nvSpPr>
        <p:spPr>
          <a:xfrm>
            <a:off x="2160000" y="5670000"/>
            <a:ext cx="5400000" cy="216000"/>
          </a:xfrm>
          <a:prstGeom prst="rect">
            <a:avLst/>
          </a:prstGeom>
          <a:noFill/>
        </p:spPr>
        <p:txBody>
          <a:bodyPr wrap="square">
            <a:spAutoFit/>
          </a:bodyPr>
          <a:lstStyle/>
          <a:p>
            <a:pPr algn="l">
              <a:defRPr sz="1300" b="1">
                <a:solidFill>
                  <a:srgbClr val="1B2A4A"/>
                </a:solidFill>
              </a:defRPr>
            </a:pPr>
            <a:r>
              <a:t>双环PID控制</a:t>
            </a:r>
          </a:p>
        </p:txBody>
      </p:sp>
      <p:sp>
        <p:nvSpPr>
          <p:cNvPr id="41" name="TextBox 40"/>
          <p:cNvSpPr txBox="1"/>
          <p:nvPr/>
        </p:nvSpPr>
        <p:spPr>
          <a:xfrm>
            <a:off x="2160000" y="5904000"/>
            <a:ext cx="7200000" cy="180000"/>
          </a:xfrm>
          <a:prstGeom prst="rect">
            <a:avLst/>
          </a:prstGeom>
          <a:noFill/>
        </p:spPr>
        <p:txBody>
          <a:bodyPr wrap="square">
            <a:spAutoFit/>
          </a:bodyPr>
          <a:lstStyle/>
          <a:p>
            <a:pPr algn="l">
              <a:defRPr sz="900" b="0">
                <a:solidFill>
                  <a:srgbClr val="6B7B8D"/>
                </a:solidFill>
              </a:defRPr>
            </a:pPr>
            <a:r>
              <a:t>级联结构、四项仿真验证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01</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研究背景与意义</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1/9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5580000" cy="234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000" y="1152000"/>
            <a:ext cx="5220000" cy="180000"/>
          </a:xfrm>
          <a:prstGeom prst="rect">
            <a:avLst/>
          </a:prstGeom>
          <a:noFill/>
        </p:spPr>
        <p:txBody>
          <a:bodyPr wrap="square">
            <a:spAutoFit/>
          </a:bodyPr>
          <a:lstStyle/>
          <a:p>
            <a:pPr algn="l">
              <a:defRPr sz="1200" b="1">
                <a:solidFill>
                  <a:srgbClr val="1B2A4A"/>
                </a:solidFill>
              </a:defRPr>
            </a:pPr>
            <a:r>
              <a:t>研究背景</a:t>
            </a:r>
          </a:p>
        </p:txBody>
      </p:sp>
      <p:sp>
        <p:nvSpPr>
          <p:cNvPr id="11" name="TextBox 10"/>
          <p:cNvSpPr txBox="1"/>
          <p:nvPr/>
        </p:nvSpPr>
        <p:spPr>
          <a:xfrm>
            <a:off x="540000" y="1368000"/>
            <a:ext cx="5220000" cy="1980000"/>
          </a:xfrm>
          <a:prstGeom prst="rect">
            <a:avLst/>
          </a:prstGeom>
          <a:noFill/>
        </p:spPr>
        <p:txBody>
          <a:bodyPr wrap="square">
            <a:spAutoFit/>
          </a:bodyPr>
          <a:lstStyle/>
          <a:p>
            <a:pPr algn="l">
              <a:defRPr sz="950" b="0">
                <a:solidFill>
                  <a:srgbClr val="6B7B8D"/>
                </a:solidFill>
              </a:defRPr>
            </a:pPr>
            <a:r>
              <a:t>2024年网络零售额15.5万亿元，连续12年全球最大网络零售市场。电商规模持续扩大，仓储物流成为效率瓶颈。</a:t>
            </a:r>
            <a:br/>
            <a:br/>
            <a:r>
              <a:t>AMR凭借激光SLAM、视觉感知和自主决策能力，成为智能仓储核心装备。AGV行业规模从48.27亿升至95.49亿元，AMR市场突破60亿元，年增长率超30%。</a:t>
            </a:r>
          </a:p>
        </p:txBody>
      </p:sp>
      <p:sp>
        <p:nvSpPr>
          <p:cNvPr id="12" name="Rounded Rectangle 11"/>
          <p:cNvSpPr/>
          <p:nvPr/>
        </p:nvSpPr>
        <p:spPr>
          <a:xfrm>
            <a:off x="6120000" y="1080000"/>
            <a:ext cx="5580000" cy="234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kuaidi1.png"/>
          <p:cNvPicPr>
            <a:picLocks noChangeAspect="1"/>
          </p:cNvPicPr>
          <p:nvPr/>
        </p:nvPicPr>
        <p:blipFill>
          <a:blip r:embed="rId2"/>
          <a:stretch>
            <a:fillRect/>
          </a:stretch>
        </p:blipFill>
        <p:spPr>
          <a:xfrm>
            <a:off x="6228000" y="1152000"/>
            <a:ext cx="3313958" cy="1980000"/>
          </a:xfrm>
          <a:prstGeom prst="rect">
            <a:avLst/>
          </a:prstGeom>
        </p:spPr>
      </p:pic>
      <p:sp>
        <p:nvSpPr>
          <p:cNvPr id="14" name="TextBox 13"/>
          <p:cNvSpPr txBox="1"/>
          <p:nvPr/>
        </p:nvSpPr>
        <p:spPr>
          <a:xfrm>
            <a:off x="6228000" y="3204000"/>
            <a:ext cx="5328000" cy="144000"/>
          </a:xfrm>
          <a:prstGeom prst="rect">
            <a:avLst/>
          </a:prstGeom>
          <a:noFill/>
        </p:spPr>
        <p:txBody>
          <a:bodyPr wrap="square">
            <a:spAutoFit/>
          </a:bodyPr>
          <a:lstStyle/>
          <a:p>
            <a:pPr algn="ctr">
              <a:defRPr sz="800" b="0">
                <a:solidFill>
                  <a:srgbClr val="6B7B8D"/>
                </a:solidFill>
              </a:defRPr>
            </a:pPr>
            <a:r>
              <a:t>2020-2024年快递数据</a:t>
            </a:r>
          </a:p>
        </p:txBody>
      </p:sp>
      <p:sp>
        <p:nvSpPr>
          <p:cNvPr id="15" name="Rounded Rectangle 14"/>
          <p:cNvSpPr/>
          <p:nvPr/>
        </p:nvSpPr>
        <p:spPr>
          <a:xfrm>
            <a:off x="360000" y="3600000"/>
            <a:ext cx="3600000" cy="2232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GV.png"/>
          <p:cNvPicPr>
            <a:picLocks noChangeAspect="1"/>
          </p:cNvPicPr>
          <p:nvPr/>
        </p:nvPicPr>
        <p:blipFill>
          <a:blip r:embed="rId3"/>
          <a:stretch>
            <a:fillRect/>
          </a:stretch>
        </p:blipFill>
        <p:spPr>
          <a:xfrm>
            <a:off x="468000" y="3671999"/>
            <a:ext cx="2870270" cy="1800000"/>
          </a:xfrm>
          <a:prstGeom prst="rect">
            <a:avLst/>
          </a:prstGeom>
        </p:spPr>
      </p:pic>
      <p:sp>
        <p:nvSpPr>
          <p:cNvPr id="17" name="TextBox 16"/>
          <p:cNvSpPr txBox="1"/>
          <p:nvPr/>
        </p:nvSpPr>
        <p:spPr>
          <a:xfrm>
            <a:off x="468000" y="5508000"/>
            <a:ext cx="3384000" cy="144000"/>
          </a:xfrm>
          <a:prstGeom prst="rect">
            <a:avLst/>
          </a:prstGeom>
          <a:noFill/>
        </p:spPr>
        <p:txBody>
          <a:bodyPr wrap="square">
            <a:spAutoFit/>
          </a:bodyPr>
          <a:lstStyle/>
          <a:p>
            <a:pPr algn="ctr">
              <a:defRPr sz="800" b="0">
                <a:solidFill>
                  <a:srgbClr val="6B7B8D"/>
                </a:solidFill>
              </a:defRPr>
            </a:pPr>
            <a:r>
              <a:t>AGV工作示意图</a:t>
            </a:r>
          </a:p>
        </p:txBody>
      </p:sp>
      <p:sp>
        <p:nvSpPr>
          <p:cNvPr id="18" name="Rounded Rectangle 17"/>
          <p:cNvSpPr/>
          <p:nvPr/>
        </p:nvSpPr>
        <p:spPr>
          <a:xfrm>
            <a:off x="4140000" y="3600000"/>
            <a:ext cx="3780000" cy="2232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0" y="3671999"/>
            <a:ext cx="3420000" cy="180000"/>
          </a:xfrm>
          <a:prstGeom prst="rect">
            <a:avLst/>
          </a:prstGeom>
          <a:noFill/>
        </p:spPr>
        <p:txBody>
          <a:bodyPr wrap="square">
            <a:spAutoFit/>
          </a:bodyPr>
          <a:lstStyle/>
          <a:p>
            <a:pPr algn="l">
              <a:defRPr sz="1100" b="1">
                <a:solidFill>
                  <a:srgbClr val="2E7D32"/>
                </a:solidFill>
              </a:defRPr>
            </a:pPr>
            <a:r>
              <a:t>研究目标</a:t>
            </a:r>
          </a:p>
        </p:txBody>
      </p:sp>
      <p:sp>
        <p:nvSpPr>
          <p:cNvPr id="20" name="TextBox 19"/>
          <p:cNvSpPr txBox="1"/>
          <p:nvPr/>
        </p:nvSpPr>
        <p:spPr>
          <a:xfrm>
            <a:off x="4320000" y="3888000"/>
            <a:ext cx="3420000" cy="180000"/>
          </a:xfrm>
          <a:prstGeom prst="rect">
            <a:avLst/>
          </a:prstGeom>
          <a:noFill/>
        </p:spPr>
        <p:txBody>
          <a:bodyPr wrap="square">
            <a:spAutoFit/>
          </a:bodyPr>
          <a:lstStyle/>
          <a:p>
            <a:pPr algn="l">
              <a:defRPr sz="900" b="0">
                <a:solidFill>
                  <a:srgbClr val="2E7D32"/>
                </a:solidFill>
              </a:defRPr>
            </a:pPr>
            <a:r>
              <a:t>① 自主沿规划路径行驶</a:t>
            </a:r>
          </a:p>
        </p:txBody>
      </p:sp>
      <p:sp>
        <p:nvSpPr>
          <p:cNvPr id="21" name="TextBox 20"/>
          <p:cNvSpPr txBox="1"/>
          <p:nvPr/>
        </p:nvSpPr>
        <p:spPr>
          <a:xfrm>
            <a:off x="4320000" y="4086000"/>
            <a:ext cx="3420000" cy="180000"/>
          </a:xfrm>
          <a:prstGeom prst="rect">
            <a:avLst/>
          </a:prstGeom>
          <a:noFill/>
        </p:spPr>
        <p:txBody>
          <a:bodyPr wrap="square">
            <a:spAutoFit/>
          </a:bodyPr>
          <a:lstStyle/>
          <a:p>
            <a:pPr algn="l">
              <a:defRPr sz="900" b="0">
                <a:solidFill>
                  <a:srgbClr val="2E7D32"/>
                </a:solidFill>
              </a:defRPr>
            </a:pPr>
            <a:r>
              <a:t>② 载物台升降 ≥0.4m</a:t>
            </a:r>
          </a:p>
        </p:txBody>
      </p:sp>
      <p:sp>
        <p:nvSpPr>
          <p:cNvPr id="22" name="TextBox 21"/>
          <p:cNvSpPr txBox="1"/>
          <p:nvPr/>
        </p:nvSpPr>
        <p:spPr>
          <a:xfrm>
            <a:off x="4320000" y="4284000"/>
            <a:ext cx="3420000" cy="180000"/>
          </a:xfrm>
          <a:prstGeom prst="rect">
            <a:avLst/>
          </a:prstGeom>
          <a:noFill/>
        </p:spPr>
        <p:txBody>
          <a:bodyPr wrap="square">
            <a:spAutoFit/>
          </a:bodyPr>
          <a:lstStyle/>
          <a:p>
            <a:pPr algn="l">
              <a:defRPr sz="900" b="0">
                <a:solidFill>
                  <a:srgbClr val="2E7D32"/>
                </a:solidFill>
              </a:defRPr>
            </a:pPr>
            <a:r>
              <a:t>③ 障碍物检测与避障</a:t>
            </a:r>
          </a:p>
        </p:txBody>
      </p:sp>
      <p:sp>
        <p:nvSpPr>
          <p:cNvPr id="23" name="TextBox 22"/>
          <p:cNvSpPr txBox="1"/>
          <p:nvPr/>
        </p:nvSpPr>
        <p:spPr>
          <a:xfrm>
            <a:off x="4320000" y="4482000"/>
            <a:ext cx="3420000" cy="180000"/>
          </a:xfrm>
          <a:prstGeom prst="rect">
            <a:avLst/>
          </a:prstGeom>
          <a:noFill/>
        </p:spPr>
        <p:txBody>
          <a:bodyPr wrap="square">
            <a:spAutoFit/>
          </a:bodyPr>
          <a:lstStyle/>
          <a:p>
            <a:pPr algn="l">
              <a:defRPr sz="900" b="0">
                <a:solidFill>
                  <a:srgbClr val="2E7D32"/>
                </a:solidFill>
              </a:defRPr>
            </a:pPr>
            <a:r>
              <a:t>④ 紧凑外形，灵活通行</a:t>
            </a:r>
          </a:p>
        </p:txBody>
      </p:sp>
      <p:sp>
        <p:nvSpPr>
          <p:cNvPr id="24" name="TextBox 23"/>
          <p:cNvSpPr txBox="1"/>
          <p:nvPr/>
        </p:nvSpPr>
        <p:spPr>
          <a:xfrm>
            <a:off x="4320000" y="4680000"/>
            <a:ext cx="3420000" cy="180000"/>
          </a:xfrm>
          <a:prstGeom prst="rect">
            <a:avLst/>
          </a:prstGeom>
          <a:noFill/>
        </p:spPr>
        <p:txBody>
          <a:bodyPr wrap="square">
            <a:spAutoFit/>
          </a:bodyPr>
          <a:lstStyle/>
          <a:p>
            <a:pPr algn="l">
              <a:defRPr sz="900" b="0">
                <a:solidFill>
                  <a:srgbClr val="2E7D32"/>
                </a:solidFill>
              </a:defRPr>
            </a:pPr>
            <a:r>
              <a:t>⑤ 结构简洁、成本可控</a:t>
            </a:r>
          </a:p>
        </p:txBody>
      </p:sp>
      <p:sp>
        <p:nvSpPr>
          <p:cNvPr id="25" name="Rounded Rectangle 24"/>
          <p:cNvSpPr/>
          <p:nvPr/>
        </p:nvSpPr>
        <p:spPr>
          <a:xfrm>
            <a:off x="8100000" y="3600000"/>
            <a:ext cx="3708000" cy="2232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80000" y="3671999"/>
            <a:ext cx="3348000" cy="180000"/>
          </a:xfrm>
          <a:prstGeom prst="rect">
            <a:avLst/>
          </a:prstGeom>
          <a:noFill/>
        </p:spPr>
        <p:txBody>
          <a:bodyPr wrap="square">
            <a:spAutoFit/>
          </a:bodyPr>
          <a:lstStyle/>
          <a:p>
            <a:pPr algn="l">
              <a:defRPr sz="1100" b="1">
                <a:solidFill>
                  <a:srgbClr val="1B2A4A"/>
                </a:solidFill>
              </a:defRPr>
            </a:pPr>
            <a:r>
              <a:t>关键指标</a:t>
            </a:r>
          </a:p>
        </p:txBody>
      </p:sp>
      <p:sp>
        <p:nvSpPr>
          <p:cNvPr id="27" name="TextBox 26"/>
          <p:cNvSpPr txBox="1"/>
          <p:nvPr/>
        </p:nvSpPr>
        <p:spPr>
          <a:xfrm>
            <a:off x="8280000" y="3888000"/>
            <a:ext cx="1440000" cy="144000"/>
          </a:xfrm>
          <a:prstGeom prst="rect">
            <a:avLst/>
          </a:prstGeom>
          <a:noFill/>
        </p:spPr>
        <p:txBody>
          <a:bodyPr wrap="square">
            <a:spAutoFit/>
          </a:bodyPr>
          <a:lstStyle/>
          <a:p>
            <a:pPr algn="l">
              <a:defRPr sz="900" b="0">
                <a:solidFill>
                  <a:srgbClr val="6B7B8D"/>
                </a:solidFill>
              </a:defRPr>
            </a:pPr>
            <a:r>
              <a:t>额定载重</a:t>
            </a:r>
          </a:p>
        </p:txBody>
      </p:sp>
      <p:sp>
        <p:nvSpPr>
          <p:cNvPr id="28" name="TextBox 27"/>
          <p:cNvSpPr txBox="1"/>
          <p:nvPr/>
        </p:nvSpPr>
        <p:spPr>
          <a:xfrm>
            <a:off x="8280000" y="4014000"/>
            <a:ext cx="3348000" cy="251999"/>
          </a:xfrm>
          <a:prstGeom prst="rect">
            <a:avLst/>
          </a:prstGeom>
          <a:noFill/>
        </p:spPr>
        <p:txBody>
          <a:bodyPr wrap="square">
            <a:spAutoFit/>
          </a:bodyPr>
          <a:lstStyle/>
          <a:p>
            <a:pPr algn="l">
              <a:defRPr sz="1800" b="1">
                <a:solidFill>
                  <a:srgbClr val="3D6CB9"/>
                </a:solidFill>
              </a:defRPr>
            </a:pPr>
            <a:r>
              <a:t>50 kg</a:t>
            </a:r>
          </a:p>
        </p:txBody>
      </p:sp>
      <p:sp>
        <p:nvSpPr>
          <p:cNvPr id="29" name="TextBox 28"/>
          <p:cNvSpPr txBox="1"/>
          <p:nvPr/>
        </p:nvSpPr>
        <p:spPr>
          <a:xfrm>
            <a:off x="8280000" y="4464000"/>
            <a:ext cx="1440000" cy="144000"/>
          </a:xfrm>
          <a:prstGeom prst="rect">
            <a:avLst/>
          </a:prstGeom>
          <a:noFill/>
        </p:spPr>
        <p:txBody>
          <a:bodyPr wrap="square">
            <a:spAutoFit/>
          </a:bodyPr>
          <a:lstStyle/>
          <a:p>
            <a:pPr algn="l">
              <a:defRPr sz="900" b="0">
                <a:solidFill>
                  <a:srgbClr val="6B7B8D"/>
                </a:solidFill>
              </a:defRPr>
            </a:pPr>
            <a:r>
              <a:t>升降行程</a:t>
            </a:r>
          </a:p>
        </p:txBody>
      </p:sp>
      <p:sp>
        <p:nvSpPr>
          <p:cNvPr id="30" name="TextBox 29"/>
          <p:cNvSpPr txBox="1"/>
          <p:nvPr/>
        </p:nvSpPr>
        <p:spPr>
          <a:xfrm>
            <a:off x="8280000" y="4590000"/>
            <a:ext cx="3348000" cy="251999"/>
          </a:xfrm>
          <a:prstGeom prst="rect">
            <a:avLst/>
          </a:prstGeom>
          <a:noFill/>
        </p:spPr>
        <p:txBody>
          <a:bodyPr wrap="square">
            <a:spAutoFit/>
          </a:bodyPr>
          <a:lstStyle/>
          <a:p>
            <a:pPr algn="l">
              <a:defRPr sz="1800" b="1">
                <a:solidFill>
                  <a:srgbClr val="3D6CB9"/>
                </a:solidFill>
              </a:defRPr>
            </a:pPr>
            <a:r>
              <a:t>0.4 m</a:t>
            </a:r>
          </a:p>
        </p:txBody>
      </p:sp>
      <p:sp>
        <p:nvSpPr>
          <p:cNvPr id="31" name="TextBox 30"/>
          <p:cNvSpPr txBox="1"/>
          <p:nvPr/>
        </p:nvSpPr>
        <p:spPr>
          <a:xfrm>
            <a:off x="8280000" y="5040000"/>
            <a:ext cx="1440000" cy="144000"/>
          </a:xfrm>
          <a:prstGeom prst="rect">
            <a:avLst/>
          </a:prstGeom>
          <a:noFill/>
        </p:spPr>
        <p:txBody>
          <a:bodyPr wrap="square">
            <a:spAutoFit/>
          </a:bodyPr>
          <a:lstStyle/>
          <a:p>
            <a:pPr algn="l">
              <a:defRPr sz="900" b="0">
                <a:solidFill>
                  <a:srgbClr val="6B7B8D"/>
                </a:solidFill>
              </a:defRPr>
            </a:pPr>
            <a:r>
              <a:t>最大速度</a:t>
            </a:r>
          </a:p>
        </p:txBody>
      </p:sp>
      <p:sp>
        <p:nvSpPr>
          <p:cNvPr id="32" name="TextBox 31"/>
          <p:cNvSpPr txBox="1"/>
          <p:nvPr/>
        </p:nvSpPr>
        <p:spPr>
          <a:xfrm>
            <a:off x="8280000" y="5166000"/>
            <a:ext cx="3348000" cy="251999"/>
          </a:xfrm>
          <a:prstGeom prst="rect">
            <a:avLst/>
          </a:prstGeom>
          <a:noFill/>
        </p:spPr>
        <p:txBody>
          <a:bodyPr wrap="square">
            <a:spAutoFit/>
          </a:bodyPr>
          <a:lstStyle/>
          <a:p>
            <a:pPr algn="l">
              <a:defRPr sz="1800" b="1">
                <a:solidFill>
                  <a:srgbClr val="3D6CB9"/>
                </a:solidFill>
              </a:defRPr>
            </a:pPr>
            <a:r>
              <a:t>30 m/min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02</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机械结构设计</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2/9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3600000" cy="280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机械总装.png"/>
          <p:cNvPicPr>
            <a:picLocks noChangeAspect="1"/>
          </p:cNvPicPr>
          <p:nvPr/>
        </p:nvPicPr>
        <p:blipFill>
          <a:blip r:embed="rId2"/>
          <a:stretch>
            <a:fillRect/>
          </a:stretch>
        </p:blipFill>
        <p:spPr>
          <a:xfrm>
            <a:off x="468000" y="1152000"/>
            <a:ext cx="3384000" cy="2105075"/>
          </a:xfrm>
          <a:prstGeom prst="rect">
            <a:avLst/>
          </a:prstGeom>
        </p:spPr>
      </p:pic>
      <p:sp>
        <p:nvSpPr>
          <p:cNvPr id="11" name="TextBox 10"/>
          <p:cNvSpPr txBox="1"/>
          <p:nvPr/>
        </p:nvSpPr>
        <p:spPr>
          <a:xfrm>
            <a:off x="468000" y="3528000"/>
            <a:ext cx="3384000" cy="144000"/>
          </a:xfrm>
          <a:prstGeom prst="rect">
            <a:avLst/>
          </a:prstGeom>
          <a:noFill/>
        </p:spPr>
        <p:txBody>
          <a:bodyPr wrap="square">
            <a:spAutoFit/>
          </a:bodyPr>
          <a:lstStyle/>
          <a:p>
            <a:pPr algn="ctr">
              <a:defRPr sz="800" b="0">
                <a:solidFill>
                  <a:srgbClr val="6B7B8D"/>
                </a:solidFill>
              </a:defRPr>
            </a:pPr>
            <a:r>
              <a:t>总体结构示意图</a:t>
            </a:r>
          </a:p>
        </p:txBody>
      </p:sp>
      <p:sp>
        <p:nvSpPr>
          <p:cNvPr id="12" name="Rounded Rectangle 11"/>
          <p:cNvSpPr/>
          <p:nvPr/>
        </p:nvSpPr>
        <p:spPr>
          <a:xfrm>
            <a:off x="4140000" y="1080000"/>
            <a:ext cx="3600000" cy="162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hengjiangtai.png"/>
          <p:cNvPicPr>
            <a:picLocks noChangeAspect="1"/>
          </p:cNvPicPr>
          <p:nvPr/>
        </p:nvPicPr>
        <p:blipFill>
          <a:blip r:embed="rId3"/>
          <a:stretch>
            <a:fillRect/>
          </a:stretch>
        </p:blipFill>
        <p:spPr>
          <a:xfrm>
            <a:off x="4248000" y="1152000"/>
            <a:ext cx="1952784" cy="1260000"/>
          </a:xfrm>
          <a:prstGeom prst="rect">
            <a:avLst/>
          </a:prstGeom>
        </p:spPr>
      </p:pic>
      <p:sp>
        <p:nvSpPr>
          <p:cNvPr id="14" name="TextBox 13"/>
          <p:cNvSpPr txBox="1"/>
          <p:nvPr/>
        </p:nvSpPr>
        <p:spPr>
          <a:xfrm>
            <a:off x="4248000" y="2448000"/>
            <a:ext cx="3384000" cy="144000"/>
          </a:xfrm>
          <a:prstGeom prst="rect">
            <a:avLst/>
          </a:prstGeom>
          <a:noFill/>
        </p:spPr>
        <p:txBody>
          <a:bodyPr wrap="square">
            <a:spAutoFit/>
          </a:bodyPr>
          <a:lstStyle/>
          <a:p>
            <a:pPr algn="ctr">
              <a:defRPr sz="800" b="0">
                <a:solidFill>
                  <a:srgbClr val="6B7B8D"/>
                </a:solidFill>
              </a:defRPr>
            </a:pPr>
            <a:r>
              <a:t>剪叉式升降机构</a:t>
            </a:r>
          </a:p>
        </p:txBody>
      </p:sp>
      <p:sp>
        <p:nvSpPr>
          <p:cNvPr id="15" name="Rounded Rectangle 14"/>
          <p:cNvSpPr/>
          <p:nvPr/>
        </p:nvSpPr>
        <p:spPr>
          <a:xfrm>
            <a:off x="7920000" y="1080000"/>
            <a:ext cx="3780000" cy="162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0000" y="1152000"/>
            <a:ext cx="3420000" cy="180000"/>
          </a:xfrm>
          <a:prstGeom prst="rect">
            <a:avLst/>
          </a:prstGeom>
          <a:noFill/>
        </p:spPr>
        <p:txBody>
          <a:bodyPr wrap="square">
            <a:spAutoFit/>
          </a:bodyPr>
          <a:lstStyle/>
          <a:p>
            <a:pPr algn="l">
              <a:defRPr sz="1000" b="1">
                <a:solidFill>
                  <a:srgbClr val="1565C0"/>
                </a:solidFill>
              </a:defRPr>
            </a:pPr>
            <a:r>
              <a:t>升降机构参数</a:t>
            </a:r>
          </a:p>
        </p:txBody>
      </p:sp>
      <p:sp>
        <p:nvSpPr>
          <p:cNvPr id="17" name="TextBox 16"/>
          <p:cNvSpPr txBox="1"/>
          <p:nvPr/>
        </p:nvSpPr>
        <p:spPr>
          <a:xfrm>
            <a:off x="8100000" y="1368000"/>
            <a:ext cx="3420000" cy="125999"/>
          </a:xfrm>
          <a:prstGeom prst="rect">
            <a:avLst/>
          </a:prstGeom>
          <a:noFill/>
        </p:spPr>
        <p:txBody>
          <a:bodyPr wrap="square">
            <a:spAutoFit/>
          </a:bodyPr>
          <a:lstStyle/>
          <a:p>
            <a:pPr algn="l">
              <a:defRPr sz="850" b="0">
                <a:solidFill>
                  <a:srgbClr val="1565C0"/>
                </a:solidFill>
              </a:defRPr>
            </a:pPr>
            <a:r>
              <a:t>臂杆 L=600mm</a:t>
            </a:r>
          </a:p>
        </p:txBody>
      </p:sp>
      <p:sp>
        <p:nvSpPr>
          <p:cNvPr id="18" name="TextBox 17"/>
          <p:cNvSpPr txBox="1"/>
          <p:nvPr/>
        </p:nvSpPr>
        <p:spPr>
          <a:xfrm>
            <a:off x="8100000" y="1504800"/>
            <a:ext cx="3420000" cy="125999"/>
          </a:xfrm>
          <a:prstGeom prst="rect">
            <a:avLst/>
          </a:prstGeom>
          <a:noFill/>
        </p:spPr>
        <p:txBody>
          <a:bodyPr wrap="square">
            <a:spAutoFit/>
          </a:bodyPr>
          <a:lstStyle/>
          <a:p>
            <a:pPr algn="l">
              <a:defRPr sz="850" b="0">
                <a:solidFill>
                  <a:srgbClr val="1565C0"/>
                </a:solidFill>
              </a:defRPr>
            </a:pPr>
            <a:r>
              <a:t>截面 36×4.8mm Q235</a:t>
            </a:r>
          </a:p>
        </p:txBody>
      </p:sp>
      <p:sp>
        <p:nvSpPr>
          <p:cNvPr id="19" name="TextBox 18"/>
          <p:cNvSpPr txBox="1"/>
          <p:nvPr/>
        </p:nvSpPr>
        <p:spPr>
          <a:xfrm>
            <a:off x="8100000" y="1641599"/>
            <a:ext cx="3420000" cy="125999"/>
          </a:xfrm>
          <a:prstGeom prst="rect">
            <a:avLst/>
          </a:prstGeom>
          <a:noFill/>
        </p:spPr>
        <p:txBody>
          <a:bodyPr wrap="square">
            <a:spAutoFit/>
          </a:bodyPr>
          <a:lstStyle/>
          <a:p>
            <a:pPr algn="l">
              <a:defRPr sz="850" b="0">
                <a:solidFill>
                  <a:srgbClr val="1565C0"/>
                </a:solidFill>
              </a:defRPr>
            </a:pPr>
            <a:r>
              <a:t>夹角 19.1°~133.5°</a:t>
            </a:r>
          </a:p>
        </p:txBody>
      </p:sp>
      <p:sp>
        <p:nvSpPr>
          <p:cNvPr id="20" name="TextBox 19"/>
          <p:cNvSpPr txBox="1"/>
          <p:nvPr/>
        </p:nvSpPr>
        <p:spPr>
          <a:xfrm>
            <a:off x="8100000" y="1778399"/>
            <a:ext cx="3420000" cy="125999"/>
          </a:xfrm>
          <a:prstGeom prst="rect">
            <a:avLst/>
          </a:prstGeom>
          <a:noFill/>
        </p:spPr>
        <p:txBody>
          <a:bodyPr wrap="square">
            <a:spAutoFit/>
          </a:bodyPr>
          <a:lstStyle/>
          <a:p>
            <a:pPr algn="l">
              <a:defRPr sz="850" b="0">
                <a:solidFill>
                  <a:srgbClr val="1565C0"/>
                </a:solidFill>
              </a:defRPr>
            </a:pPr>
            <a:r>
              <a:t>高度 149~600mm</a:t>
            </a:r>
          </a:p>
        </p:txBody>
      </p:sp>
      <p:sp>
        <p:nvSpPr>
          <p:cNvPr id="21" name="TextBox 20"/>
          <p:cNvSpPr txBox="1"/>
          <p:nvPr/>
        </p:nvSpPr>
        <p:spPr>
          <a:xfrm>
            <a:off x="8100000" y="1915200"/>
            <a:ext cx="3420000" cy="125999"/>
          </a:xfrm>
          <a:prstGeom prst="rect">
            <a:avLst/>
          </a:prstGeom>
          <a:noFill/>
        </p:spPr>
        <p:txBody>
          <a:bodyPr wrap="square">
            <a:spAutoFit/>
          </a:bodyPr>
          <a:lstStyle/>
          <a:p>
            <a:pPr algn="l">
              <a:defRPr sz="850" b="0">
                <a:solidFill>
                  <a:srgbClr val="1565C0"/>
                </a:solidFill>
              </a:defRPr>
            </a:pPr>
            <a:r>
              <a:t>升程 ~452mm</a:t>
            </a:r>
          </a:p>
        </p:txBody>
      </p:sp>
      <p:sp>
        <p:nvSpPr>
          <p:cNvPr id="22" name="TextBox 21"/>
          <p:cNvSpPr txBox="1"/>
          <p:nvPr/>
        </p:nvSpPr>
        <p:spPr>
          <a:xfrm>
            <a:off x="8100000" y="2051999"/>
            <a:ext cx="3420000" cy="125999"/>
          </a:xfrm>
          <a:prstGeom prst="rect">
            <a:avLst/>
          </a:prstGeom>
          <a:noFill/>
        </p:spPr>
        <p:txBody>
          <a:bodyPr wrap="square">
            <a:spAutoFit/>
          </a:bodyPr>
          <a:lstStyle/>
          <a:p>
            <a:pPr algn="l">
              <a:defRPr sz="850" b="0">
                <a:solidFill>
                  <a:srgbClr val="1565C0"/>
                </a:solidFill>
              </a:defRPr>
            </a:pPr>
            <a:r>
              <a:t>载重 50kg</a:t>
            </a:r>
          </a:p>
        </p:txBody>
      </p:sp>
      <p:sp>
        <p:nvSpPr>
          <p:cNvPr id="23" name="Rounded Rectangle 22"/>
          <p:cNvSpPr/>
          <p:nvPr/>
        </p:nvSpPr>
        <p:spPr>
          <a:xfrm>
            <a:off x="4140000" y="2880000"/>
            <a:ext cx="7560000" cy="144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0000" y="2951999"/>
            <a:ext cx="7200000" cy="180000"/>
          </a:xfrm>
          <a:prstGeom prst="rect">
            <a:avLst/>
          </a:prstGeom>
          <a:noFill/>
        </p:spPr>
        <p:txBody>
          <a:bodyPr wrap="square">
            <a:spAutoFit/>
          </a:bodyPr>
          <a:lstStyle/>
          <a:p>
            <a:pPr algn="l">
              <a:defRPr sz="1000" b="1">
                <a:solidFill>
                  <a:srgbClr val="2E7D32"/>
                </a:solidFill>
              </a:defRPr>
            </a:pPr>
            <a:r>
              <a:t>强度校核 (FEA验证)</a:t>
            </a:r>
          </a:p>
        </p:txBody>
      </p:sp>
      <p:sp>
        <p:nvSpPr>
          <p:cNvPr id="25" name="TextBox 24"/>
          <p:cNvSpPr txBox="1"/>
          <p:nvPr/>
        </p:nvSpPr>
        <p:spPr>
          <a:xfrm>
            <a:off x="4320000" y="3168000"/>
            <a:ext cx="7200000" cy="151200"/>
          </a:xfrm>
          <a:prstGeom prst="rect">
            <a:avLst/>
          </a:prstGeom>
          <a:noFill/>
        </p:spPr>
        <p:txBody>
          <a:bodyPr wrap="square">
            <a:spAutoFit/>
          </a:bodyPr>
          <a:lstStyle/>
          <a:p>
            <a:pPr algn="l">
              <a:defRPr sz="900" b="0">
                <a:solidFill>
                  <a:srgbClr val="2E7D32"/>
                </a:solidFill>
              </a:defRPr>
            </a:pPr>
            <a:r>
              <a:t>臂杆组合应力 5.56 MPa (FEA: 5.60, 偏差&lt;1%)</a:t>
            </a:r>
          </a:p>
        </p:txBody>
      </p:sp>
      <p:sp>
        <p:nvSpPr>
          <p:cNvPr id="26" name="TextBox 25"/>
          <p:cNvSpPr txBox="1"/>
          <p:nvPr/>
        </p:nvSpPr>
        <p:spPr>
          <a:xfrm>
            <a:off x="4320000" y="3340800"/>
            <a:ext cx="7200000" cy="151200"/>
          </a:xfrm>
          <a:prstGeom prst="rect">
            <a:avLst/>
          </a:prstGeom>
          <a:noFill/>
        </p:spPr>
        <p:txBody>
          <a:bodyPr wrap="square">
            <a:spAutoFit/>
          </a:bodyPr>
          <a:lstStyle/>
          <a:p>
            <a:pPr algn="l">
              <a:defRPr sz="900" b="0">
                <a:solidFill>
                  <a:srgbClr val="2E7D32"/>
                </a:solidFill>
              </a:defRPr>
            </a:pPr>
            <a:r>
              <a:t>Q235许用应力 156.7 MPa  利用率 3.5%</a:t>
            </a:r>
          </a:p>
        </p:txBody>
      </p:sp>
      <p:sp>
        <p:nvSpPr>
          <p:cNvPr id="27" name="TextBox 26"/>
          <p:cNvSpPr txBox="1"/>
          <p:nvPr/>
        </p:nvSpPr>
        <p:spPr>
          <a:xfrm>
            <a:off x="4320000" y="3513600"/>
            <a:ext cx="7200000" cy="151200"/>
          </a:xfrm>
          <a:prstGeom prst="rect">
            <a:avLst/>
          </a:prstGeom>
          <a:noFill/>
        </p:spPr>
        <p:txBody>
          <a:bodyPr wrap="square">
            <a:spAutoFit/>
          </a:bodyPr>
          <a:lstStyle/>
          <a:p>
            <a:pPr algn="l">
              <a:defRPr sz="900" b="0">
                <a:solidFill>
                  <a:srgbClr val="2E7D32"/>
                </a:solidFill>
              </a:defRPr>
            </a:pPr>
            <a:r>
              <a:t>平台 von Mises 14.1 MPa  利用率 9.0%</a:t>
            </a:r>
          </a:p>
        </p:txBody>
      </p:sp>
      <p:sp>
        <p:nvSpPr>
          <p:cNvPr id="28" name="TextBox 27"/>
          <p:cNvSpPr txBox="1"/>
          <p:nvPr/>
        </p:nvSpPr>
        <p:spPr>
          <a:xfrm>
            <a:off x="4320000" y="3686400"/>
            <a:ext cx="7200000" cy="151200"/>
          </a:xfrm>
          <a:prstGeom prst="rect">
            <a:avLst/>
          </a:prstGeom>
          <a:noFill/>
        </p:spPr>
        <p:txBody>
          <a:bodyPr wrap="square">
            <a:spAutoFit/>
          </a:bodyPr>
          <a:lstStyle/>
          <a:p>
            <a:pPr algn="l">
              <a:defRPr sz="900" b="0">
                <a:solidFill>
                  <a:srgbClr val="2E7D32"/>
                </a:solidFill>
              </a:defRPr>
            </a:pPr>
            <a:r>
              <a:t>平台挠度 0.47mm  |  屈曲安全系数 10.14</a:t>
            </a:r>
          </a:p>
        </p:txBody>
      </p:sp>
      <p:sp>
        <p:nvSpPr>
          <p:cNvPr id="29" name="Rounded Rectangle 28"/>
          <p:cNvSpPr/>
          <p:nvPr/>
        </p:nvSpPr>
        <p:spPr>
          <a:xfrm>
            <a:off x="360000" y="4500000"/>
            <a:ext cx="3780000" cy="1872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fea_results_50kg.png"/>
          <p:cNvPicPr>
            <a:picLocks noChangeAspect="1"/>
          </p:cNvPicPr>
          <p:nvPr/>
        </p:nvPicPr>
        <p:blipFill>
          <a:blip r:embed="rId4"/>
          <a:stretch>
            <a:fillRect/>
          </a:stretch>
        </p:blipFill>
        <p:spPr>
          <a:xfrm>
            <a:off x="468000" y="4572000"/>
            <a:ext cx="3403636" cy="1440000"/>
          </a:xfrm>
          <a:prstGeom prst="rect">
            <a:avLst/>
          </a:prstGeom>
        </p:spPr>
      </p:pic>
      <p:sp>
        <p:nvSpPr>
          <p:cNvPr id="31" name="TextBox 30"/>
          <p:cNvSpPr txBox="1"/>
          <p:nvPr/>
        </p:nvSpPr>
        <p:spPr>
          <a:xfrm>
            <a:off x="468000" y="6048000"/>
            <a:ext cx="3600000" cy="144000"/>
          </a:xfrm>
          <a:prstGeom prst="rect">
            <a:avLst/>
          </a:prstGeom>
          <a:noFill/>
        </p:spPr>
        <p:txBody>
          <a:bodyPr wrap="square">
            <a:spAutoFit/>
          </a:bodyPr>
          <a:lstStyle/>
          <a:p>
            <a:pPr algn="ctr">
              <a:defRPr sz="700" b="0">
                <a:solidFill>
                  <a:srgbClr val="6B7B8D"/>
                </a:solidFill>
              </a:defRPr>
            </a:pPr>
            <a:r>
              <a:t>有限元分析结果</a:t>
            </a:r>
          </a:p>
        </p:txBody>
      </p:sp>
      <p:sp>
        <p:nvSpPr>
          <p:cNvPr id="32" name="Rounded Rectangle 31"/>
          <p:cNvSpPr/>
          <p:nvPr/>
        </p:nvSpPr>
        <p:spPr>
          <a:xfrm>
            <a:off x="4320000" y="4500000"/>
            <a:ext cx="7380000" cy="187200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00000" y="4572000"/>
            <a:ext cx="7020000" cy="180000"/>
          </a:xfrm>
          <a:prstGeom prst="rect">
            <a:avLst/>
          </a:prstGeom>
          <a:noFill/>
        </p:spPr>
        <p:txBody>
          <a:bodyPr wrap="square">
            <a:spAutoFit/>
          </a:bodyPr>
          <a:lstStyle/>
          <a:p>
            <a:pPr algn="l">
              <a:defRPr sz="1000" b="1">
                <a:solidFill>
                  <a:srgbClr val="F57F17"/>
                </a:solidFill>
              </a:defRPr>
            </a:pPr>
            <a:r>
              <a:t>结论</a:t>
            </a:r>
          </a:p>
        </p:txBody>
      </p:sp>
      <p:sp>
        <p:nvSpPr>
          <p:cNvPr id="34" name="TextBox 33"/>
          <p:cNvSpPr txBox="1"/>
          <p:nvPr/>
        </p:nvSpPr>
        <p:spPr>
          <a:xfrm>
            <a:off x="4500000" y="4788000"/>
            <a:ext cx="7020000" cy="1440000"/>
          </a:xfrm>
          <a:prstGeom prst="rect">
            <a:avLst/>
          </a:prstGeom>
          <a:noFill/>
        </p:spPr>
        <p:txBody>
          <a:bodyPr wrap="square">
            <a:spAutoFit/>
          </a:bodyPr>
          <a:lstStyle/>
          <a:p>
            <a:pPr algn="l">
              <a:defRPr sz="950" b="0">
                <a:solidFill>
                  <a:srgbClr val="F57F17"/>
                </a:solidFill>
              </a:defRPr>
            </a:pPr>
            <a:r>
              <a:t>各部件应力远低于许用值，结构安全可靠。</a:t>
            </a:r>
            <a:br/>
            <a:r>
              <a:t>理论手算与有限元偏差&lt;1%，相互印证。</a:t>
            </a:r>
            <a:br/>
            <a:r>
              <a:t>承载平台应力利用率仅9.0%，安全裕度充足。</a:t>
            </a:r>
            <a:br/>
            <a:r>
              <a:t>增设侧向支撑后屈曲安全系数提升至10.14。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03</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电气系统设计</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3/9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M32F103C8T6实物图.png"/>
          <p:cNvPicPr>
            <a:picLocks noChangeAspect="1"/>
          </p:cNvPicPr>
          <p:nvPr/>
        </p:nvPicPr>
        <p:blipFill>
          <a:blip r:embed="rId2"/>
          <a:stretch>
            <a:fillRect/>
          </a:stretch>
        </p:blipFill>
        <p:spPr>
          <a:xfrm>
            <a:off x="468000" y="1152000"/>
            <a:ext cx="2484000" cy="1322233"/>
          </a:xfrm>
          <a:prstGeom prst="rect">
            <a:avLst/>
          </a:prstGeom>
        </p:spPr>
      </p:pic>
      <p:sp>
        <p:nvSpPr>
          <p:cNvPr id="11" name="TextBox 10"/>
          <p:cNvSpPr txBox="1"/>
          <p:nvPr/>
        </p:nvSpPr>
        <p:spPr>
          <a:xfrm>
            <a:off x="468000" y="3060000"/>
            <a:ext cx="2484000" cy="144000"/>
          </a:xfrm>
          <a:prstGeom prst="rect">
            <a:avLst/>
          </a:prstGeom>
          <a:noFill/>
        </p:spPr>
        <p:txBody>
          <a:bodyPr wrap="square">
            <a:spAutoFit/>
          </a:bodyPr>
          <a:lstStyle/>
          <a:p>
            <a:pPr algn="ctr">
              <a:defRPr sz="900" b="1">
                <a:solidFill>
                  <a:srgbClr val="1B2A4A"/>
                </a:solidFill>
              </a:defRPr>
            </a:pPr>
            <a:r>
              <a:t>STM32F103C8T6</a:t>
            </a:r>
          </a:p>
        </p:txBody>
      </p:sp>
      <p:sp>
        <p:nvSpPr>
          <p:cNvPr id="12" name="TextBox 11"/>
          <p:cNvSpPr txBox="1"/>
          <p:nvPr/>
        </p:nvSpPr>
        <p:spPr>
          <a:xfrm>
            <a:off x="468000" y="3240000"/>
            <a:ext cx="2484000" cy="432000"/>
          </a:xfrm>
          <a:prstGeom prst="rect">
            <a:avLst/>
          </a:prstGeom>
          <a:noFill/>
        </p:spPr>
        <p:txBody>
          <a:bodyPr wrap="square">
            <a:spAutoFit/>
          </a:bodyPr>
          <a:lstStyle/>
          <a:p>
            <a:pPr algn="ctr">
              <a:defRPr sz="800" b="0">
                <a:solidFill>
                  <a:srgbClr val="6B7B8D"/>
                </a:solidFill>
              </a:defRPr>
            </a:pPr>
            <a:r>
              <a:t>ARM Cortex-M3</a:t>
            </a:r>
            <a:br/>
            <a:r>
              <a:t>72MHz / 64KB Flash</a:t>
            </a:r>
            <a:br/>
            <a:r>
              <a:t>37 I/O</a:t>
            </a:r>
          </a:p>
        </p:txBody>
      </p:sp>
      <p:sp>
        <p:nvSpPr>
          <p:cNvPr id="13" name="Rounded Rectangle 12"/>
          <p:cNvSpPr/>
          <p:nvPr/>
        </p:nvSpPr>
        <p:spPr>
          <a:xfrm>
            <a:off x="3240000" y="1080000"/>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MC80S-0040-30AoK-3DKH电机外形图.png"/>
          <p:cNvPicPr>
            <a:picLocks noChangeAspect="1"/>
          </p:cNvPicPr>
          <p:nvPr/>
        </p:nvPicPr>
        <p:blipFill>
          <a:blip r:embed="rId3"/>
          <a:stretch>
            <a:fillRect/>
          </a:stretch>
        </p:blipFill>
        <p:spPr>
          <a:xfrm>
            <a:off x="3348000" y="1152000"/>
            <a:ext cx="2484000" cy="1278937"/>
          </a:xfrm>
          <a:prstGeom prst="rect">
            <a:avLst/>
          </a:prstGeom>
        </p:spPr>
      </p:pic>
      <p:sp>
        <p:nvSpPr>
          <p:cNvPr id="15" name="TextBox 14"/>
          <p:cNvSpPr txBox="1"/>
          <p:nvPr/>
        </p:nvSpPr>
        <p:spPr>
          <a:xfrm>
            <a:off x="3348000" y="3060000"/>
            <a:ext cx="2484000" cy="144000"/>
          </a:xfrm>
          <a:prstGeom prst="rect">
            <a:avLst/>
          </a:prstGeom>
          <a:noFill/>
        </p:spPr>
        <p:txBody>
          <a:bodyPr wrap="square">
            <a:spAutoFit/>
          </a:bodyPr>
          <a:lstStyle/>
          <a:p>
            <a:pPr algn="ctr">
              <a:defRPr sz="900" b="1">
                <a:solidFill>
                  <a:srgbClr val="1B2A4A"/>
                </a:solidFill>
              </a:defRPr>
            </a:pPr>
            <a:r>
              <a:t>SMC80S 伺服电机</a:t>
            </a:r>
          </a:p>
        </p:txBody>
      </p:sp>
      <p:sp>
        <p:nvSpPr>
          <p:cNvPr id="16" name="TextBox 15"/>
          <p:cNvSpPr txBox="1"/>
          <p:nvPr/>
        </p:nvSpPr>
        <p:spPr>
          <a:xfrm>
            <a:off x="3348000" y="3240000"/>
            <a:ext cx="2484000" cy="432000"/>
          </a:xfrm>
          <a:prstGeom prst="rect">
            <a:avLst/>
          </a:prstGeom>
          <a:noFill/>
        </p:spPr>
        <p:txBody>
          <a:bodyPr wrap="square">
            <a:spAutoFit/>
          </a:bodyPr>
          <a:lstStyle/>
          <a:p>
            <a:pPr algn="ctr">
              <a:defRPr sz="800" b="0">
                <a:solidFill>
                  <a:srgbClr val="6B7B8D"/>
                </a:solidFill>
              </a:defRPr>
            </a:pPr>
            <a:r>
              <a:t>400W / 1.27N·m</a:t>
            </a:r>
            <a:br/>
            <a:r>
              <a:t>3000rpm / 48VDC</a:t>
            </a:r>
            <a:br/>
            <a:r>
              <a:t>2500P/R编码器</a:t>
            </a:r>
          </a:p>
        </p:txBody>
      </p:sp>
      <p:sp>
        <p:nvSpPr>
          <p:cNvPr id="17" name="Rounded Rectangle 16"/>
          <p:cNvSpPr/>
          <p:nvPr/>
        </p:nvSpPr>
        <p:spPr>
          <a:xfrm>
            <a:off x="6120000" y="1080000"/>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CRT5000.jpg"/>
          <p:cNvPicPr>
            <a:picLocks noChangeAspect="1"/>
          </p:cNvPicPr>
          <p:nvPr/>
        </p:nvPicPr>
        <p:blipFill>
          <a:blip r:embed="rId4"/>
          <a:stretch>
            <a:fillRect/>
          </a:stretch>
        </p:blipFill>
        <p:spPr>
          <a:xfrm>
            <a:off x="6228000" y="1152000"/>
            <a:ext cx="1980000" cy="1800000"/>
          </a:xfrm>
          <a:prstGeom prst="rect">
            <a:avLst/>
          </a:prstGeom>
        </p:spPr>
      </p:pic>
      <p:sp>
        <p:nvSpPr>
          <p:cNvPr id="19" name="TextBox 18"/>
          <p:cNvSpPr txBox="1"/>
          <p:nvPr/>
        </p:nvSpPr>
        <p:spPr>
          <a:xfrm>
            <a:off x="6228000" y="3060000"/>
            <a:ext cx="2484000" cy="144000"/>
          </a:xfrm>
          <a:prstGeom prst="rect">
            <a:avLst/>
          </a:prstGeom>
          <a:noFill/>
        </p:spPr>
        <p:txBody>
          <a:bodyPr wrap="square">
            <a:spAutoFit/>
          </a:bodyPr>
          <a:lstStyle/>
          <a:p>
            <a:pPr algn="ctr">
              <a:defRPr sz="900" b="1">
                <a:solidFill>
                  <a:srgbClr val="1B2A4A"/>
                </a:solidFill>
              </a:defRPr>
            </a:pPr>
            <a:r>
              <a:t>TCRT5000 红外</a:t>
            </a:r>
          </a:p>
        </p:txBody>
      </p:sp>
      <p:sp>
        <p:nvSpPr>
          <p:cNvPr id="20" name="TextBox 19"/>
          <p:cNvSpPr txBox="1"/>
          <p:nvPr/>
        </p:nvSpPr>
        <p:spPr>
          <a:xfrm>
            <a:off x="6228000" y="3240000"/>
            <a:ext cx="2484000" cy="432000"/>
          </a:xfrm>
          <a:prstGeom prst="rect">
            <a:avLst/>
          </a:prstGeom>
          <a:noFill/>
        </p:spPr>
        <p:txBody>
          <a:bodyPr wrap="square">
            <a:spAutoFit/>
          </a:bodyPr>
          <a:lstStyle/>
          <a:p>
            <a:pPr algn="ctr">
              <a:defRPr sz="800" b="0">
                <a:solidFill>
                  <a:srgbClr val="6B7B8D"/>
                </a:solidFill>
              </a:defRPr>
            </a:pPr>
            <a:r>
              <a:t>反射式光电传感器</a:t>
            </a:r>
            <a:br/>
            <a:r>
              <a:t>检测距离 1~25mm</a:t>
            </a:r>
            <a:br/>
            <a:r>
              <a:t>数字量输出</a:t>
            </a:r>
          </a:p>
        </p:txBody>
      </p:sp>
      <p:sp>
        <p:nvSpPr>
          <p:cNvPr id="21" name="Rounded Rectangle 20"/>
          <p:cNvSpPr/>
          <p:nvPr/>
        </p:nvSpPr>
        <p:spPr>
          <a:xfrm>
            <a:off x="9000000" y="1080000"/>
            <a:ext cx="27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HC-SR04.jpg"/>
          <p:cNvPicPr>
            <a:picLocks noChangeAspect="1"/>
          </p:cNvPicPr>
          <p:nvPr/>
        </p:nvPicPr>
        <p:blipFill>
          <a:blip r:embed="rId5"/>
          <a:stretch>
            <a:fillRect/>
          </a:stretch>
        </p:blipFill>
        <p:spPr>
          <a:xfrm>
            <a:off x="9108000" y="1152000"/>
            <a:ext cx="2484000" cy="1592308"/>
          </a:xfrm>
          <a:prstGeom prst="rect">
            <a:avLst/>
          </a:prstGeom>
        </p:spPr>
      </p:pic>
      <p:sp>
        <p:nvSpPr>
          <p:cNvPr id="23" name="TextBox 22"/>
          <p:cNvSpPr txBox="1"/>
          <p:nvPr/>
        </p:nvSpPr>
        <p:spPr>
          <a:xfrm>
            <a:off x="9108000" y="3060000"/>
            <a:ext cx="2484000" cy="144000"/>
          </a:xfrm>
          <a:prstGeom prst="rect">
            <a:avLst/>
          </a:prstGeom>
          <a:noFill/>
        </p:spPr>
        <p:txBody>
          <a:bodyPr wrap="square">
            <a:spAutoFit/>
          </a:bodyPr>
          <a:lstStyle/>
          <a:p>
            <a:pPr algn="ctr">
              <a:defRPr sz="900" b="1">
                <a:solidFill>
                  <a:srgbClr val="1B2A4A"/>
                </a:solidFill>
              </a:defRPr>
            </a:pPr>
            <a:r>
              <a:t>HC-SR04 超声波</a:t>
            </a:r>
          </a:p>
        </p:txBody>
      </p:sp>
      <p:sp>
        <p:nvSpPr>
          <p:cNvPr id="24" name="TextBox 23"/>
          <p:cNvSpPr txBox="1"/>
          <p:nvPr/>
        </p:nvSpPr>
        <p:spPr>
          <a:xfrm>
            <a:off x="9108000" y="3240000"/>
            <a:ext cx="2484000" cy="432000"/>
          </a:xfrm>
          <a:prstGeom prst="rect">
            <a:avLst/>
          </a:prstGeom>
          <a:noFill/>
        </p:spPr>
        <p:txBody>
          <a:bodyPr wrap="square">
            <a:spAutoFit/>
          </a:bodyPr>
          <a:lstStyle/>
          <a:p>
            <a:pPr algn="ctr">
              <a:defRPr sz="800" b="0">
                <a:solidFill>
                  <a:srgbClr val="6B7B8D"/>
                </a:solidFill>
              </a:defRPr>
            </a:pPr>
            <a:r>
              <a:t>声波飞行时间测距</a:t>
            </a:r>
            <a:br/>
            <a:r>
              <a:t>2cm~400cm</a:t>
            </a:r>
            <a:br/>
            <a:r>
              <a:t>精度3mm</a:t>
            </a:r>
          </a:p>
        </p:txBody>
      </p:sp>
      <p:sp>
        <p:nvSpPr>
          <p:cNvPr id="25" name="Rounded Rectangle 24"/>
          <p:cNvSpPr/>
          <p:nvPr/>
        </p:nvSpPr>
        <p:spPr>
          <a:xfrm>
            <a:off x="360000" y="3960000"/>
            <a:ext cx="5580000" cy="198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0000" y="4031999"/>
            <a:ext cx="5220000" cy="180000"/>
          </a:xfrm>
          <a:prstGeom prst="rect">
            <a:avLst/>
          </a:prstGeom>
          <a:noFill/>
        </p:spPr>
        <p:txBody>
          <a:bodyPr wrap="square">
            <a:spAutoFit/>
          </a:bodyPr>
          <a:lstStyle/>
          <a:p>
            <a:pPr algn="l">
              <a:defRPr sz="1000" b="1">
                <a:solidFill>
                  <a:srgbClr val="1565C0"/>
                </a:solidFill>
              </a:defRPr>
            </a:pPr>
            <a:r>
              <a:t>电气系统参数</a:t>
            </a:r>
          </a:p>
        </p:txBody>
      </p:sp>
      <p:sp>
        <p:nvSpPr>
          <p:cNvPr id="27" name="TextBox 26"/>
          <p:cNvSpPr txBox="1"/>
          <p:nvPr/>
        </p:nvSpPr>
        <p:spPr>
          <a:xfrm>
            <a:off x="540000" y="4248000"/>
            <a:ext cx="5220000" cy="180000"/>
          </a:xfrm>
          <a:prstGeom prst="rect">
            <a:avLst/>
          </a:prstGeom>
          <a:noFill/>
        </p:spPr>
        <p:txBody>
          <a:bodyPr wrap="square">
            <a:spAutoFit/>
          </a:bodyPr>
          <a:lstStyle/>
          <a:p>
            <a:pPr algn="l">
              <a:defRPr sz="900" b="0">
                <a:solidFill>
                  <a:srgbClr val="1565C0"/>
                </a:solidFill>
              </a:defRPr>
            </a:pPr>
            <a:r>
              <a:t>驱动轮直径 180mm，轮距 520mm</a:t>
            </a:r>
          </a:p>
        </p:txBody>
      </p:sp>
      <p:sp>
        <p:nvSpPr>
          <p:cNvPr id="28" name="TextBox 27"/>
          <p:cNvSpPr txBox="1"/>
          <p:nvPr/>
        </p:nvSpPr>
        <p:spPr>
          <a:xfrm>
            <a:off x="540000" y="4446000"/>
            <a:ext cx="5220000" cy="180000"/>
          </a:xfrm>
          <a:prstGeom prst="rect">
            <a:avLst/>
          </a:prstGeom>
          <a:noFill/>
        </p:spPr>
        <p:txBody>
          <a:bodyPr wrap="square">
            <a:spAutoFit/>
          </a:bodyPr>
          <a:lstStyle/>
          <a:p>
            <a:pPr algn="l">
              <a:defRPr sz="900" b="0">
                <a:solidFill>
                  <a:srgbClr val="1565C0"/>
                </a:solidFill>
              </a:defRPr>
            </a:pPr>
            <a:r>
              <a:t>减速器 ZJPX115 i=40，输出扭矩 47.2 N·m</a:t>
            </a:r>
          </a:p>
        </p:txBody>
      </p:sp>
      <p:sp>
        <p:nvSpPr>
          <p:cNvPr id="29" name="TextBox 28"/>
          <p:cNvSpPr txBox="1"/>
          <p:nvPr/>
        </p:nvSpPr>
        <p:spPr>
          <a:xfrm>
            <a:off x="540000" y="4644000"/>
            <a:ext cx="5220000" cy="180000"/>
          </a:xfrm>
          <a:prstGeom prst="rect">
            <a:avLst/>
          </a:prstGeom>
          <a:noFill/>
        </p:spPr>
        <p:txBody>
          <a:bodyPr wrap="square">
            <a:spAutoFit/>
          </a:bodyPr>
          <a:lstStyle/>
          <a:p>
            <a:pPr algn="l">
              <a:defRPr sz="900" b="0">
                <a:solidFill>
                  <a:srgbClr val="1565C0"/>
                </a:solidFill>
              </a:defRPr>
            </a:pPr>
            <a:r>
              <a:t>驱动所需扭矩 22.5 N·m，功率余量充足</a:t>
            </a:r>
          </a:p>
        </p:txBody>
      </p:sp>
      <p:sp>
        <p:nvSpPr>
          <p:cNvPr id="30" name="TextBox 29"/>
          <p:cNvSpPr txBox="1"/>
          <p:nvPr/>
        </p:nvSpPr>
        <p:spPr>
          <a:xfrm>
            <a:off x="540000" y="4842000"/>
            <a:ext cx="5220000" cy="180000"/>
          </a:xfrm>
          <a:prstGeom prst="rect">
            <a:avLst/>
          </a:prstGeom>
          <a:noFill/>
        </p:spPr>
        <p:txBody>
          <a:bodyPr wrap="square">
            <a:spAutoFit/>
          </a:bodyPr>
          <a:lstStyle/>
          <a:p>
            <a:pPr algn="l">
              <a:defRPr sz="900" b="0">
                <a:solidFill>
                  <a:srgbClr val="1565C0"/>
                </a:solidFill>
              </a:defRPr>
            </a:pPr>
            <a:r>
              <a:t>编码器 10000脉冲/转，轮速检测精度高</a:t>
            </a:r>
          </a:p>
        </p:txBody>
      </p:sp>
      <p:sp>
        <p:nvSpPr>
          <p:cNvPr id="31" name="Rounded Rectangle 30"/>
          <p:cNvSpPr/>
          <p:nvPr/>
        </p:nvSpPr>
        <p:spPr>
          <a:xfrm>
            <a:off x="6120000" y="3960000"/>
            <a:ext cx="5580000" cy="19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sensor_layout.png"/>
          <p:cNvPicPr>
            <a:picLocks noChangeAspect="1"/>
          </p:cNvPicPr>
          <p:nvPr/>
        </p:nvPicPr>
        <p:blipFill>
          <a:blip r:embed="rId6"/>
          <a:stretch>
            <a:fillRect/>
          </a:stretch>
        </p:blipFill>
        <p:spPr>
          <a:xfrm>
            <a:off x="6228000" y="4031999"/>
            <a:ext cx="2340000" cy="1216671"/>
          </a:xfrm>
          <a:prstGeom prst="rect">
            <a:avLst/>
          </a:prstGeom>
        </p:spPr>
      </p:pic>
      <p:sp>
        <p:nvSpPr>
          <p:cNvPr id="33" name="TextBox 32"/>
          <p:cNvSpPr txBox="1"/>
          <p:nvPr/>
        </p:nvSpPr>
        <p:spPr>
          <a:xfrm>
            <a:off x="8820000" y="4140000"/>
            <a:ext cx="2700000" cy="1800000"/>
          </a:xfrm>
          <a:prstGeom prst="rect">
            <a:avLst/>
          </a:prstGeom>
          <a:noFill/>
        </p:spPr>
        <p:txBody>
          <a:bodyPr wrap="square">
            <a:spAutoFit/>
          </a:bodyPr>
          <a:lstStyle/>
          <a:p>
            <a:pPr algn="l">
              <a:defRPr sz="900" b="0">
                <a:solidFill>
                  <a:srgbClr val="6B7B8D"/>
                </a:solidFill>
              </a:defRPr>
            </a:pPr>
            <a:r>
              <a:t>5路红外传感器布局：</a:t>
            </a:r>
            <a:br/>
            <a:r>
              <a:t>间距40mm，覆盖160mm</a:t>
            </a:r>
            <a:br/>
            <a:r>
              <a:t>安装在车体前端80mm处</a:t>
            </a:r>
            <a:br/>
            <a:r>
              <a:t>权重{-4,-2,0,+2,+4}</a:t>
            </a:r>
            <a:br/>
            <a:br/>
            <a:r>
              <a:t>控制架构：</a:t>
            </a:r>
            <a:br/>
            <a:r>
              <a:t>STM32采集→PID运算→PWM输出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04</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运动学建模与轨迹仿真</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4/9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504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双轮模型.png"/>
          <p:cNvPicPr>
            <a:picLocks noChangeAspect="1"/>
          </p:cNvPicPr>
          <p:nvPr/>
        </p:nvPicPr>
        <p:blipFill>
          <a:blip r:embed="rId2"/>
          <a:stretch>
            <a:fillRect/>
          </a:stretch>
        </p:blipFill>
        <p:spPr>
          <a:xfrm>
            <a:off x="468000" y="1152000"/>
            <a:ext cx="2794850" cy="2340000"/>
          </a:xfrm>
          <a:prstGeom prst="rect">
            <a:avLst/>
          </a:prstGeom>
        </p:spPr>
      </p:pic>
      <p:sp>
        <p:nvSpPr>
          <p:cNvPr id="11" name="TextBox 10"/>
          <p:cNvSpPr txBox="1"/>
          <p:nvPr/>
        </p:nvSpPr>
        <p:spPr>
          <a:xfrm>
            <a:off x="468000" y="3564000"/>
            <a:ext cx="4824000" cy="144000"/>
          </a:xfrm>
          <a:prstGeom prst="rect">
            <a:avLst/>
          </a:prstGeom>
          <a:noFill/>
        </p:spPr>
        <p:txBody>
          <a:bodyPr wrap="square">
            <a:spAutoFit/>
          </a:bodyPr>
          <a:lstStyle/>
          <a:p>
            <a:pPr algn="ctr">
              <a:defRPr sz="800" b="0">
                <a:solidFill>
                  <a:srgbClr val="6B7B8D"/>
                </a:solidFill>
              </a:defRPr>
            </a:pPr>
            <a:r>
              <a:t>双轮差速模型</a:t>
            </a:r>
          </a:p>
        </p:txBody>
      </p:sp>
      <p:sp>
        <p:nvSpPr>
          <p:cNvPr id="12" name="Rounded Rectangle 11"/>
          <p:cNvSpPr/>
          <p:nvPr/>
        </p:nvSpPr>
        <p:spPr>
          <a:xfrm>
            <a:off x="360000" y="3960000"/>
            <a:ext cx="5040000" cy="198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000" y="4031999"/>
            <a:ext cx="4680000" cy="180000"/>
          </a:xfrm>
          <a:prstGeom prst="rect">
            <a:avLst/>
          </a:prstGeom>
          <a:noFill/>
        </p:spPr>
        <p:txBody>
          <a:bodyPr wrap="square">
            <a:spAutoFit/>
          </a:bodyPr>
          <a:lstStyle/>
          <a:p>
            <a:pPr algn="l">
              <a:defRPr sz="1000" b="1">
                <a:solidFill>
                  <a:srgbClr val="1565C0"/>
                </a:solidFill>
              </a:defRPr>
            </a:pPr>
            <a:r>
              <a:t>运动学方程</a:t>
            </a:r>
          </a:p>
        </p:txBody>
      </p:sp>
      <p:sp>
        <p:nvSpPr>
          <p:cNvPr id="14" name="TextBox 13"/>
          <p:cNvSpPr txBox="1"/>
          <p:nvPr/>
        </p:nvSpPr>
        <p:spPr>
          <a:xfrm>
            <a:off x="540000" y="4248000"/>
            <a:ext cx="4680000" cy="1620000"/>
          </a:xfrm>
          <a:prstGeom prst="rect">
            <a:avLst/>
          </a:prstGeom>
          <a:noFill/>
        </p:spPr>
        <p:txBody>
          <a:bodyPr wrap="square">
            <a:spAutoFit/>
          </a:bodyPr>
          <a:lstStyle/>
          <a:p>
            <a:pPr algn="l">
              <a:defRPr sz="1000" b="0">
                <a:solidFill>
                  <a:srgbClr val="1565C0"/>
                </a:solidFill>
              </a:defRPr>
            </a:pPr>
            <a:r>
              <a:t>v = (v_R + v_L) / 2</a:t>
            </a:r>
            <a:br/>
            <a:r>
              <a:t>ω = (v_R - v_L) / L</a:t>
            </a:r>
            <a:br/>
            <a:br/>
            <a:r>
              <a:t>ẋ = v·cosθ    ẏ = v·sinθ    θ̇ = ω</a:t>
            </a:r>
            <a:br/>
            <a:br/>
            <a:r>
              <a:t>轮距 L=0.52m  轮半径 r=0.09m</a:t>
            </a:r>
          </a:p>
        </p:txBody>
      </p:sp>
      <p:sp>
        <p:nvSpPr>
          <p:cNvPr id="15" name="Rounded Rectangle 14"/>
          <p:cNvSpPr/>
          <p:nvPr/>
        </p:nvSpPr>
        <p:spPr>
          <a:xfrm>
            <a:off x="5580000" y="1080000"/>
            <a:ext cx="288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直线.png"/>
          <p:cNvPicPr>
            <a:picLocks noChangeAspect="1"/>
          </p:cNvPicPr>
          <p:nvPr/>
        </p:nvPicPr>
        <p:blipFill>
          <a:blip r:embed="rId3"/>
          <a:stretch>
            <a:fillRect/>
          </a:stretch>
        </p:blipFill>
        <p:spPr>
          <a:xfrm>
            <a:off x="5652000" y="1152000"/>
            <a:ext cx="2302364" cy="1728000"/>
          </a:xfrm>
          <a:prstGeom prst="rect">
            <a:avLst/>
          </a:prstGeom>
        </p:spPr>
      </p:pic>
      <p:sp>
        <p:nvSpPr>
          <p:cNvPr id="17" name="TextBox 16"/>
          <p:cNvSpPr txBox="1"/>
          <p:nvPr/>
        </p:nvSpPr>
        <p:spPr>
          <a:xfrm>
            <a:off x="5652000" y="2880000"/>
            <a:ext cx="2736000" cy="144000"/>
          </a:xfrm>
          <a:prstGeom prst="rect">
            <a:avLst/>
          </a:prstGeom>
          <a:noFill/>
        </p:spPr>
        <p:txBody>
          <a:bodyPr wrap="square">
            <a:spAutoFit/>
          </a:bodyPr>
          <a:lstStyle/>
          <a:p>
            <a:pPr algn="ctr">
              <a:defRPr sz="850" b="1">
                <a:solidFill>
                  <a:srgbClr val="1B2A4A"/>
                </a:solidFill>
              </a:defRPr>
            </a:pPr>
            <a:r>
              <a:t>直线</a:t>
            </a:r>
          </a:p>
        </p:txBody>
      </p:sp>
      <p:sp>
        <p:nvSpPr>
          <p:cNvPr id="18" name="Rounded Rectangle 17"/>
          <p:cNvSpPr/>
          <p:nvPr/>
        </p:nvSpPr>
        <p:spPr>
          <a:xfrm>
            <a:off x="8640000" y="1080000"/>
            <a:ext cx="288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圆形.png"/>
          <p:cNvPicPr>
            <a:picLocks noChangeAspect="1"/>
          </p:cNvPicPr>
          <p:nvPr/>
        </p:nvPicPr>
        <p:blipFill>
          <a:blip r:embed="rId4"/>
          <a:stretch>
            <a:fillRect/>
          </a:stretch>
        </p:blipFill>
        <p:spPr>
          <a:xfrm>
            <a:off x="8712000" y="1152000"/>
            <a:ext cx="2302364" cy="1728000"/>
          </a:xfrm>
          <a:prstGeom prst="rect">
            <a:avLst/>
          </a:prstGeom>
        </p:spPr>
      </p:pic>
      <p:sp>
        <p:nvSpPr>
          <p:cNvPr id="20" name="TextBox 19"/>
          <p:cNvSpPr txBox="1"/>
          <p:nvPr/>
        </p:nvSpPr>
        <p:spPr>
          <a:xfrm>
            <a:off x="8712000" y="2880000"/>
            <a:ext cx="2736000" cy="144000"/>
          </a:xfrm>
          <a:prstGeom prst="rect">
            <a:avLst/>
          </a:prstGeom>
          <a:noFill/>
        </p:spPr>
        <p:txBody>
          <a:bodyPr wrap="square">
            <a:spAutoFit/>
          </a:bodyPr>
          <a:lstStyle/>
          <a:p>
            <a:pPr algn="ctr">
              <a:defRPr sz="850" b="1">
                <a:solidFill>
                  <a:srgbClr val="1B2A4A"/>
                </a:solidFill>
              </a:defRPr>
            </a:pPr>
            <a:r>
              <a:t>圆弧</a:t>
            </a:r>
          </a:p>
        </p:txBody>
      </p:sp>
      <p:sp>
        <p:nvSpPr>
          <p:cNvPr id="21" name="Rounded Rectangle 20"/>
          <p:cNvSpPr/>
          <p:nvPr/>
        </p:nvSpPr>
        <p:spPr>
          <a:xfrm>
            <a:off x="5580000" y="3420000"/>
            <a:ext cx="288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型.png"/>
          <p:cNvPicPr>
            <a:picLocks noChangeAspect="1"/>
          </p:cNvPicPr>
          <p:nvPr/>
        </p:nvPicPr>
        <p:blipFill>
          <a:blip r:embed="rId5"/>
          <a:stretch>
            <a:fillRect/>
          </a:stretch>
        </p:blipFill>
        <p:spPr>
          <a:xfrm>
            <a:off x="5652000" y="3491999"/>
            <a:ext cx="2302364" cy="1728000"/>
          </a:xfrm>
          <a:prstGeom prst="rect">
            <a:avLst/>
          </a:prstGeom>
        </p:spPr>
      </p:pic>
      <p:sp>
        <p:nvSpPr>
          <p:cNvPr id="23" name="TextBox 22"/>
          <p:cNvSpPr txBox="1"/>
          <p:nvPr/>
        </p:nvSpPr>
        <p:spPr>
          <a:xfrm>
            <a:off x="5652000" y="5220000"/>
            <a:ext cx="2736000" cy="144000"/>
          </a:xfrm>
          <a:prstGeom prst="rect">
            <a:avLst/>
          </a:prstGeom>
          <a:noFill/>
        </p:spPr>
        <p:txBody>
          <a:bodyPr wrap="square">
            <a:spAutoFit/>
          </a:bodyPr>
          <a:lstStyle/>
          <a:p>
            <a:pPr algn="ctr">
              <a:defRPr sz="850" b="1">
                <a:solidFill>
                  <a:srgbClr val="1B2A4A"/>
                </a:solidFill>
              </a:defRPr>
            </a:pPr>
            <a:r>
              <a:t>S形</a:t>
            </a:r>
          </a:p>
        </p:txBody>
      </p:sp>
      <p:sp>
        <p:nvSpPr>
          <p:cNvPr id="24" name="Rounded Rectangle 23"/>
          <p:cNvSpPr/>
          <p:nvPr/>
        </p:nvSpPr>
        <p:spPr>
          <a:xfrm>
            <a:off x="8640000" y="3420000"/>
            <a:ext cx="288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8字.png"/>
          <p:cNvPicPr>
            <a:picLocks noChangeAspect="1"/>
          </p:cNvPicPr>
          <p:nvPr/>
        </p:nvPicPr>
        <p:blipFill>
          <a:blip r:embed="rId6"/>
          <a:stretch>
            <a:fillRect/>
          </a:stretch>
        </p:blipFill>
        <p:spPr>
          <a:xfrm>
            <a:off x="8712000" y="3491999"/>
            <a:ext cx="2302364" cy="1728000"/>
          </a:xfrm>
          <a:prstGeom prst="rect">
            <a:avLst/>
          </a:prstGeom>
        </p:spPr>
      </p:pic>
      <p:sp>
        <p:nvSpPr>
          <p:cNvPr id="26" name="TextBox 25"/>
          <p:cNvSpPr txBox="1"/>
          <p:nvPr/>
        </p:nvSpPr>
        <p:spPr>
          <a:xfrm>
            <a:off x="8712000" y="5220000"/>
            <a:ext cx="2736000" cy="144000"/>
          </a:xfrm>
          <a:prstGeom prst="rect">
            <a:avLst/>
          </a:prstGeom>
          <a:noFill/>
        </p:spPr>
        <p:txBody>
          <a:bodyPr wrap="square">
            <a:spAutoFit/>
          </a:bodyPr>
          <a:lstStyle/>
          <a:p>
            <a:pPr algn="ctr">
              <a:defRPr sz="850" b="1">
                <a:solidFill>
                  <a:srgbClr val="1B2A4A"/>
                </a:solidFill>
              </a:defRPr>
            </a:pPr>
            <a:r>
              <a:t>8字</a:t>
            </a:r>
          </a:p>
        </p:txBody>
      </p:sp>
      <p:sp>
        <p:nvSpPr>
          <p:cNvPr id="27" name="Rounded Rectangle 26"/>
          <p:cNvSpPr/>
          <p:nvPr/>
        </p:nvSpPr>
        <p:spPr>
          <a:xfrm>
            <a:off x="5580000" y="5688000"/>
            <a:ext cx="6120000" cy="72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000" y="5724000"/>
            <a:ext cx="5760000" cy="144000"/>
          </a:xfrm>
          <a:prstGeom prst="rect">
            <a:avLst/>
          </a:prstGeom>
          <a:noFill/>
        </p:spPr>
        <p:txBody>
          <a:bodyPr wrap="square">
            <a:spAutoFit/>
          </a:bodyPr>
          <a:lstStyle/>
          <a:p>
            <a:pPr algn="l">
              <a:defRPr sz="1000" b="1">
                <a:solidFill>
                  <a:srgbClr val="1B2A4A"/>
                </a:solidFill>
              </a:defRPr>
            </a:pPr>
            <a:r>
              <a:t>轨迹仿真结果汇总</a:t>
            </a:r>
          </a:p>
        </p:txBody>
      </p:sp>
      <p:sp>
        <p:nvSpPr>
          <p:cNvPr id="29" name="TextBox 28"/>
          <p:cNvSpPr txBox="1"/>
          <p:nvPr/>
        </p:nvSpPr>
        <p:spPr>
          <a:xfrm>
            <a:off x="5760000" y="5903999"/>
            <a:ext cx="5760000" cy="432000"/>
          </a:xfrm>
          <a:prstGeom prst="rect">
            <a:avLst/>
          </a:prstGeom>
          <a:noFill/>
        </p:spPr>
        <p:txBody>
          <a:bodyPr wrap="square">
            <a:spAutoFit/>
          </a:bodyPr>
          <a:lstStyle/>
          <a:p>
            <a:pPr algn="l">
              <a:defRPr sz="800" b="0">
                <a:solidFill>
                  <a:srgbClr val="6B7B8D"/>
                </a:solidFill>
              </a:defRPr>
            </a:pPr>
            <a:r>
              <a:t>直线: 路径9.0m, 位移9.0m, ω=0    |    圆弧: 路径7.0m, ω=0.45rad/s</a:t>
            </a:r>
            <a:br/>
            <a:r>
              <a:t>S形: 路径8.0m, ω=0.60rad/s, κ=1.5  |    8字: 路径7.6m, ω=0.70rad/s, κ=1.84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05</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路径规划与循迹仿真</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5/9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72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hybrid_astar_result.png"/>
          <p:cNvPicPr>
            <a:picLocks noChangeAspect="1"/>
          </p:cNvPicPr>
          <p:nvPr/>
        </p:nvPicPr>
        <p:blipFill>
          <a:blip r:embed="rId2"/>
          <a:stretch>
            <a:fillRect/>
          </a:stretch>
        </p:blipFill>
        <p:spPr>
          <a:xfrm>
            <a:off x="468000" y="1152000"/>
            <a:ext cx="3740409" cy="2340000"/>
          </a:xfrm>
          <a:prstGeom prst="rect">
            <a:avLst/>
          </a:prstGeom>
        </p:spPr>
      </p:pic>
      <p:sp>
        <p:nvSpPr>
          <p:cNvPr id="11" name="TextBox 10"/>
          <p:cNvSpPr txBox="1"/>
          <p:nvPr/>
        </p:nvSpPr>
        <p:spPr>
          <a:xfrm>
            <a:off x="4860000" y="1224000"/>
            <a:ext cx="2520000" cy="180000"/>
          </a:xfrm>
          <a:prstGeom prst="rect">
            <a:avLst/>
          </a:prstGeom>
          <a:noFill/>
        </p:spPr>
        <p:txBody>
          <a:bodyPr wrap="square">
            <a:spAutoFit/>
          </a:bodyPr>
          <a:lstStyle/>
          <a:p>
            <a:pPr algn="l">
              <a:defRPr sz="1000" b="1">
                <a:solidFill>
                  <a:srgbClr val="1B2A4A"/>
                </a:solidFill>
              </a:defRPr>
            </a:pPr>
            <a:r>
              <a:t>Hybrid A* 路径规划</a:t>
            </a:r>
          </a:p>
        </p:txBody>
      </p:sp>
      <p:sp>
        <p:nvSpPr>
          <p:cNvPr id="12" name="TextBox 11"/>
          <p:cNvSpPr txBox="1"/>
          <p:nvPr/>
        </p:nvSpPr>
        <p:spPr>
          <a:xfrm>
            <a:off x="4860000" y="1440000"/>
            <a:ext cx="2520000" cy="1980000"/>
          </a:xfrm>
          <a:prstGeom prst="rect">
            <a:avLst/>
          </a:prstGeom>
          <a:noFill/>
        </p:spPr>
        <p:txBody>
          <a:bodyPr wrap="square">
            <a:spAutoFit/>
          </a:bodyPr>
          <a:lstStyle/>
          <a:p>
            <a:pPr algn="l">
              <a:defRPr sz="850" b="0">
                <a:solidFill>
                  <a:srgbClr val="6B7B8D"/>
                </a:solidFill>
              </a:defRPr>
            </a:pPr>
            <a:r>
              <a:t>算法：节点(x,y,θ)三维位姿</a:t>
            </a:r>
            <a:br/>
            <a:r>
              <a:t>5种曲率运动基元扩展</a:t>
            </a:r>
            <a:br/>
            <a:r>
              <a:t>代价 f=g+h</a:t>
            </a:r>
            <a:br/>
            <a:br/>
            <a:r>
              <a:t>参数：</a:t>
            </a:r>
            <a:br/>
            <a:r>
              <a:t>地图 10m×8m, 0.2m</a:t>
            </a:r>
            <a:br/>
            <a:r>
              <a:t>5个货架</a:t>
            </a:r>
            <a:br/>
            <a:r>
              <a:t>起点(1,1)→终点(9,7)</a:t>
            </a:r>
            <a:br/>
            <a:r>
              <a:t>迭代3008次</a:t>
            </a:r>
            <a:br/>
            <a:r>
              <a:t>路径11.04m, 25点</a:t>
            </a:r>
          </a:p>
        </p:txBody>
      </p:sp>
      <p:sp>
        <p:nvSpPr>
          <p:cNvPr id="13" name="Rounded Rectangle 12"/>
          <p:cNvSpPr/>
          <p:nvPr/>
        </p:nvSpPr>
        <p:spPr>
          <a:xfrm>
            <a:off x="7740000" y="1080000"/>
            <a:ext cx="3960000" cy="27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0000" y="1152000"/>
            <a:ext cx="3600000" cy="180000"/>
          </a:xfrm>
          <a:prstGeom prst="rect">
            <a:avLst/>
          </a:prstGeom>
          <a:noFill/>
        </p:spPr>
        <p:txBody>
          <a:bodyPr wrap="square">
            <a:spAutoFit/>
          </a:bodyPr>
          <a:lstStyle/>
          <a:p>
            <a:pPr algn="l">
              <a:defRPr sz="1000" b="1">
                <a:solidFill>
                  <a:srgbClr val="2E7D32"/>
                </a:solidFill>
              </a:defRPr>
            </a:pPr>
            <a:r>
              <a:t>规划结果</a:t>
            </a:r>
          </a:p>
        </p:txBody>
      </p:sp>
      <p:sp>
        <p:nvSpPr>
          <p:cNvPr id="15" name="TextBox 14"/>
          <p:cNvSpPr txBox="1"/>
          <p:nvPr/>
        </p:nvSpPr>
        <p:spPr>
          <a:xfrm>
            <a:off x="7920000" y="1368000"/>
            <a:ext cx="1800000" cy="180000"/>
          </a:xfrm>
          <a:prstGeom prst="rect">
            <a:avLst/>
          </a:prstGeom>
          <a:noFill/>
        </p:spPr>
        <p:txBody>
          <a:bodyPr wrap="square">
            <a:spAutoFit/>
          </a:bodyPr>
          <a:lstStyle/>
          <a:p>
            <a:pPr algn="l">
              <a:defRPr sz="900" b="0">
                <a:solidFill>
                  <a:srgbClr val="6B7B8D"/>
                </a:solidFill>
              </a:defRPr>
            </a:pPr>
            <a:r>
              <a:t>路径长度</a:t>
            </a:r>
          </a:p>
        </p:txBody>
      </p:sp>
      <p:sp>
        <p:nvSpPr>
          <p:cNvPr id="16" name="TextBox 15"/>
          <p:cNvSpPr txBox="1"/>
          <p:nvPr/>
        </p:nvSpPr>
        <p:spPr>
          <a:xfrm>
            <a:off x="9720000" y="1368000"/>
            <a:ext cx="1800000" cy="180000"/>
          </a:xfrm>
          <a:prstGeom prst="rect">
            <a:avLst/>
          </a:prstGeom>
          <a:noFill/>
        </p:spPr>
        <p:txBody>
          <a:bodyPr wrap="square">
            <a:spAutoFit/>
          </a:bodyPr>
          <a:lstStyle/>
          <a:p>
            <a:pPr algn="l">
              <a:defRPr sz="900" b="1">
                <a:solidFill>
                  <a:srgbClr val="2E7D32"/>
                </a:solidFill>
              </a:defRPr>
            </a:pPr>
            <a:r>
              <a:t>11.04 m</a:t>
            </a:r>
          </a:p>
        </p:txBody>
      </p:sp>
      <p:sp>
        <p:nvSpPr>
          <p:cNvPr id="17" name="TextBox 16"/>
          <p:cNvSpPr txBox="1"/>
          <p:nvPr/>
        </p:nvSpPr>
        <p:spPr>
          <a:xfrm>
            <a:off x="7920000" y="1583999"/>
            <a:ext cx="1800000" cy="180000"/>
          </a:xfrm>
          <a:prstGeom prst="rect">
            <a:avLst/>
          </a:prstGeom>
          <a:noFill/>
        </p:spPr>
        <p:txBody>
          <a:bodyPr wrap="square">
            <a:spAutoFit/>
          </a:bodyPr>
          <a:lstStyle/>
          <a:p>
            <a:pPr algn="l">
              <a:defRPr sz="900" b="0">
                <a:solidFill>
                  <a:srgbClr val="6B7B8D"/>
                </a:solidFill>
              </a:defRPr>
            </a:pPr>
            <a:r>
              <a:t>路径点数</a:t>
            </a:r>
          </a:p>
        </p:txBody>
      </p:sp>
      <p:sp>
        <p:nvSpPr>
          <p:cNvPr id="18" name="TextBox 17"/>
          <p:cNvSpPr txBox="1"/>
          <p:nvPr/>
        </p:nvSpPr>
        <p:spPr>
          <a:xfrm>
            <a:off x="9720000" y="1583999"/>
            <a:ext cx="1800000" cy="180000"/>
          </a:xfrm>
          <a:prstGeom prst="rect">
            <a:avLst/>
          </a:prstGeom>
          <a:noFill/>
        </p:spPr>
        <p:txBody>
          <a:bodyPr wrap="square">
            <a:spAutoFit/>
          </a:bodyPr>
          <a:lstStyle/>
          <a:p>
            <a:pPr algn="l">
              <a:defRPr sz="900" b="1">
                <a:solidFill>
                  <a:srgbClr val="2E7D32"/>
                </a:solidFill>
              </a:defRPr>
            </a:pPr>
            <a:r>
              <a:t>25</a:t>
            </a:r>
          </a:p>
        </p:txBody>
      </p:sp>
      <p:sp>
        <p:nvSpPr>
          <p:cNvPr id="19" name="TextBox 18"/>
          <p:cNvSpPr txBox="1"/>
          <p:nvPr/>
        </p:nvSpPr>
        <p:spPr>
          <a:xfrm>
            <a:off x="7920000" y="1800000"/>
            <a:ext cx="1800000" cy="180000"/>
          </a:xfrm>
          <a:prstGeom prst="rect">
            <a:avLst/>
          </a:prstGeom>
          <a:noFill/>
        </p:spPr>
        <p:txBody>
          <a:bodyPr wrap="square">
            <a:spAutoFit/>
          </a:bodyPr>
          <a:lstStyle/>
          <a:p>
            <a:pPr algn="l">
              <a:defRPr sz="900" b="0">
                <a:solidFill>
                  <a:srgbClr val="6B7B8D"/>
                </a:solidFill>
              </a:defRPr>
            </a:pPr>
            <a:r>
              <a:t>搜索迭代</a:t>
            </a:r>
          </a:p>
        </p:txBody>
      </p:sp>
      <p:sp>
        <p:nvSpPr>
          <p:cNvPr id="20" name="TextBox 19"/>
          <p:cNvSpPr txBox="1"/>
          <p:nvPr/>
        </p:nvSpPr>
        <p:spPr>
          <a:xfrm>
            <a:off x="9720000" y="1800000"/>
            <a:ext cx="1800000" cy="180000"/>
          </a:xfrm>
          <a:prstGeom prst="rect">
            <a:avLst/>
          </a:prstGeom>
          <a:noFill/>
        </p:spPr>
        <p:txBody>
          <a:bodyPr wrap="square">
            <a:spAutoFit/>
          </a:bodyPr>
          <a:lstStyle/>
          <a:p>
            <a:pPr algn="l">
              <a:defRPr sz="900" b="1">
                <a:solidFill>
                  <a:srgbClr val="2E7D32"/>
                </a:solidFill>
              </a:defRPr>
            </a:pPr>
            <a:r>
              <a:t>3008</a:t>
            </a:r>
          </a:p>
        </p:txBody>
      </p:sp>
      <p:sp>
        <p:nvSpPr>
          <p:cNvPr id="21" name="TextBox 20"/>
          <p:cNvSpPr txBox="1"/>
          <p:nvPr/>
        </p:nvSpPr>
        <p:spPr>
          <a:xfrm>
            <a:off x="7920000" y="2015999"/>
            <a:ext cx="1800000" cy="180000"/>
          </a:xfrm>
          <a:prstGeom prst="rect">
            <a:avLst/>
          </a:prstGeom>
          <a:noFill/>
        </p:spPr>
        <p:txBody>
          <a:bodyPr wrap="square">
            <a:spAutoFit/>
          </a:bodyPr>
          <a:lstStyle/>
          <a:p>
            <a:pPr algn="l">
              <a:defRPr sz="900" b="0">
                <a:solidFill>
                  <a:srgbClr val="6B7B8D"/>
                </a:solidFill>
              </a:defRPr>
            </a:pPr>
            <a:r>
              <a:t>曲率κ</a:t>
            </a:r>
          </a:p>
        </p:txBody>
      </p:sp>
      <p:sp>
        <p:nvSpPr>
          <p:cNvPr id="22" name="TextBox 21"/>
          <p:cNvSpPr txBox="1"/>
          <p:nvPr/>
        </p:nvSpPr>
        <p:spPr>
          <a:xfrm>
            <a:off x="9720000" y="2015999"/>
            <a:ext cx="1800000" cy="180000"/>
          </a:xfrm>
          <a:prstGeom prst="rect">
            <a:avLst/>
          </a:prstGeom>
          <a:noFill/>
        </p:spPr>
        <p:txBody>
          <a:bodyPr wrap="square">
            <a:spAutoFit/>
          </a:bodyPr>
          <a:lstStyle/>
          <a:p>
            <a:pPr algn="l">
              <a:defRPr sz="900" b="1">
                <a:solidFill>
                  <a:srgbClr val="2E7D32"/>
                </a:solidFill>
              </a:defRPr>
            </a:pPr>
            <a:r>
              <a:t>±1.11, ±0.52, 0</a:t>
            </a:r>
          </a:p>
        </p:txBody>
      </p:sp>
      <p:sp>
        <p:nvSpPr>
          <p:cNvPr id="23" name="TextBox 22"/>
          <p:cNvSpPr txBox="1"/>
          <p:nvPr/>
        </p:nvSpPr>
        <p:spPr>
          <a:xfrm>
            <a:off x="7920000" y="2231999"/>
            <a:ext cx="1800000" cy="180000"/>
          </a:xfrm>
          <a:prstGeom prst="rect">
            <a:avLst/>
          </a:prstGeom>
          <a:noFill/>
        </p:spPr>
        <p:txBody>
          <a:bodyPr wrap="square">
            <a:spAutoFit/>
          </a:bodyPr>
          <a:lstStyle/>
          <a:p>
            <a:pPr algn="l">
              <a:defRPr sz="900" b="0">
                <a:solidFill>
                  <a:srgbClr val="6B7B8D"/>
                </a:solidFill>
              </a:defRPr>
            </a:pPr>
            <a:r>
              <a:t>步长</a:t>
            </a:r>
          </a:p>
        </p:txBody>
      </p:sp>
      <p:sp>
        <p:nvSpPr>
          <p:cNvPr id="24" name="TextBox 23"/>
          <p:cNvSpPr txBox="1"/>
          <p:nvPr/>
        </p:nvSpPr>
        <p:spPr>
          <a:xfrm>
            <a:off x="9720000" y="2231999"/>
            <a:ext cx="1800000" cy="180000"/>
          </a:xfrm>
          <a:prstGeom prst="rect">
            <a:avLst/>
          </a:prstGeom>
          <a:noFill/>
        </p:spPr>
        <p:txBody>
          <a:bodyPr wrap="square">
            <a:spAutoFit/>
          </a:bodyPr>
          <a:lstStyle/>
          <a:p>
            <a:pPr algn="l">
              <a:defRPr sz="900" b="1">
                <a:solidFill>
                  <a:srgbClr val="2E7D32"/>
                </a:solidFill>
              </a:defRPr>
            </a:pPr>
            <a:r>
              <a:t>0.5 m</a:t>
            </a:r>
          </a:p>
        </p:txBody>
      </p:sp>
      <p:sp>
        <p:nvSpPr>
          <p:cNvPr id="25" name="TextBox 24"/>
          <p:cNvSpPr txBox="1"/>
          <p:nvPr/>
        </p:nvSpPr>
        <p:spPr>
          <a:xfrm>
            <a:off x="7920000" y="2448000"/>
            <a:ext cx="1800000" cy="180000"/>
          </a:xfrm>
          <a:prstGeom prst="rect">
            <a:avLst/>
          </a:prstGeom>
          <a:noFill/>
        </p:spPr>
        <p:txBody>
          <a:bodyPr wrap="square">
            <a:spAutoFit/>
          </a:bodyPr>
          <a:lstStyle/>
          <a:p>
            <a:pPr algn="l">
              <a:defRPr sz="900" b="0">
                <a:solidFill>
                  <a:srgbClr val="6B7B8D"/>
                </a:solidFill>
              </a:defRPr>
            </a:pPr>
            <a:r>
              <a:t>轮距L</a:t>
            </a:r>
          </a:p>
        </p:txBody>
      </p:sp>
      <p:sp>
        <p:nvSpPr>
          <p:cNvPr id="26" name="TextBox 25"/>
          <p:cNvSpPr txBox="1"/>
          <p:nvPr/>
        </p:nvSpPr>
        <p:spPr>
          <a:xfrm>
            <a:off x="9720000" y="2448000"/>
            <a:ext cx="1800000" cy="180000"/>
          </a:xfrm>
          <a:prstGeom prst="rect">
            <a:avLst/>
          </a:prstGeom>
          <a:noFill/>
        </p:spPr>
        <p:txBody>
          <a:bodyPr wrap="square">
            <a:spAutoFit/>
          </a:bodyPr>
          <a:lstStyle/>
          <a:p>
            <a:pPr algn="l">
              <a:defRPr sz="900" b="1">
                <a:solidFill>
                  <a:srgbClr val="2E7D32"/>
                </a:solidFill>
              </a:defRPr>
            </a:pPr>
            <a:r>
              <a:t>0.52 m</a:t>
            </a:r>
          </a:p>
        </p:txBody>
      </p:sp>
      <p:sp>
        <p:nvSpPr>
          <p:cNvPr id="27" name="Rounded Rectangle 26"/>
          <p:cNvSpPr/>
          <p:nvPr/>
        </p:nvSpPr>
        <p:spPr>
          <a:xfrm>
            <a:off x="360000" y="3960000"/>
            <a:ext cx="5580000" cy="19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0000" y="4031999"/>
            <a:ext cx="5220000" cy="180000"/>
          </a:xfrm>
          <a:prstGeom prst="rect">
            <a:avLst/>
          </a:prstGeom>
          <a:noFill/>
        </p:spPr>
        <p:txBody>
          <a:bodyPr wrap="square">
            <a:spAutoFit/>
          </a:bodyPr>
          <a:lstStyle/>
          <a:p>
            <a:pPr algn="l">
              <a:defRPr sz="1000" b="1">
                <a:solidFill>
                  <a:srgbClr val="1B2A4A"/>
                </a:solidFill>
              </a:defRPr>
            </a:pPr>
            <a:r>
              <a:t>参考路径 vs 循迹轨迹</a:t>
            </a:r>
          </a:p>
        </p:txBody>
      </p:sp>
      <p:pic>
        <p:nvPicPr>
          <p:cNvPr id="29" name="Picture 28" descr="line_following_traj.png"/>
          <p:cNvPicPr>
            <a:picLocks noChangeAspect="1"/>
          </p:cNvPicPr>
          <p:nvPr/>
        </p:nvPicPr>
        <p:blipFill>
          <a:blip r:embed="rId3"/>
          <a:stretch>
            <a:fillRect/>
          </a:stretch>
        </p:blipFill>
        <p:spPr>
          <a:xfrm>
            <a:off x="468000" y="4248000"/>
            <a:ext cx="2060791" cy="1620000"/>
          </a:xfrm>
          <a:prstGeom prst="rect">
            <a:avLst/>
          </a:prstGeom>
        </p:spPr>
      </p:pic>
      <p:sp>
        <p:nvSpPr>
          <p:cNvPr id="30" name="Rounded Rectangle 29"/>
          <p:cNvSpPr/>
          <p:nvPr/>
        </p:nvSpPr>
        <p:spPr>
          <a:xfrm>
            <a:off x="6120000" y="3960000"/>
            <a:ext cx="5580000" cy="19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0000" y="4031999"/>
            <a:ext cx="5220000" cy="180000"/>
          </a:xfrm>
          <a:prstGeom prst="rect">
            <a:avLst/>
          </a:prstGeom>
          <a:noFill/>
        </p:spPr>
        <p:txBody>
          <a:bodyPr wrap="square">
            <a:spAutoFit/>
          </a:bodyPr>
          <a:lstStyle/>
          <a:p>
            <a:pPr algn="l">
              <a:defRPr sz="1000" b="1">
                <a:solidFill>
                  <a:srgbClr val="1B2A4A"/>
                </a:solidFill>
              </a:defRPr>
            </a:pPr>
            <a:r>
              <a:t>循迹横向误差</a:t>
            </a:r>
          </a:p>
        </p:txBody>
      </p:sp>
      <p:pic>
        <p:nvPicPr>
          <p:cNvPr id="32" name="Picture 31" descr="line_following_error.png"/>
          <p:cNvPicPr>
            <a:picLocks noChangeAspect="1"/>
          </p:cNvPicPr>
          <p:nvPr/>
        </p:nvPicPr>
        <p:blipFill>
          <a:blip r:embed="rId4"/>
          <a:stretch>
            <a:fillRect/>
          </a:stretch>
        </p:blipFill>
        <p:spPr>
          <a:xfrm>
            <a:off x="6228000" y="4248000"/>
            <a:ext cx="2876420" cy="1620000"/>
          </a:xfrm>
          <a:prstGeom prst="rect">
            <a:avLst/>
          </a:prstGeom>
        </p:spPr>
      </p:pic>
      <p:sp>
        <p:nvSpPr>
          <p:cNvPr id="33" name="Rounded Rectangle 32"/>
          <p:cNvSpPr/>
          <p:nvPr/>
        </p:nvSpPr>
        <p:spPr>
          <a:xfrm>
            <a:off x="360000" y="6192000"/>
            <a:ext cx="2700000" cy="324000"/>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8000" y="6210000"/>
            <a:ext cx="1080000" cy="125999"/>
          </a:xfrm>
          <a:prstGeom prst="rect">
            <a:avLst/>
          </a:prstGeom>
          <a:noFill/>
        </p:spPr>
        <p:txBody>
          <a:bodyPr wrap="square">
            <a:spAutoFit/>
          </a:bodyPr>
          <a:lstStyle/>
          <a:p>
            <a:pPr algn="l">
              <a:defRPr sz="800" b="0">
                <a:solidFill>
                  <a:srgbClr val="2E7D32"/>
                </a:solidFill>
              </a:defRPr>
            </a:pPr>
            <a:r>
              <a:t>RMS误差</a:t>
            </a:r>
          </a:p>
        </p:txBody>
      </p:sp>
      <p:sp>
        <p:nvSpPr>
          <p:cNvPr id="35" name="TextBox 34"/>
          <p:cNvSpPr txBox="1"/>
          <p:nvPr/>
        </p:nvSpPr>
        <p:spPr>
          <a:xfrm>
            <a:off x="1620000" y="6210000"/>
            <a:ext cx="1260000" cy="125999"/>
          </a:xfrm>
          <a:prstGeom prst="rect">
            <a:avLst/>
          </a:prstGeom>
          <a:noFill/>
        </p:spPr>
        <p:txBody>
          <a:bodyPr wrap="square">
            <a:spAutoFit/>
          </a:bodyPr>
          <a:lstStyle/>
          <a:p>
            <a:pPr algn="r">
              <a:defRPr sz="1000" b="1">
                <a:solidFill>
                  <a:srgbClr val="2E7D32"/>
                </a:solidFill>
              </a:defRPr>
            </a:pPr>
            <a:r>
              <a:t>1.5cm</a:t>
            </a:r>
          </a:p>
        </p:txBody>
      </p:sp>
      <p:sp>
        <p:nvSpPr>
          <p:cNvPr id="36" name="Rounded Rectangle 35"/>
          <p:cNvSpPr/>
          <p:nvPr/>
        </p:nvSpPr>
        <p:spPr>
          <a:xfrm>
            <a:off x="3311999" y="6192000"/>
            <a:ext cx="2700000" cy="324000"/>
          </a:xfrm>
          <a:prstGeom prst="roundRect">
            <a:avLst/>
          </a:prstGeom>
          <a:solidFill>
            <a:srgbClr val="FFF3E0"/>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20000" y="6210000"/>
            <a:ext cx="1080000" cy="125999"/>
          </a:xfrm>
          <a:prstGeom prst="rect">
            <a:avLst/>
          </a:prstGeom>
          <a:noFill/>
        </p:spPr>
        <p:txBody>
          <a:bodyPr wrap="square">
            <a:spAutoFit/>
          </a:bodyPr>
          <a:lstStyle/>
          <a:p>
            <a:pPr algn="l">
              <a:defRPr sz="800" b="0">
                <a:solidFill>
                  <a:srgbClr val="E65100"/>
                </a:solidFill>
              </a:defRPr>
            </a:pPr>
            <a:r>
              <a:t>最大误差</a:t>
            </a:r>
          </a:p>
        </p:txBody>
      </p:sp>
      <p:sp>
        <p:nvSpPr>
          <p:cNvPr id="38" name="TextBox 37"/>
          <p:cNvSpPr txBox="1"/>
          <p:nvPr/>
        </p:nvSpPr>
        <p:spPr>
          <a:xfrm>
            <a:off x="4572000" y="6210000"/>
            <a:ext cx="1260000" cy="125999"/>
          </a:xfrm>
          <a:prstGeom prst="rect">
            <a:avLst/>
          </a:prstGeom>
          <a:noFill/>
        </p:spPr>
        <p:txBody>
          <a:bodyPr wrap="square">
            <a:spAutoFit/>
          </a:bodyPr>
          <a:lstStyle/>
          <a:p>
            <a:pPr algn="r">
              <a:defRPr sz="1000" b="1">
                <a:solidFill>
                  <a:srgbClr val="E65100"/>
                </a:solidFill>
              </a:defRPr>
            </a:pPr>
            <a:r>
              <a:t>6.8cm</a:t>
            </a:r>
          </a:p>
        </p:txBody>
      </p:sp>
      <p:sp>
        <p:nvSpPr>
          <p:cNvPr id="39" name="Rounded Rectangle 38"/>
          <p:cNvSpPr/>
          <p:nvPr/>
        </p:nvSpPr>
        <p:spPr>
          <a:xfrm>
            <a:off x="6263999" y="6192000"/>
            <a:ext cx="2700000" cy="324000"/>
          </a:xfrm>
          <a:prstGeom prst="roundRect">
            <a:avLst/>
          </a:prstGeom>
          <a:solidFill>
            <a:srgbClr val="E3F2FD"/>
          </a:solid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72000" y="6210000"/>
            <a:ext cx="1080000" cy="125999"/>
          </a:xfrm>
          <a:prstGeom prst="rect">
            <a:avLst/>
          </a:prstGeom>
          <a:noFill/>
        </p:spPr>
        <p:txBody>
          <a:bodyPr wrap="square">
            <a:spAutoFit/>
          </a:bodyPr>
          <a:lstStyle/>
          <a:p>
            <a:pPr algn="l">
              <a:defRPr sz="800" b="0">
                <a:solidFill>
                  <a:srgbClr val="1565C0"/>
                </a:solidFill>
              </a:defRPr>
            </a:pPr>
            <a:r>
              <a:t>路径长度</a:t>
            </a:r>
          </a:p>
        </p:txBody>
      </p:sp>
      <p:sp>
        <p:nvSpPr>
          <p:cNvPr id="41" name="TextBox 40"/>
          <p:cNvSpPr txBox="1"/>
          <p:nvPr/>
        </p:nvSpPr>
        <p:spPr>
          <a:xfrm>
            <a:off x="7523999" y="6210000"/>
            <a:ext cx="1260000" cy="125999"/>
          </a:xfrm>
          <a:prstGeom prst="rect">
            <a:avLst/>
          </a:prstGeom>
          <a:noFill/>
        </p:spPr>
        <p:txBody>
          <a:bodyPr wrap="square">
            <a:spAutoFit/>
          </a:bodyPr>
          <a:lstStyle/>
          <a:p>
            <a:pPr algn="r">
              <a:defRPr sz="1000" b="1">
                <a:solidFill>
                  <a:srgbClr val="1565C0"/>
                </a:solidFill>
              </a:defRPr>
            </a:pPr>
            <a:r>
              <a:t>11.04m</a:t>
            </a:r>
          </a:p>
        </p:txBody>
      </p:sp>
      <p:sp>
        <p:nvSpPr>
          <p:cNvPr id="42" name="Rounded Rectangle 41"/>
          <p:cNvSpPr/>
          <p:nvPr/>
        </p:nvSpPr>
        <p:spPr>
          <a:xfrm>
            <a:off x="9216000" y="6192000"/>
            <a:ext cx="2700000" cy="324000"/>
          </a:xfrm>
          <a:prstGeom prst="roundRect">
            <a:avLst/>
          </a:prstGeom>
          <a:solidFill>
            <a:srgbClr val="F3E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4000" y="6210000"/>
            <a:ext cx="1080000" cy="125999"/>
          </a:xfrm>
          <a:prstGeom prst="rect">
            <a:avLst/>
          </a:prstGeom>
          <a:noFill/>
        </p:spPr>
        <p:txBody>
          <a:bodyPr wrap="square">
            <a:spAutoFit/>
          </a:bodyPr>
          <a:lstStyle/>
          <a:p>
            <a:pPr algn="l">
              <a:defRPr sz="800" b="0">
                <a:solidFill>
                  <a:srgbClr val="7B1FA2"/>
                </a:solidFill>
              </a:defRPr>
            </a:pPr>
            <a:r>
              <a:t>耗时</a:t>
            </a:r>
          </a:p>
        </p:txBody>
      </p:sp>
      <p:sp>
        <p:nvSpPr>
          <p:cNvPr id="44" name="TextBox 43"/>
          <p:cNvSpPr txBox="1"/>
          <p:nvPr/>
        </p:nvSpPr>
        <p:spPr>
          <a:xfrm>
            <a:off x="10476000" y="6210000"/>
            <a:ext cx="1260000" cy="125999"/>
          </a:xfrm>
          <a:prstGeom prst="rect">
            <a:avLst/>
          </a:prstGeom>
          <a:noFill/>
        </p:spPr>
        <p:txBody>
          <a:bodyPr wrap="square">
            <a:spAutoFit/>
          </a:bodyPr>
          <a:lstStyle/>
          <a:p>
            <a:pPr algn="r">
              <a:defRPr sz="1000" b="1">
                <a:solidFill>
                  <a:srgbClr val="7B1FA2"/>
                </a:solidFill>
              </a:defRPr>
            </a:pPr>
            <a:r>
              <a:t>36.2s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06</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运动基元与算法流程</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6/9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540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000" y="1152000"/>
            <a:ext cx="5040000" cy="180000"/>
          </a:xfrm>
          <a:prstGeom prst="rect">
            <a:avLst/>
          </a:prstGeom>
          <a:noFill/>
        </p:spPr>
        <p:txBody>
          <a:bodyPr wrap="square">
            <a:spAutoFit/>
          </a:bodyPr>
          <a:lstStyle/>
          <a:p>
            <a:pPr algn="l">
              <a:defRPr sz="1000" b="1">
                <a:solidFill>
                  <a:srgbClr val="1B2A4A"/>
                </a:solidFill>
              </a:defRPr>
            </a:pPr>
            <a:r>
              <a:t>差速运动基元 (5种曲率)</a:t>
            </a:r>
          </a:p>
        </p:txBody>
      </p:sp>
      <p:sp>
        <p:nvSpPr>
          <p:cNvPr id="11" name="Rounded Rectangle 10"/>
          <p:cNvSpPr/>
          <p:nvPr/>
        </p:nvSpPr>
        <p:spPr>
          <a:xfrm>
            <a:off x="540000" y="1404000"/>
            <a:ext cx="5040000" cy="208800"/>
          </a:xfrm>
          <a:prstGeom prst="roundRect">
            <a:avLst/>
          </a:prstGeom>
          <a:solidFill>
            <a:srgbClr val="FAFAFA"/>
          </a:solidFill>
          <a:ln w="12700">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0000" y="1432800"/>
            <a:ext cx="1260000" cy="136800"/>
          </a:xfrm>
          <a:prstGeom prst="rect">
            <a:avLst/>
          </a:prstGeom>
          <a:noFill/>
        </p:spPr>
        <p:txBody>
          <a:bodyPr wrap="square">
            <a:spAutoFit/>
          </a:bodyPr>
          <a:lstStyle/>
          <a:p>
            <a:pPr algn="l">
              <a:defRPr sz="900" b="1">
                <a:solidFill>
                  <a:srgbClr val="E65100"/>
                </a:solidFill>
              </a:defRPr>
            </a:pPr>
            <a:r>
              <a:t>大左转</a:t>
            </a:r>
          </a:p>
        </p:txBody>
      </p:sp>
      <p:sp>
        <p:nvSpPr>
          <p:cNvPr id="13" name="TextBox 12"/>
          <p:cNvSpPr txBox="1"/>
          <p:nvPr/>
        </p:nvSpPr>
        <p:spPr>
          <a:xfrm>
            <a:off x="1980000" y="1432800"/>
            <a:ext cx="1440000" cy="136800"/>
          </a:xfrm>
          <a:prstGeom prst="rect">
            <a:avLst/>
          </a:prstGeom>
          <a:noFill/>
        </p:spPr>
        <p:txBody>
          <a:bodyPr wrap="square">
            <a:spAutoFit/>
          </a:bodyPr>
          <a:lstStyle/>
          <a:p>
            <a:pPr algn="l">
              <a:defRPr sz="850" b="0">
                <a:solidFill>
                  <a:srgbClr val="6B7B8D"/>
                </a:solidFill>
              </a:defRPr>
            </a:pPr>
            <a:r>
              <a:t>κ=-1.11</a:t>
            </a:r>
          </a:p>
        </p:txBody>
      </p:sp>
      <p:sp>
        <p:nvSpPr>
          <p:cNvPr id="14" name="TextBox 13"/>
          <p:cNvSpPr txBox="1"/>
          <p:nvPr/>
        </p:nvSpPr>
        <p:spPr>
          <a:xfrm>
            <a:off x="3420000" y="1432800"/>
            <a:ext cx="1440000" cy="136800"/>
          </a:xfrm>
          <a:prstGeom prst="rect">
            <a:avLst/>
          </a:prstGeom>
          <a:noFill/>
        </p:spPr>
        <p:txBody>
          <a:bodyPr wrap="square">
            <a:spAutoFit/>
          </a:bodyPr>
          <a:lstStyle/>
          <a:p>
            <a:pPr algn="l">
              <a:defRPr sz="850" b="0">
                <a:solidFill>
                  <a:srgbClr val="6B7B8D"/>
                </a:solidFill>
              </a:defRPr>
            </a:pPr>
            <a:r>
              <a:t>R=0.90m</a:t>
            </a:r>
          </a:p>
        </p:txBody>
      </p:sp>
      <p:sp>
        <p:nvSpPr>
          <p:cNvPr id="15" name="Rounded Rectangle 14"/>
          <p:cNvSpPr/>
          <p:nvPr/>
        </p:nvSpPr>
        <p:spPr>
          <a:xfrm>
            <a:off x="540000" y="1638000"/>
            <a:ext cx="5040000" cy="208800"/>
          </a:xfrm>
          <a:prstGeom prst="roundRect">
            <a:avLst/>
          </a:prstGeom>
          <a:solidFill>
            <a:srgbClr val="FAFAFA"/>
          </a:solidFill>
          <a:ln w="1270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000" y="1666800"/>
            <a:ext cx="1260000" cy="136800"/>
          </a:xfrm>
          <a:prstGeom prst="rect">
            <a:avLst/>
          </a:prstGeom>
          <a:noFill/>
        </p:spPr>
        <p:txBody>
          <a:bodyPr wrap="square">
            <a:spAutoFit/>
          </a:bodyPr>
          <a:lstStyle/>
          <a:p>
            <a:pPr algn="l">
              <a:defRPr sz="900" b="1">
                <a:solidFill>
                  <a:srgbClr val="F39C12"/>
                </a:solidFill>
              </a:defRPr>
            </a:pPr>
            <a:r>
              <a:t>小左转</a:t>
            </a:r>
          </a:p>
        </p:txBody>
      </p:sp>
      <p:sp>
        <p:nvSpPr>
          <p:cNvPr id="17" name="TextBox 16"/>
          <p:cNvSpPr txBox="1"/>
          <p:nvPr/>
        </p:nvSpPr>
        <p:spPr>
          <a:xfrm>
            <a:off x="1980000" y="1666800"/>
            <a:ext cx="1440000" cy="136800"/>
          </a:xfrm>
          <a:prstGeom prst="rect">
            <a:avLst/>
          </a:prstGeom>
          <a:noFill/>
        </p:spPr>
        <p:txBody>
          <a:bodyPr wrap="square">
            <a:spAutoFit/>
          </a:bodyPr>
          <a:lstStyle/>
          <a:p>
            <a:pPr algn="l">
              <a:defRPr sz="850" b="0">
                <a:solidFill>
                  <a:srgbClr val="6B7B8D"/>
                </a:solidFill>
              </a:defRPr>
            </a:pPr>
            <a:r>
              <a:t>κ=-0.52</a:t>
            </a:r>
          </a:p>
        </p:txBody>
      </p:sp>
      <p:sp>
        <p:nvSpPr>
          <p:cNvPr id="18" name="TextBox 17"/>
          <p:cNvSpPr txBox="1"/>
          <p:nvPr/>
        </p:nvSpPr>
        <p:spPr>
          <a:xfrm>
            <a:off x="3420000" y="1666800"/>
            <a:ext cx="1440000" cy="136800"/>
          </a:xfrm>
          <a:prstGeom prst="rect">
            <a:avLst/>
          </a:prstGeom>
          <a:noFill/>
        </p:spPr>
        <p:txBody>
          <a:bodyPr wrap="square">
            <a:spAutoFit/>
          </a:bodyPr>
          <a:lstStyle/>
          <a:p>
            <a:pPr algn="l">
              <a:defRPr sz="850" b="0">
                <a:solidFill>
                  <a:srgbClr val="6B7B8D"/>
                </a:solidFill>
              </a:defRPr>
            </a:pPr>
            <a:r>
              <a:t>R=1.92m</a:t>
            </a:r>
          </a:p>
        </p:txBody>
      </p:sp>
      <p:sp>
        <p:nvSpPr>
          <p:cNvPr id="19" name="Rounded Rectangle 18"/>
          <p:cNvSpPr/>
          <p:nvPr/>
        </p:nvSpPr>
        <p:spPr>
          <a:xfrm>
            <a:off x="540000" y="1872000"/>
            <a:ext cx="5040000" cy="208800"/>
          </a:xfrm>
          <a:prstGeom prst="roundRect">
            <a:avLst/>
          </a:prstGeom>
          <a:solidFill>
            <a:srgbClr val="FAFAFA"/>
          </a:solidFill>
          <a:ln w="127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0000" y="1900800"/>
            <a:ext cx="1260000" cy="136800"/>
          </a:xfrm>
          <a:prstGeom prst="rect">
            <a:avLst/>
          </a:prstGeom>
          <a:noFill/>
        </p:spPr>
        <p:txBody>
          <a:bodyPr wrap="square">
            <a:spAutoFit/>
          </a:bodyPr>
          <a:lstStyle/>
          <a:p>
            <a:pPr algn="l">
              <a:defRPr sz="900" b="1">
                <a:solidFill>
                  <a:srgbClr val="27AE60"/>
                </a:solidFill>
              </a:defRPr>
            </a:pPr>
            <a:r>
              <a:t>直行</a:t>
            </a:r>
          </a:p>
        </p:txBody>
      </p:sp>
      <p:sp>
        <p:nvSpPr>
          <p:cNvPr id="21" name="TextBox 20"/>
          <p:cNvSpPr txBox="1"/>
          <p:nvPr/>
        </p:nvSpPr>
        <p:spPr>
          <a:xfrm>
            <a:off x="1980000" y="1900800"/>
            <a:ext cx="1440000" cy="136800"/>
          </a:xfrm>
          <a:prstGeom prst="rect">
            <a:avLst/>
          </a:prstGeom>
          <a:noFill/>
        </p:spPr>
        <p:txBody>
          <a:bodyPr wrap="square">
            <a:spAutoFit/>
          </a:bodyPr>
          <a:lstStyle/>
          <a:p>
            <a:pPr algn="l">
              <a:defRPr sz="850" b="0">
                <a:solidFill>
                  <a:srgbClr val="6B7B8D"/>
                </a:solidFill>
              </a:defRPr>
            </a:pPr>
            <a:r>
              <a:t>κ=0</a:t>
            </a:r>
          </a:p>
        </p:txBody>
      </p:sp>
      <p:sp>
        <p:nvSpPr>
          <p:cNvPr id="22" name="TextBox 21"/>
          <p:cNvSpPr txBox="1"/>
          <p:nvPr/>
        </p:nvSpPr>
        <p:spPr>
          <a:xfrm>
            <a:off x="3420000" y="1900800"/>
            <a:ext cx="1440000" cy="136800"/>
          </a:xfrm>
          <a:prstGeom prst="rect">
            <a:avLst/>
          </a:prstGeom>
          <a:noFill/>
        </p:spPr>
        <p:txBody>
          <a:bodyPr wrap="square">
            <a:spAutoFit/>
          </a:bodyPr>
          <a:lstStyle/>
          <a:p>
            <a:pPr algn="l">
              <a:defRPr sz="850" b="0">
                <a:solidFill>
                  <a:srgbClr val="6B7B8D"/>
                </a:solidFill>
              </a:defRPr>
            </a:pPr>
            <a:r>
              <a:t>R=∞</a:t>
            </a:r>
          </a:p>
        </p:txBody>
      </p:sp>
      <p:sp>
        <p:nvSpPr>
          <p:cNvPr id="23" name="Rounded Rectangle 22"/>
          <p:cNvSpPr/>
          <p:nvPr/>
        </p:nvSpPr>
        <p:spPr>
          <a:xfrm>
            <a:off x="540000" y="2106000"/>
            <a:ext cx="5040000" cy="208800"/>
          </a:xfrm>
          <a:prstGeom prst="roundRect">
            <a:avLst/>
          </a:prstGeom>
          <a:solidFill>
            <a:srgbClr val="FAFAFA"/>
          </a:solidFill>
          <a:ln w="12700">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0000" y="2134800"/>
            <a:ext cx="1260000" cy="136800"/>
          </a:xfrm>
          <a:prstGeom prst="rect">
            <a:avLst/>
          </a:prstGeom>
          <a:noFill/>
        </p:spPr>
        <p:txBody>
          <a:bodyPr wrap="square">
            <a:spAutoFit/>
          </a:bodyPr>
          <a:lstStyle/>
          <a:p>
            <a:pPr algn="l">
              <a:defRPr sz="900" b="1">
                <a:solidFill>
                  <a:srgbClr val="2980B9"/>
                </a:solidFill>
              </a:defRPr>
            </a:pPr>
            <a:r>
              <a:t>小右转</a:t>
            </a:r>
          </a:p>
        </p:txBody>
      </p:sp>
      <p:sp>
        <p:nvSpPr>
          <p:cNvPr id="25" name="TextBox 24"/>
          <p:cNvSpPr txBox="1"/>
          <p:nvPr/>
        </p:nvSpPr>
        <p:spPr>
          <a:xfrm>
            <a:off x="1980000" y="2134800"/>
            <a:ext cx="1440000" cy="136800"/>
          </a:xfrm>
          <a:prstGeom prst="rect">
            <a:avLst/>
          </a:prstGeom>
          <a:noFill/>
        </p:spPr>
        <p:txBody>
          <a:bodyPr wrap="square">
            <a:spAutoFit/>
          </a:bodyPr>
          <a:lstStyle/>
          <a:p>
            <a:pPr algn="l">
              <a:defRPr sz="850" b="0">
                <a:solidFill>
                  <a:srgbClr val="6B7B8D"/>
                </a:solidFill>
              </a:defRPr>
            </a:pPr>
            <a:r>
              <a:t>κ=+0.52</a:t>
            </a:r>
          </a:p>
        </p:txBody>
      </p:sp>
      <p:sp>
        <p:nvSpPr>
          <p:cNvPr id="26" name="TextBox 25"/>
          <p:cNvSpPr txBox="1"/>
          <p:nvPr/>
        </p:nvSpPr>
        <p:spPr>
          <a:xfrm>
            <a:off x="3420000" y="2134800"/>
            <a:ext cx="1440000" cy="136800"/>
          </a:xfrm>
          <a:prstGeom prst="rect">
            <a:avLst/>
          </a:prstGeom>
          <a:noFill/>
        </p:spPr>
        <p:txBody>
          <a:bodyPr wrap="square">
            <a:spAutoFit/>
          </a:bodyPr>
          <a:lstStyle/>
          <a:p>
            <a:pPr algn="l">
              <a:defRPr sz="850" b="0">
                <a:solidFill>
                  <a:srgbClr val="6B7B8D"/>
                </a:solidFill>
              </a:defRPr>
            </a:pPr>
            <a:r>
              <a:t>R=1.92m</a:t>
            </a:r>
          </a:p>
        </p:txBody>
      </p:sp>
      <p:sp>
        <p:nvSpPr>
          <p:cNvPr id="27" name="Rounded Rectangle 26"/>
          <p:cNvSpPr/>
          <p:nvPr/>
        </p:nvSpPr>
        <p:spPr>
          <a:xfrm>
            <a:off x="540000" y="2340000"/>
            <a:ext cx="5040000" cy="208800"/>
          </a:xfrm>
          <a:prstGeom prst="roundRect">
            <a:avLst/>
          </a:prstGeom>
          <a:solidFill>
            <a:srgbClr val="FAFAFA"/>
          </a:solidFill>
          <a:ln w="1270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0000" y="2368800"/>
            <a:ext cx="1260000" cy="136800"/>
          </a:xfrm>
          <a:prstGeom prst="rect">
            <a:avLst/>
          </a:prstGeom>
          <a:noFill/>
        </p:spPr>
        <p:txBody>
          <a:bodyPr wrap="square">
            <a:spAutoFit/>
          </a:bodyPr>
          <a:lstStyle/>
          <a:p>
            <a:pPr algn="l">
              <a:defRPr sz="900" b="1">
                <a:solidFill>
                  <a:srgbClr val="8E44AD"/>
                </a:solidFill>
              </a:defRPr>
            </a:pPr>
            <a:r>
              <a:t>大右转</a:t>
            </a:r>
          </a:p>
        </p:txBody>
      </p:sp>
      <p:sp>
        <p:nvSpPr>
          <p:cNvPr id="29" name="TextBox 28"/>
          <p:cNvSpPr txBox="1"/>
          <p:nvPr/>
        </p:nvSpPr>
        <p:spPr>
          <a:xfrm>
            <a:off x="1980000" y="2368800"/>
            <a:ext cx="1440000" cy="136800"/>
          </a:xfrm>
          <a:prstGeom prst="rect">
            <a:avLst/>
          </a:prstGeom>
          <a:noFill/>
        </p:spPr>
        <p:txBody>
          <a:bodyPr wrap="square">
            <a:spAutoFit/>
          </a:bodyPr>
          <a:lstStyle/>
          <a:p>
            <a:pPr algn="l">
              <a:defRPr sz="850" b="0">
                <a:solidFill>
                  <a:srgbClr val="6B7B8D"/>
                </a:solidFill>
              </a:defRPr>
            </a:pPr>
            <a:r>
              <a:t>κ=+1.11</a:t>
            </a:r>
          </a:p>
        </p:txBody>
      </p:sp>
      <p:sp>
        <p:nvSpPr>
          <p:cNvPr id="30" name="TextBox 29"/>
          <p:cNvSpPr txBox="1"/>
          <p:nvPr/>
        </p:nvSpPr>
        <p:spPr>
          <a:xfrm>
            <a:off x="3420000" y="2368800"/>
            <a:ext cx="1440000" cy="136800"/>
          </a:xfrm>
          <a:prstGeom prst="rect">
            <a:avLst/>
          </a:prstGeom>
          <a:noFill/>
        </p:spPr>
        <p:txBody>
          <a:bodyPr wrap="square">
            <a:spAutoFit/>
          </a:bodyPr>
          <a:lstStyle/>
          <a:p>
            <a:pPr algn="l">
              <a:defRPr sz="850" b="0">
                <a:solidFill>
                  <a:srgbClr val="6B7B8D"/>
                </a:solidFill>
              </a:defRPr>
            </a:pPr>
            <a:r>
              <a:t>R=0.90m</a:t>
            </a:r>
          </a:p>
        </p:txBody>
      </p:sp>
      <p:sp>
        <p:nvSpPr>
          <p:cNvPr id="31" name="TextBox 30"/>
          <p:cNvSpPr txBox="1"/>
          <p:nvPr/>
        </p:nvSpPr>
        <p:spPr>
          <a:xfrm>
            <a:off x="540000" y="2700000"/>
            <a:ext cx="5040000" cy="900000"/>
          </a:xfrm>
          <a:prstGeom prst="rect">
            <a:avLst/>
          </a:prstGeom>
          <a:noFill/>
        </p:spPr>
        <p:txBody>
          <a:bodyPr wrap="square">
            <a:spAutoFit/>
          </a:bodyPr>
          <a:lstStyle/>
          <a:p>
            <a:pPr algn="l">
              <a:defRPr sz="900" b="0">
                <a:solidFill>
                  <a:srgbClr val="6B7B8D"/>
                </a:solidFill>
              </a:defRPr>
            </a:pPr>
            <a:r>
              <a:t>前进/后退 × 5种曲率 = 10种基元</a:t>
            </a:r>
            <a:br/>
            <a:r>
              <a:t>步长 d=0.5m</a:t>
            </a:r>
            <a:br/>
            <a:r>
              <a:t>节点状态 (x,y,θ) 三维位姿</a:t>
            </a:r>
          </a:p>
        </p:txBody>
      </p:sp>
      <p:sp>
        <p:nvSpPr>
          <p:cNvPr id="32" name="Rounded Rectangle 31"/>
          <p:cNvSpPr/>
          <p:nvPr/>
        </p:nvSpPr>
        <p:spPr>
          <a:xfrm>
            <a:off x="5940000" y="1080000"/>
            <a:ext cx="5760000" cy="270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0000" y="1152000"/>
            <a:ext cx="5400000" cy="180000"/>
          </a:xfrm>
          <a:prstGeom prst="rect">
            <a:avLst/>
          </a:prstGeom>
          <a:noFill/>
        </p:spPr>
        <p:txBody>
          <a:bodyPr wrap="square">
            <a:spAutoFit/>
          </a:bodyPr>
          <a:lstStyle/>
          <a:p>
            <a:pPr algn="l">
              <a:defRPr sz="1000" b="1">
                <a:solidFill>
                  <a:srgbClr val="1B2A4A"/>
                </a:solidFill>
              </a:defRPr>
            </a:pPr>
            <a:r>
              <a:t>Hybrid A* 算法流程</a:t>
            </a:r>
          </a:p>
        </p:txBody>
      </p:sp>
      <p:sp>
        <p:nvSpPr>
          <p:cNvPr id="34" name="Rounded Rectangle 33"/>
          <p:cNvSpPr/>
          <p:nvPr/>
        </p:nvSpPr>
        <p:spPr>
          <a:xfrm>
            <a:off x="6120000" y="1368000"/>
            <a:ext cx="5400000" cy="1656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0000" y="1382400"/>
            <a:ext cx="1980000" cy="136800"/>
          </a:xfrm>
          <a:prstGeom prst="rect">
            <a:avLst/>
          </a:prstGeom>
          <a:noFill/>
        </p:spPr>
        <p:txBody>
          <a:bodyPr wrap="square">
            <a:spAutoFit/>
          </a:bodyPr>
          <a:lstStyle/>
          <a:p>
            <a:pPr algn="l">
              <a:defRPr sz="800" b="1">
                <a:solidFill>
                  <a:srgbClr val="1B2A4A"/>
                </a:solidFill>
              </a:defRPr>
            </a:pPr>
            <a:r>
              <a:t>1. 栅格地图</a:t>
            </a:r>
          </a:p>
        </p:txBody>
      </p:sp>
      <p:sp>
        <p:nvSpPr>
          <p:cNvPr id="36" name="TextBox 35"/>
          <p:cNvSpPr txBox="1"/>
          <p:nvPr/>
        </p:nvSpPr>
        <p:spPr>
          <a:xfrm>
            <a:off x="8280000" y="1382400"/>
            <a:ext cx="2880000" cy="136800"/>
          </a:xfrm>
          <a:prstGeom prst="rect">
            <a:avLst/>
          </a:prstGeom>
          <a:noFill/>
        </p:spPr>
        <p:txBody>
          <a:bodyPr wrap="square">
            <a:spAutoFit/>
          </a:bodyPr>
          <a:lstStyle/>
          <a:p>
            <a:pPr algn="l">
              <a:defRPr sz="800" b="0">
                <a:solidFill>
                  <a:srgbClr val="6B7B8D"/>
                </a:solidFill>
              </a:defRPr>
            </a:pPr>
            <a:r>
              <a:t>10×8m, 0.2m</a:t>
            </a:r>
          </a:p>
        </p:txBody>
      </p:sp>
      <p:sp>
        <p:nvSpPr>
          <p:cNvPr id="37" name="Rounded Rectangle 36"/>
          <p:cNvSpPr/>
          <p:nvPr/>
        </p:nvSpPr>
        <p:spPr>
          <a:xfrm>
            <a:off x="6120000" y="1555200"/>
            <a:ext cx="5400000" cy="1656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569600"/>
            <a:ext cx="1980000" cy="136800"/>
          </a:xfrm>
          <a:prstGeom prst="rect">
            <a:avLst/>
          </a:prstGeom>
          <a:noFill/>
        </p:spPr>
        <p:txBody>
          <a:bodyPr wrap="square">
            <a:spAutoFit/>
          </a:bodyPr>
          <a:lstStyle/>
          <a:p>
            <a:pPr algn="l">
              <a:defRPr sz="800" b="1">
                <a:solidFill>
                  <a:srgbClr val="1B2A4A"/>
                </a:solidFill>
              </a:defRPr>
            </a:pPr>
            <a:r>
              <a:t>2. 初始化</a:t>
            </a:r>
          </a:p>
        </p:txBody>
      </p:sp>
      <p:sp>
        <p:nvSpPr>
          <p:cNvPr id="39" name="TextBox 38"/>
          <p:cNvSpPr txBox="1"/>
          <p:nvPr/>
        </p:nvSpPr>
        <p:spPr>
          <a:xfrm>
            <a:off x="8280000" y="1569600"/>
            <a:ext cx="2880000" cy="136800"/>
          </a:xfrm>
          <a:prstGeom prst="rect">
            <a:avLst/>
          </a:prstGeom>
          <a:noFill/>
        </p:spPr>
        <p:txBody>
          <a:bodyPr wrap="square">
            <a:spAutoFit/>
          </a:bodyPr>
          <a:lstStyle/>
          <a:p>
            <a:pPr algn="l">
              <a:defRPr sz="800" b="0">
                <a:solidFill>
                  <a:srgbClr val="6B7B8D"/>
                </a:solidFill>
              </a:defRPr>
            </a:pPr>
            <a:r>
              <a:t>Open/Close, h₀</a:t>
            </a:r>
          </a:p>
        </p:txBody>
      </p:sp>
      <p:sp>
        <p:nvSpPr>
          <p:cNvPr id="40" name="Rounded Rectangle 39"/>
          <p:cNvSpPr/>
          <p:nvPr/>
        </p:nvSpPr>
        <p:spPr>
          <a:xfrm>
            <a:off x="6120000" y="1742400"/>
            <a:ext cx="5400000" cy="1656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0000" y="1756800"/>
            <a:ext cx="1980000" cy="136800"/>
          </a:xfrm>
          <a:prstGeom prst="rect">
            <a:avLst/>
          </a:prstGeom>
          <a:noFill/>
        </p:spPr>
        <p:txBody>
          <a:bodyPr wrap="square">
            <a:spAutoFit/>
          </a:bodyPr>
          <a:lstStyle/>
          <a:p>
            <a:pPr algn="l">
              <a:defRPr sz="800" b="1">
                <a:solidFill>
                  <a:srgbClr val="1B2A4A"/>
                </a:solidFill>
              </a:defRPr>
            </a:pPr>
            <a:r>
              <a:t>3. 节点扩展</a:t>
            </a:r>
          </a:p>
        </p:txBody>
      </p:sp>
      <p:sp>
        <p:nvSpPr>
          <p:cNvPr id="42" name="TextBox 41"/>
          <p:cNvSpPr txBox="1"/>
          <p:nvPr/>
        </p:nvSpPr>
        <p:spPr>
          <a:xfrm>
            <a:off x="8280000" y="1756800"/>
            <a:ext cx="2880000" cy="136800"/>
          </a:xfrm>
          <a:prstGeom prst="rect">
            <a:avLst/>
          </a:prstGeom>
          <a:noFill/>
        </p:spPr>
        <p:txBody>
          <a:bodyPr wrap="square">
            <a:spAutoFit/>
          </a:bodyPr>
          <a:lstStyle/>
          <a:p>
            <a:pPr algn="l">
              <a:defRPr sz="800" b="0">
                <a:solidFill>
                  <a:srgbClr val="6B7B8D"/>
                </a:solidFill>
              </a:defRPr>
            </a:pPr>
            <a:r>
              <a:t>10种基元</a:t>
            </a:r>
          </a:p>
        </p:txBody>
      </p:sp>
      <p:sp>
        <p:nvSpPr>
          <p:cNvPr id="43" name="Rounded Rectangle 42"/>
          <p:cNvSpPr/>
          <p:nvPr/>
        </p:nvSpPr>
        <p:spPr>
          <a:xfrm>
            <a:off x="6120000" y="1929599"/>
            <a:ext cx="5400000" cy="1656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00000" y="1943999"/>
            <a:ext cx="1980000" cy="136800"/>
          </a:xfrm>
          <a:prstGeom prst="rect">
            <a:avLst/>
          </a:prstGeom>
          <a:noFill/>
        </p:spPr>
        <p:txBody>
          <a:bodyPr wrap="square">
            <a:spAutoFit/>
          </a:bodyPr>
          <a:lstStyle/>
          <a:p>
            <a:pPr algn="l">
              <a:defRPr sz="800" b="1">
                <a:solidFill>
                  <a:srgbClr val="1B2A4A"/>
                </a:solidFill>
              </a:defRPr>
            </a:pPr>
            <a:r>
              <a:t>4. 碰撞检测</a:t>
            </a:r>
          </a:p>
        </p:txBody>
      </p:sp>
      <p:sp>
        <p:nvSpPr>
          <p:cNvPr id="45" name="TextBox 44"/>
          <p:cNvSpPr txBox="1"/>
          <p:nvPr/>
        </p:nvSpPr>
        <p:spPr>
          <a:xfrm>
            <a:off x="8280000" y="1943999"/>
            <a:ext cx="2880000" cy="136800"/>
          </a:xfrm>
          <a:prstGeom prst="rect">
            <a:avLst/>
          </a:prstGeom>
          <a:noFill/>
        </p:spPr>
        <p:txBody>
          <a:bodyPr wrap="square">
            <a:spAutoFit/>
          </a:bodyPr>
          <a:lstStyle/>
          <a:p>
            <a:pPr algn="l">
              <a:defRPr sz="800" b="0">
                <a:solidFill>
                  <a:srgbClr val="6B7B8D"/>
                </a:solidFill>
              </a:defRPr>
            </a:pPr>
            <a:r>
              <a:t>采样11点</a:t>
            </a:r>
          </a:p>
        </p:txBody>
      </p:sp>
      <p:sp>
        <p:nvSpPr>
          <p:cNvPr id="46" name="Rounded Rectangle 45"/>
          <p:cNvSpPr/>
          <p:nvPr/>
        </p:nvSpPr>
        <p:spPr>
          <a:xfrm>
            <a:off x="6120000" y="2116800"/>
            <a:ext cx="5400000" cy="165600"/>
          </a:xfrm>
          <a:prstGeom prst="round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0000" y="2131200"/>
            <a:ext cx="1980000" cy="136800"/>
          </a:xfrm>
          <a:prstGeom prst="rect">
            <a:avLst/>
          </a:prstGeom>
          <a:noFill/>
        </p:spPr>
        <p:txBody>
          <a:bodyPr wrap="square">
            <a:spAutoFit/>
          </a:bodyPr>
          <a:lstStyle/>
          <a:p>
            <a:pPr algn="l">
              <a:defRPr sz="800" b="1">
                <a:solidFill>
                  <a:srgbClr val="1B2A4A"/>
                </a:solidFill>
              </a:defRPr>
            </a:pPr>
            <a:r>
              <a:t>5. 代价评估</a:t>
            </a:r>
          </a:p>
        </p:txBody>
      </p:sp>
      <p:sp>
        <p:nvSpPr>
          <p:cNvPr id="48" name="TextBox 47"/>
          <p:cNvSpPr txBox="1"/>
          <p:nvPr/>
        </p:nvSpPr>
        <p:spPr>
          <a:xfrm>
            <a:off x="8280000" y="2131200"/>
            <a:ext cx="2880000" cy="136800"/>
          </a:xfrm>
          <a:prstGeom prst="rect">
            <a:avLst/>
          </a:prstGeom>
          <a:noFill/>
        </p:spPr>
        <p:txBody>
          <a:bodyPr wrap="square">
            <a:spAutoFit/>
          </a:bodyPr>
          <a:lstStyle/>
          <a:p>
            <a:pPr algn="l">
              <a:defRPr sz="800" b="0">
                <a:solidFill>
                  <a:srgbClr val="6B7B8D"/>
                </a:solidFill>
              </a:defRPr>
            </a:pPr>
            <a:r>
              <a:t>f=g+h</a:t>
            </a:r>
          </a:p>
        </p:txBody>
      </p:sp>
      <p:sp>
        <p:nvSpPr>
          <p:cNvPr id="49" name="Rounded Rectangle 48"/>
          <p:cNvSpPr/>
          <p:nvPr/>
        </p:nvSpPr>
        <p:spPr>
          <a:xfrm>
            <a:off x="6120000" y="2304000"/>
            <a:ext cx="5400000" cy="1656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0000" y="2318400"/>
            <a:ext cx="1980000" cy="136800"/>
          </a:xfrm>
          <a:prstGeom prst="rect">
            <a:avLst/>
          </a:prstGeom>
          <a:noFill/>
        </p:spPr>
        <p:txBody>
          <a:bodyPr wrap="square">
            <a:spAutoFit/>
          </a:bodyPr>
          <a:lstStyle/>
          <a:p>
            <a:pPr algn="l">
              <a:defRPr sz="800" b="1">
                <a:solidFill>
                  <a:srgbClr val="1B2A4A"/>
                </a:solidFill>
              </a:defRPr>
            </a:pPr>
            <a:r>
              <a:t>6. 路径回溯</a:t>
            </a:r>
          </a:p>
        </p:txBody>
      </p:sp>
      <p:sp>
        <p:nvSpPr>
          <p:cNvPr id="51" name="TextBox 50"/>
          <p:cNvSpPr txBox="1"/>
          <p:nvPr/>
        </p:nvSpPr>
        <p:spPr>
          <a:xfrm>
            <a:off x="8280000" y="2318400"/>
            <a:ext cx="2880000" cy="136800"/>
          </a:xfrm>
          <a:prstGeom prst="rect">
            <a:avLst/>
          </a:prstGeom>
          <a:noFill/>
        </p:spPr>
        <p:txBody>
          <a:bodyPr wrap="square">
            <a:spAutoFit/>
          </a:bodyPr>
          <a:lstStyle/>
          <a:p>
            <a:pPr algn="l">
              <a:defRPr sz="800" b="0">
                <a:solidFill>
                  <a:srgbClr val="6B7B8D"/>
                </a:solidFill>
              </a:defRPr>
            </a:pPr>
            <a:r>
              <a:t>父节点链</a:t>
            </a:r>
          </a:p>
        </p:txBody>
      </p:sp>
      <p:sp>
        <p:nvSpPr>
          <p:cNvPr id="52" name="Rounded Rectangle 51"/>
          <p:cNvSpPr/>
          <p:nvPr/>
        </p:nvSpPr>
        <p:spPr>
          <a:xfrm>
            <a:off x="6120000" y="2491200"/>
            <a:ext cx="5400000" cy="1656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0000" y="2505600"/>
            <a:ext cx="1980000" cy="136800"/>
          </a:xfrm>
          <a:prstGeom prst="rect">
            <a:avLst/>
          </a:prstGeom>
          <a:noFill/>
        </p:spPr>
        <p:txBody>
          <a:bodyPr wrap="square">
            <a:spAutoFit/>
          </a:bodyPr>
          <a:lstStyle/>
          <a:p>
            <a:pPr algn="l">
              <a:defRPr sz="800" b="1">
                <a:solidFill>
                  <a:srgbClr val="1B2A4A"/>
                </a:solidFill>
              </a:defRPr>
            </a:pPr>
            <a:r>
              <a:t>7. 均值平滑</a:t>
            </a:r>
          </a:p>
        </p:txBody>
      </p:sp>
      <p:sp>
        <p:nvSpPr>
          <p:cNvPr id="54" name="TextBox 53"/>
          <p:cNvSpPr txBox="1"/>
          <p:nvPr/>
        </p:nvSpPr>
        <p:spPr>
          <a:xfrm>
            <a:off x="8280000" y="2505600"/>
            <a:ext cx="2880000" cy="136800"/>
          </a:xfrm>
          <a:prstGeom prst="rect">
            <a:avLst/>
          </a:prstGeom>
          <a:noFill/>
        </p:spPr>
        <p:txBody>
          <a:bodyPr wrap="square">
            <a:spAutoFit/>
          </a:bodyPr>
          <a:lstStyle/>
          <a:p>
            <a:pPr algn="l">
              <a:defRPr sz="800" b="0">
                <a:solidFill>
                  <a:srgbClr val="6B7B8D"/>
                </a:solidFill>
              </a:defRPr>
            </a:pPr>
            <a:r>
              <a:t>3次滤波</a:t>
            </a:r>
          </a:p>
        </p:txBody>
      </p:sp>
      <p:sp>
        <p:nvSpPr>
          <p:cNvPr id="55" name="Rounded Rectangle 54"/>
          <p:cNvSpPr/>
          <p:nvPr/>
        </p:nvSpPr>
        <p:spPr>
          <a:xfrm>
            <a:off x="6120000" y="2678400"/>
            <a:ext cx="5400000" cy="1656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0000" y="2692800"/>
            <a:ext cx="1980000" cy="136800"/>
          </a:xfrm>
          <a:prstGeom prst="rect">
            <a:avLst/>
          </a:prstGeom>
          <a:noFill/>
        </p:spPr>
        <p:txBody>
          <a:bodyPr wrap="square">
            <a:spAutoFit/>
          </a:bodyPr>
          <a:lstStyle/>
          <a:p>
            <a:pPr algn="l">
              <a:defRPr sz="800" b="1">
                <a:solidFill>
                  <a:srgbClr val="1B2A4A"/>
                </a:solidFill>
              </a:defRPr>
            </a:pPr>
            <a:r>
              <a:t>8. 等距插值</a:t>
            </a:r>
          </a:p>
        </p:txBody>
      </p:sp>
      <p:sp>
        <p:nvSpPr>
          <p:cNvPr id="57" name="TextBox 56"/>
          <p:cNvSpPr txBox="1"/>
          <p:nvPr/>
        </p:nvSpPr>
        <p:spPr>
          <a:xfrm>
            <a:off x="8280000" y="2692800"/>
            <a:ext cx="2880000" cy="136800"/>
          </a:xfrm>
          <a:prstGeom prst="rect">
            <a:avLst/>
          </a:prstGeom>
          <a:noFill/>
        </p:spPr>
        <p:txBody>
          <a:bodyPr wrap="square">
            <a:spAutoFit/>
          </a:bodyPr>
          <a:lstStyle/>
          <a:p>
            <a:pPr algn="l">
              <a:defRPr sz="800" b="0">
                <a:solidFill>
                  <a:srgbClr val="6B7B8D"/>
                </a:solidFill>
              </a:defRPr>
            </a:pPr>
            <a:r>
              <a:t>0.05m, 224点</a:t>
            </a:r>
          </a:p>
        </p:txBody>
      </p:sp>
      <p:sp>
        <p:nvSpPr>
          <p:cNvPr id="58" name="Rounded Rectangle 57"/>
          <p:cNvSpPr/>
          <p:nvPr/>
        </p:nvSpPr>
        <p:spPr>
          <a:xfrm>
            <a:off x="360000" y="3960000"/>
            <a:ext cx="11340000" cy="900000"/>
          </a:xfrm>
          <a:prstGeom prst="roundRect">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0000" y="4031999"/>
            <a:ext cx="10800000" cy="180000"/>
          </a:xfrm>
          <a:prstGeom prst="rect">
            <a:avLst/>
          </a:prstGeom>
          <a:noFill/>
        </p:spPr>
        <p:txBody>
          <a:bodyPr wrap="square">
            <a:spAutoFit/>
          </a:bodyPr>
          <a:lstStyle/>
          <a:p>
            <a:pPr algn="l">
              <a:defRPr sz="1000" b="1">
                <a:solidFill>
                  <a:srgbClr val="F57F17"/>
                </a:solidFill>
              </a:defRPr>
            </a:pPr>
            <a:r>
              <a:t>代价函数 f = g + h</a:t>
            </a:r>
          </a:p>
        </p:txBody>
      </p:sp>
      <p:sp>
        <p:nvSpPr>
          <p:cNvPr id="60" name="TextBox 59"/>
          <p:cNvSpPr txBox="1"/>
          <p:nvPr/>
        </p:nvSpPr>
        <p:spPr>
          <a:xfrm>
            <a:off x="540000" y="4248000"/>
            <a:ext cx="3600000" cy="540000"/>
          </a:xfrm>
          <a:prstGeom prst="rect">
            <a:avLst/>
          </a:prstGeom>
          <a:noFill/>
        </p:spPr>
        <p:txBody>
          <a:bodyPr wrap="square">
            <a:spAutoFit/>
          </a:bodyPr>
          <a:lstStyle/>
          <a:p>
            <a:pPr algn="l">
              <a:defRPr sz="900" b="0">
                <a:solidFill>
                  <a:srgbClr val="F57F17"/>
                </a:solidFill>
              </a:defRPr>
            </a:pPr>
            <a:r>
              <a:t>g: 实际代价 (步长0.5m</a:t>
            </a:r>
            <a:br/>
            <a:r>
              <a:t>+ 倒车+50% + 转弯+0.1)</a:t>
            </a:r>
          </a:p>
        </p:txBody>
      </p:sp>
      <p:sp>
        <p:nvSpPr>
          <p:cNvPr id="61" name="TextBox 60"/>
          <p:cNvSpPr txBox="1"/>
          <p:nvPr/>
        </p:nvSpPr>
        <p:spPr>
          <a:xfrm>
            <a:off x="4320000" y="4248000"/>
            <a:ext cx="3600000" cy="540000"/>
          </a:xfrm>
          <a:prstGeom prst="rect">
            <a:avLst/>
          </a:prstGeom>
          <a:noFill/>
        </p:spPr>
        <p:txBody>
          <a:bodyPr wrap="square">
            <a:spAutoFit/>
          </a:bodyPr>
          <a:lstStyle/>
          <a:p>
            <a:pPr algn="l">
              <a:defRPr sz="900" b="0">
                <a:solidFill>
                  <a:srgbClr val="F57F17"/>
                </a:solidFill>
              </a:defRPr>
            </a:pPr>
            <a:r>
              <a:t>h: 欧氏距离启发值</a:t>
            </a:r>
            <a:br/>
            <a:r>
              <a:t>(保证可采纳性)</a:t>
            </a:r>
          </a:p>
        </p:txBody>
      </p:sp>
      <p:sp>
        <p:nvSpPr>
          <p:cNvPr id="62" name="TextBox 61"/>
          <p:cNvSpPr txBox="1"/>
          <p:nvPr/>
        </p:nvSpPr>
        <p:spPr>
          <a:xfrm>
            <a:off x="8280000" y="4248000"/>
            <a:ext cx="3240000" cy="540000"/>
          </a:xfrm>
          <a:prstGeom prst="rect">
            <a:avLst/>
          </a:prstGeom>
          <a:noFill/>
        </p:spPr>
        <p:txBody>
          <a:bodyPr wrap="square">
            <a:spAutoFit/>
          </a:bodyPr>
          <a:lstStyle/>
          <a:p>
            <a:pPr algn="l">
              <a:defRPr sz="900" b="1">
                <a:solidFill>
                  <a:srgbClr val="F57F17"/>
                </a:solidFill>
              </a:defRPr>
            </a:pPr>
            <a:r>
              <a:t>关键：节点含θ</a:t>
            </a:r>
            <a:br/>
            <a:r>
              <a:t>满足差速约束</a:t>
            </a:r>
            <a:br/>
            <a:r>
              <a:t>路径可直接执行</a:t>
            </a:r>
          </a:p>
        </p:txBody>
      </p:sp>
      <p:sp>
        <p:nvSpPr>
          <p:cNvPr id="63" name="Rounded Rectangle 62"/>
          <p:cNvSpPr/>
          <p:nvPr/>
        </p:nvSpPr>
        <p:spPr>
          <a:xfrm>
            <a:off x="360000" y="5040000"/>
            <a:ext cx="5580000" cy="136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sensor_layout.png"/>
          <p:cNvPicPr>
            <a:picLocks noChangeAspect="1"/>
          </p:cNvPicPr>
          <p:nvPr/>
        </p:nvPicPr>
        <p:blipFill>
          <a:blip r:embed="rId2"/>
          <a:stretch>
            <a:fillRect/>
          </a:stretch>
        </p:blipFill>
        <p:spPr>
          <a:xfrm>
            <a:off x="468000" y="5112000"/>
            <a:ext cx="2423333" cy="1260000"/>
          </a:xfrm>
          <a:prstGeom prst="rect">
            <a:avLst/>
          </a:prstGeom>
        </p:spPr>
      </p:pic>
      <p:sp>
        <p:nvSpPr>
          <p:cNvPr id="65" name="TextBox 64"/>
          <p:cNvSpPr txBox="1"/>
          <p:nvPr/>
        </p:nvSpPr>
        <p:spPr>
          <a:xfrm>
            <a:off x="3240000" y="5220000"/>
            <a:ext cx="2520000" cy="1080000"/>
          </a:xfrm>
          <a:prstGeom prst="rect">
            <a:avLst/>
          </a:prstGeom>
          <a:noFill/>
        </p:spPr>
        <p:txBody>
          <a:bodyPr wrap="square">
            <a:spAutoFit/>
          </a:bodyPr>
          <a:lstStyle/>
          <a:p>
            <a:pPr algn="l">
              <a:defRPr sz="900" b="0">
                <a:solidFill>
                  <a:srgbClr val="6B7B8D"/>
                </a:solidFill>
              </a:defRPr>
            </a:pPr>
            <a:r>
              <a:t>循迹传感器：</a:t>
            </a:r>
            <a:br/>
            <a:r>
              <a:t>5路TCRT5000, 间距40mm</a:t>
            </a:r>
            <a:br/>
            <a:r>
              <a:t>权重{-4,-2,0,+2,+4}</a:t>
            </a:r>
            <a:br/>
            <a:r>
              <a:t>PID: Kp=3.0 Ki=0.08 Kd=1.0</a:t>
            </a:r>
          </a:p>
        </p:txBody>
      </p:sp>
      <p:sp>
        <p:nvSpPr>
          <p:cNvPr id="66" name="Rounded Rectangle 65"/>
          <p:cNvSpPr/>
          <p:nvPr/>
        </p:nvSpPr>
        <p:spPr>
          <a:xfrm>
            <a:off x="6120000" y="5040000"/>
            <a:ext cx="5580000" cy="1368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300000" y="5112000"/>
            <a:ext cx="5220000" cy="180000"/>
          </a:xfrm>
          <a:prstGeom prst="rect">
            <a:avLst/>
          </a:prstGeom>
          <a:noFill/>
        </p:spPr>
        <p:txBody>
          <a:bodyPr wrap="square">
            <a:spAutoFit/>
          </a:bodyPr>
          <a:lstStyle/>
          <a:p>
            <a:pPr algn="l">
              <a:defRPr sz="1000" b="1">
                <a:solidFill>
                  <a:srgbClr val="2E7D32"/>
                </a:solidFill>
              </a:defRPr>
            </a:pPr>
            <a:r>
              <a:t>两层导航架构</a:t>
            </a:r>
          </a:p>
        </p:txBody>
      </p:sp>
      <p:sp>
        <p:nvSpPr>
          <p:cNvPr id="68" name="TextBox 67"/>
          <p:cNvSpPr txBox="1"/>
          <p:nvPr/>
        </p:nvSpPr>
        <p:spPr>
          <a:xfrm>
            <a:off x="6300000" y="5328000"/>
            <a:ext cx="5220000" cy="900000"/>
          </a:xfrm>
          <a:prstGeom prst="rect">
            <a:avLst/>
          </a:prstGeom>
          <a:noFill/>
        </p:spPr>
        <p:txBody>
          <a:bodyPr wrap="square">
            <a:spAutoFit/>
          </a:bodyPr>
          <a:lstStyle/>
          <a:p>
            <a:pPr algn="l">
              <a:defRPr sz="900" b="0">
                <a:solidFill>
                  <a:srgbClr val="2E7D32"/>
                </a:solidFill>
              </a:defRPr>
            </a:pPr>
            <a:r>
              <a:t>规划层 Hybrid A* → 确定"走哪条路"</a:t>
            </a:r>
            <a:br/>
            <a:r>
              <a:t>执行层 PID+红外 → 解决"如何沿路走"</a:t>
            </a:r>
            <a:br/>
            <a:br/>
            <a:r>
              <a:t>优势：地图变更后自动重规划</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288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44000"/>
            <a:ext cx="1440000" cy="251999"/>
          </a:xfrm>
          <a:prstGeom prst="rect">
            <a:avLst/>
          </a:prstGeom>
          <a:noFill/>
        </p:spPr>
        <p:txBody>
          <a:bodyPr wrap="square">
            <a:spAutoFit/>
          </a:bodyPr>
          <a:lstStyle/>
          <a:p>
            <a:pPr algn="l">
              <a:defRPr sz="1300" b="0">
                <a:solidFill>
                  <a:srgbClr val="6B7B8D"/>
                </a:solidFill>
              </a:defRPr>
            </a:pPr>
            <a:r>
              <a:t>PART  07</a:t>
            </a:r>
          </a:p>
        </p:txBody>
      </p:sp>
      <p:sp>
        <p:nvSpPr>
          <p:cNvPr id="4" name="TextBox 3"/>
          <p:cNvSpPr txBox="1"/>
          <p:nvPr/>
        </p:nvSpPr>
        <p:spPr>
          <a:xfrm>
            <a:off x="360000" y="396000"/>
            <a:ext cx="9000000" cy="288000"/>
          </a:xfrm>
          <a:prstGeom prst="rect">
            <a:avLst/>
          </a:prstGeom>
          <a:noFill/>
        </p:spPr>
        <p:txBody>
          <a:bodyPr wrap="square">
            <a:spAutoFit/>
          </a:bodyPr>
          <a:lstStyle/>
          <a:p>
            <a:pPr algn="l">
              <a:defRPr sz="2200" b="1">
                <a:solidFill>
                  <a:srgbClr val="1B2A4A"/>
                </a:solidFill>
              </a:defRPr>
            </a:pPr>
            <a:r>
              <a:t>双环PID运动控制</a:t>
            </a:r>
          </a:p>
        </p:txBody>
      </p:sp>
      <p:sp>
        <p:nvSpPr>
          <p:cNvPr id="5" name="Rounded Rectangle 4"/>
          <p:cNvSpPr/>
          <p:nvPr/>
        </p:nvSpPr>
        <p:spPr>
          <a:xfrm>
            <a:off x="360000" y="720000"/>
            <a:ext cx="180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800000" y="6408000"/>
            <a:ext cx="1080000" cy="180000"/>
          </a:xfrm>
          <a:prstGeom prst="rect">
            <a:avLst/>
          </a:prstGeom>
          <a:noFill/>
        </p:spPr>
        <p:txBody>
          <a:bodyPr wrap="square">
            <a:spAutoFit/>
          </a:bodyPr>
          <a:lstStyle/>
          <a:p>
            <a:pPr algn="r">
              <a:defRPr sz="900" b="0">
                <a:solidFill>
                  <a:srgbClr val="6B7B8D"/>
                </a:solidFill>
              </a:defRPr>
            </a:pPr>
            <a:r>
              <a:t>7/9</a:t>
            </a:r>
          </a:p>
        </p:txBody>
      </p:sp>
      <p:sp>
        <p:nvSpPr>
          <p:cNvPr id="7" name="Rounded Rectangle 6"/>
          <p:cNvSpPr/>
          <p:nvPr/>
        </p:nvSpPr>
        <p:spPr>
          <a:xfrm>
            <a:off x="0" y="6552000"/>
            <a:ext cx="12193200" cy="30600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6588000"/>
            <a:ext cx="7200000" cy="180000"/>
          </a:xfrm>
          <a:prstGeom prst="rect">
            <a:avLst/>
          </a:prstGeom>
          <a:noFill/>
        </p:spPr>
        <p:txBody>
          <a:bodyPr wrap="square">
            <a:spAutoFit/>
          </a:bodyPr>
          <a:lstStyle/>
          <a:p>
            <a:pPr algn="l">
              <a:defRPr sz="800" b="0">
                <a:solidFill>
                  <a:srgbClr val="6B7B8D"/>
                </a:solidFill>
              </a:defRPr>
            </a:pPr>
            <a:r>
              <a:t>齐鲁工业大学  机械工程学院</a:t>
            </a:r>
          </a:p>
        </p:txBody>
      </p:sp>
      <p:sp>
        <p:nvSpPr>
          <p:cNvPr id="9" name="Rounded Rectangle 8"/>
          <p:cNvSpPr/>
          <p:nvPr/>
        </p:nvSpPr>
        <p:spPr>
          <a:xfrm>
            <a:off x="360000" y="1080000"/>
            <a:ext cx="4320000" cy="288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scaded_pid_diagram.png"/>
          <p:cNvPicPr>
            <a:picLocks noChangeAspect="1"/>
          </p:cNvPicPr>
          <p:nvPr/>
        </p:nvPicPr>
        <p:blipFill>
          <a:blip r:embed="rId2"/>
          <a:stretch>
            <a:fillRect/>
          </a:stretch>
        </p:blipFill>
        <p:spPr>
          <a:xfrm>
            <a:off x="468000" y="1152000"/>
            <a:ext cx="3779655" cy="1800000"/>
          </a:xfrm>
          <a:prstGeom prst="rect">
            <a:avLst/>
          </a:prstGeom>
        </p:spPr>
      </p:pic>
      <p:sp>
        <p:nvSpPr>
          <p:cNvPr id="11" name="TextBox 10"/>
          <p:cNvSpPr txBox="1"/>
          <p:nvPr/>
        </p:nvSpPr>
        <p:spPr>
          <a:xfrm>
            <a:off x="468000" y="3060000"/>
            <a:ext cx="4104000" cy="144000"/>
          </a:xfrm>
          <a:prstGeom prst="rect">
            <a:avLst/>
          </a:prstGeom>
          <a:noFill/>
        </p:spPr>
        <p:txBody>
          <a:bodyPr wrap="square">
            <a:spAutoFit/>
          </a:bodyPr>
          <a:lstStyle/>
          <a:p>
            <a:pPr algn="ctr">
              <a:defRPr sz="800" b="0">
                <a:solidFill>
                  <a:srgbClr val="6B7B8D"/>
                </a:solidFill>
              </a:defRPr>
            </a:pPr>
            <a:r>
              <a:t>双环PID级联控制结构</a:t>
            </a:r>
          </a:p>
        </p:txBody>
      </p:sp>
      <p:sp>
        <p:nvSpPr>
          <p:cNvPr id="12" name="Rounded Rectangle 11"/>
          <p:cNvSpPr/>
          <p:nvPr/>
        </p:nvSpPr>
        <p:spPr>
          <a:xfrm>
            <a:off x="360000" y="4140000"/>
            <a:ext cx="4320000" cy="198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000" y="4248000"/>
            <a:ext cx="3960000" cy="180000"/>
          </a:xfrm>
          <a:prstGeom prst="rect">
            <a:avLst/>
          </a:prstGeom>
          <a:noFill/>
        </p:spPr>
        <p:txBody>
          <a:bodyPr wrap="square">
            <a:spAutoFit/>
          </a:bodyPr>
          <a:lstStyle/>
          <a:p>
            <a:pPr algn="l">
              <a:defRPr sz="1000" b="1">
                <a:solidFill>
                  <a:srgbClr val="1565C0"/>
                </a:solidFill>
              </a:defRPr>
            </a:pPr>
            <a:r>
              <a:t>PID参数</a:t>
            </a:r>
          </a:p>
        </p:txBody>
      </p:sp>
      <p:sp>
        <p:nvSpPr>
          <p:cNvPr id="14" name="TextBox 13"/>
          <p:cNvSpPr txBox="1"/>
          <p:nvPr/>
        </p:nvSpPr>
        <p:spPr>
          <a:xfrm>
            <a:off x="540000" y="4464000"/>
            <a:ext cx="3960000" cy="144000"/>
          </a:xfrm>
          <a:prstGeom prst="rect">
            <a:avLst/>
          </a:prstGeom>
          <a:noFill/>
        </p:spPr>
        <p:txBody>
          <a:bodyPr wrap="square">
            <a:spAutoFit/>
          </a:bodyPr>
          <a:lstStyle/>
          <a:p>
            <a:pPr algn="l">
              <a:defRPr sz="900" b="0">
                <a:solidFill>
                  <a:srgbClr val="1565C0"/>
                </a:solidFill>
              </a:defRPr>
            </a:pPr>
            <a:r>
              <a:t>位姿环(航向PID):  Kp=3.0  Ki=0.2  Kd=0.4</a:t>
            </a:r>
          </a:p>
        </p:txBody>
      </p:sp>
      <p:sp>
        <p:nvSpPr>
          <p:cNvPr id="15" name="TextBox 14"/>
          <p:cNvSpPr txBox="1"/>
          <p:nvPr/>
        </p:nvSpPr>
        <p:spPr>
          <a:xfrm>
            <a:off x="540000" y="4644000"/>
            <a:ext cx="3960000" cy="144000"/>
          </a:xfrm>
          <a:prstGeom prst="rect">
            <a:avLst/>
          </a:prstGeom>
          <a:noFill/>
        </p:spPr>
        <p:txBody>
          <a:bodyPr wrap="square">
            <a:spAutoFit/>
          </a:bodyPr>
          <a:lstStyle/>
          <a:p>
            <a:pPr algn="l">
              <a:defRPr sz="900" b="0">
                <a:solidFill>
                  <a:srgbClr val="1565C0"/>
                </a:solidFill>
              </a:defRPr>
            </a:pPr>
            <a:r>
              <a:t>轮速环(PI):  Kp=17.0  Ki=103.0</a:t>
            </a:r>
          </a:p>
        </p:txBody>
      </p:sp>
      <p:sp>
        <p:nvSpPr>
          <p:cNvPr id="16" name="TextBox 15"/>
          <p:cNvSpPr txBox="1"/>
          <p:nvPr/>
        </p:nvSpPr>
        <p:spPr>
          <a:xfrm>
            <a:off x="540000" y="4896000"/>
            <a:ext cx="3960000" cy="1080000"/>
          </a:xfrm>
          <a:prstGeom prst="rect">
            <a:avLst/>
          </a:prstGeom>
          <a:noFill/>
        </p:spPr>
        <p:txBody>
          <a:bodyPr wrap="square">
            <a:spAutoFit/>
          </a:bodyPr>
          <a:lstStyle/>
          <a:p>
            <a:pPr algn="l">
              <a:defRPr sz="900" b="0">
                <a:solidFill>
                  <a:srgbClr val="6B7B8D"/>
                </a:solidFill>
              </a:defRPr>
            </a:pPr>
            <a:r>
              <a:t>控制策略：</a:t>
            </a:r>
            <a:br/>
            <a:r>
              <a:t>• 内环响应频率约为外环3~5倍</a:t>
            </a:r>
            <a:br/>
            <a:r>
              <a:t>• 轮速环用PI不用PID(微分对噪声敏感)</a:t>
            </a:r>
            <a:br/>
            <a:r>
              <a:t>• 控制周期 5ms，中断方式执行</a:t>
            </a:r>
            <a:br/>
            <a:r>
              <a:t>• 积分限幅[-2,2]防饱和</a:t>
            </a:r>
            <a:br/>
            <a:r>
              <a:t>• 电压限幅 ±24V</a:t>
            </a:r>
          </a:p>
        </p:txBody>
      </p:sp>
      <p:sp>
        <p:nvSpPr>
          <p:cNvPr id="17" name="Rounded Rectangle 16"/>
          <p:cNvSpPr/>
          <p:nvPr/>
        </p:nvSpPr>
        <p:spPr>
          <a:xfrm>
            <a:off x="4860000" y="1080000"/>
            <a:ext cx="324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id_step_response.png"/>
          <p:cNvPicPr>
            <a:picLocks noChangeAspect="1"/>
          </p:cNvPicPr>
          <p:nvPr/>
        </p:nvPicPr>
        <p:blipFill>
          <a:blip r:embed="rId3"/>
          <a:stretch>
            <a:fillRect/>
          </a:stretch>
        </p:blipFill>
        <p:spPr>
          <a:xfrm>
            <a:off x="4932000" y="1152000"/>
            <a:ext cx="2879693" cy="1800000"/>
          </a:xfrm>
          <a:prstGeom prst="rect">
            <a:avLst/>
          </a:prstGeom>
        </p:spPr>
      </p:pic>
      <p:sp>
        <p:nvSpPr>
          <p:cNvPr id="19" name="TextBox 18"/>
          <p:cNvSpPr txBox="1"/>
          <p:nvPr/>
        </p:nvSpPr>
        <p:spPr>
          <a:xfrm>
            <a:off x="4932000" y="2988000"/>
            <a:ext cx="3096000" cy="144000"/>
          </a:xfrm>
          <a:prstGeom prst="rect">
            <a:avLst/>
          </a:prstGeom>
          <a:noFill/>
        </p:spPr>
        <p:txBody>
          <a:bodyPr wrap="square">
            <a:spAutoFit/>
          </a:bodyPr>
          <a:lstStyle/>
          <a:p>
            <a:pPr algn="ctr">
              <a:defRPr sz="850" b="1">
                <a:solidFill>
                  <a:srgbClr val="1B2A4A"/>
                </a:solidFill>
              </a:defRPr>
            </a:pPr>
            <a:r>
              <a:t>阶跃响应</a:t>
            </a:r>
          </a:p>
        </p:txBody>
      </p:sp>
      <p:sp>
        <p:nvSpPr>
          <p:cNvPr id="20" name="Rounded Rectangle 19"/>
          <p:cNvSpPr/>
          <p:nvPr/>
        </p:nvSpPr>
        <p:spPr>
          <a:xfrm>
            <a:off x="8280000" y="1080000"/>
            <a:ext cx="324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id_point_stabilization.png"/>
          <p:cNvPicPr>
            <a:picLocks noChangeAspect="1"/>
          </p:cNvPicPr>
          <p:nvPr/>
        </p:nvPicPr>
        <p:blipFill>
          <a:blip r:embed="rId4"/>
          <a:stretch>
            <a:fillRect/>
          </a:stretch>
        </p:blipFill>
        <p:spPr>
          <a:xfrm>
            <a:off x="8352000" y="1152000"/>
            <a:ext cx="2879693" cy="1800000"/>
          </a:xfrm>
          <a:prstGeom prst="rect">
            <a:avLst/>
          </a:prstGeom>
        </p:spPr>
      </p:pic>
      <p:sp>
        <p:nvSpPr>
          <p:cNvPr id="22" name="TextBox 21"/>
          <p:cNvSpPr txBox="1"/>
          <p:nvPr/>
        </p:nvSpPr>
        <p:spPr>
          <a:xfrm>
            <a:off x="8352000" y="2988000"/>
            <a:ext cx="3096000" cy="144000"/>
          </a:xfrm>
          <a:prstGeom prst="rect">
            <a:avLst/>
          </a:prstGeom>
          <a:noFill/>
        </p:spPr>
        <p:txBody>
          <a:bodyPr wrap="square">
            <a:spAutoFit/>
          </a:bodyPr>
          <a:lstStyle/>
          <a:p>
            <a:pPr algn="ctr">
              <a:defRPr sz="850" b="1">
                <a:solidFill>
                  <a:srgbClr val="1B2A4A"/>
                </a:solidFill>
              </a:defRPr>
            </a:pPr>
            <a:r>
              <a:t>定点镇定</a:t>
            </a:r>
          </a:p>
        </p:txBody>
      </p:sp>
      <p:sp>
        <p:nvSpPr>
          <p:cNvPr id="23" name="Rounded Rectangle 22"/>
          <p:cNvSpPr/>
          <p:nvPr/>
        </p:nvSpPr>
        <p:spPr>
          <a:xfrm>
            <a:off x="4860000" y="3420000"/>
            <a:ext cx="324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id_line_tracking.png"/>
          <p:cNvPicPr>
            <a:picLocks noChangeAspect="1"/>
          </p:cNvPicPr>
          <p:nvPr/>
        </p:nvPicPr>
        <p:blipFill>
          <a:blip r:embed="rId5"/>
          <a:stretch>
            <a:fillRect/>
          </a:stretch>
        </p:blipFill>
        <p:spPr>
          <a:xfrm>
            <a:off x="4932000" y="3491999"/>
            <a:ext cx="2879693" cy="1800000"/>
          </a:xfrm>
          <a:prstGeom prst="rect">
            <a:avLst/>
          </a:prstGeom>
        </p:spPr>
      </p:pic>
      <p:sp>
        <p:nvSpPr>
          <p:cNvPr id="25" name="TextBox 24"/>
          <p:cNvSpPr txBox="1"/>
          <p:nvPr/>
        </p:nvSpPr>
        <p:spPr>
          <a:xfrm>
            <a:off x="4932000" y="5328000"/>
            <a:ext cx="3096000" cy="144000"/>
          </a:xfrm>
          <a:prstGeom prst="rect">
            <a:avLst/>
          </a:prstGeom>
          <a:noFill/>
        </p:spPr>
        <p:txBody>
          <a:bodyPr wrap="square">
            <a:spAutoFit/>
          </a:bodyPr>
          <a:lstStyle/>
          <a:p>
            <a:pPr algn="ctr">
              <a:defRPr sz="850" b="1">
                <a:solidFill>
                  <a:srgbClr val="1B2A4A"/>
                </a:solidFill>
              </a:defRPr>
            </a:pPr>
            <a:r>
              <a:t>直线跟踪</a:t>
            </a:r>
          </a:p>
        </p:txBody>
      </p:sp>
      <p:sp>
        <p:nvSpPr>
          <p:cNvPr id="26" name="Rounded Rectangle 25"/>
          <p:cNvSpPr/>
          <p:nvPr/>
        </p:nvSpPr>
        <p:spPr>
          <a:xfrm>
            <a:off x="8280000" y="3420000"/>
            <a:ext cx="3240000" cy="2088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id_circle_tracking.png"/>
          <p:cNvPicPr>
            <a:picLocks noChangeAspect="1"/>
          </p:cNvPicPr>
          <p:nvPr/>
        </p:nvPicPr>
        <p:blipFill>
          <a:blip r:embed="rId6"/>
          <a:stretch>
            <a:fillRect/>
          </a:stretch>
        </p:blipFill>
        <p:spPr>
          <a:xfrm>
            <a:off x="8352000" y="3491999"/>
            <a:ext cx="2879693" cy="1800000"/>
          </a:xfrm>
          <a:prstGeom prst="rect">
            <a:avLst/>
          </a:prstGeom>
        </p:spPr>
      </p:pic>
      <p:sp>
        <p:nvSpPr>
          <p:cNvPr id="28" name="TextBox 27"/>
          <p:cNvSpPr txBox="1"/>
          <p:nvPr/>
        </p:nvSpPr>
        <p:spPr>
          <a:xfrm>
            <a:off x="8352000" y="5328000"/>
            <a:ext cx="3096000" cy="144000"/>
          </a:xfrm>
          <a:prstGeom prst="rect">
            <a:avLst/>
          </a:prstGeom>
          <a:noFill/>
        </p:spPr>
        <p:txBody>
          <a:bodyPr wrap="square">
            <a:spAutoFit/>
          </a:bodyPr>
          <a:lstStyle/>
          <a:p>
            <a:pPr algn="ctr">
              <a:defRPr sz="850" b="1">
                <a:solidFill>
                  <a:srgbClr val="1B2A4A"/>
                </a:solidFill>
              </a:defRPr>
            </a:pPr>
            <a:r>
              <a:t>圆形跟踪</a:t>
            </a:r>
          </a:p>
        </p:txBody>
      </p:sp>
      <p:sp>
        <p:nvSpPr>
          <p:cNvPr id="29" name="Rounded Rectangle 28"/>
          <p:cNvSpPr/>
          <p:nvPr/>
        </p:nvSpPr>
        <p:spPr>
          <a:xfrm>
            <a:off x="360000" y="5688000"/>
            <a:ext cx="11340000" cy="720000"/>
          </a:xfrm>
          <a:prstGeom prst="roundRect">
            <a:avLst/>
          </a:prstGeom>
          <a:solidFill>
            <a:srgbClr val="FFFFFF"/>
          </a:solidFill>
          <a:ln w="12700">
            <a:solidFill>
              <a:srgbClr val="E8EC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0000" y="5724000"/>
            <a:ext cx="10800000" cy="180000"/>
          </a:xfrm>
          <a:prstGeom prst="rect">
            <a:avLst/>
          </a:prstGeom>
          <a:noFill/>
        </p:spPr>
        <p:txBody>
          <a:bodyPr wrap="square">
            <a:spAutoFit/>
          </a:bodyPr>
          <a:lstStyle/>
          <a:p>
            <a:pPr algn="l">
              <a:defRPr sz="1000" b="1">
                <a:solidFill>
                  <a:srgbClr val="1B2A4A"/>
                </a:solidFill>
              </a:defRPr>
            </a:pPr>
            <a:r>
              <a:t>仿真结果汇总</a:t>
            </a:r>
          </a:p>
        </p:txBody>
      </p:sp>
      <p:sp>
        <p:nvSpPr>
          <p:cNvPr id="31" name="TextBox 30"/>
          <p:cNvSpPr txBox="1"/>
          <p:nvPr/>
        </p:nvSpPr>
        <p:spPr>
          <a:xfrm>
            <a:off x="540000" y="5940000"/>
            <a:ext cx="10800000" cy="360000"/>
          </a:xfrm>
          <a:prstGeom prst="rect">
            <a:avLst/>
          </a:prstGeom>
          <a:noFill/>
        </p:spPr>
        <p:txBody>
          <a:bodyPr wrap="square">
            <a:spAutoFit/>
          </a:bodyPr>
          <a:lstStyle/>
          <a:p>
            <a:pPr algn="l">
              <a:defRPr sz="850" b="0">
                <a:solidFill>
                  <a:srgbClr val="6B7B8D"/>
                </a:solidFill>
              </a:defRPr>
            </a:pPr>
            <a:r>
              <a:t>阶跃: 稳态误差≈0, 调节0.8s  |  定点: 误差(0.022,-0.007)m, 航向-0.89°  |  直线: 角速度RMSE 0.0023rad/s  |  圆形: 线速度RMSE 0.0086m/s, 圆度RMSE 0.020m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3200" cy="68580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0000" y="2160000"/>
            <a:ext cx="288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800000" cy="540000"/>
          </a:xfrm>
          <a:prstGeom prst="rect">
            <a:avLst/>
          </a:prstGeom>
          <a:noFill/>
        </p:spPr>
        <p:txBody>
          <a:bodyPr wrap="square">
            <a:spAutoFit/>
          </a:bodyPr>
          <a:lstStyle/>
          <a:p>
            <a:pPr algn="l">
              <a:defRPr sz="3000" b="1">
                <a:solidFill>
                  <a:srgbClr val="FFFFFF"/>
                </a:solidFill>
              </a:defRPr>
            </a:pPr>
            <a:r>
              <a:t>感谢各位老师指导</a:t>
            </a:r>
          </a:p>
        </p:txBody>
      </p:sp>
      <p:sp>
        <p:nvSpPr>
          <p:cNvPr id="5" name="Rounded Rectangle 4"/>
          <p:cNvSpPr/>
          <p:nvPr/>
        </p:nvSpPr>
        <p:spPr>
          <a:xfrm>
            <a:off x="720000" y="3060000"/>
            <a:ext cx="2880000" cy="14400"/>
          </a:xfrm>
          <a:prstGeom prst="roundRect">
            <a:avLst/>
          </a:prstGeom>
          <a:solidFill>
            <a:srgbClr val="3D6C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3420000"/>
            <a:ext cx="10800000" cy="180000"/>
          </a:xfrm>
          <a:prstGeom prst="rect">
            <a:avLst/>
          </a:prstGeom>
          <a:noFill/>
        </p:spPr>
        <p:txBody>
          <a:bodyPr wrap="square">
            <a:spAutoFit/>
          </a:bodyPr>
          <a:lstStyle/>
          <a:p>
            <a:pPr algn="l">
              <a:defRPr sz="1300" b="0">
                <a:solidFill>
                  <a:srgbClr val="BBDEFB"/>
                </a:solidFill>
              </a:defRPr>
            </a:pPr>
            <a:r>
              <a:t>答辩人：王梓煜    指导教师：曹树春</a:t>
            </a:r>
          </a:p>
        </p:txBody>
      </p:sp>
      <p:sp>
        <p:nvSpPr>
          <p:cNvPr id="7" name="TextBox 6"/>
          <p:cNvSpPr txBox="1"/>
          <p:nvPr/>
        </p:nvSpPr>
        <p:spPr>
          <a:xfrm>
            <a:off x="720000" y="3708000"/>
            <a:ext cx="10800000" cy="180000"/>
          </a:xfrm>
          <a:prstGeom prst="rect">
            <a:avLst/>
          </a:prstGeom>
          <a:noFill/>
        </p:spPr>
        <p:txBody>
          <a:bodyPr wrap="square">
            <a:spAutoFit/>
          </a:bodyPr>
          <a:lstStyle/>
          <a:p>
            <a:pPr algn="l">
              <a:defRPr sz="1300" b="0">
                <a:solidFill>
                  <a:srgbClr val="BBDEFB"/>
                </a:solidFill>
              </a:defRPr>
            </a:pPr>
            <a:r>
              <a:t>齐鲁工业大学  机械工程学院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